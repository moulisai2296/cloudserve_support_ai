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p:scale>
          <a:sx n="69" d="100"/>
          <a:sy n="69" d="100"/>
        </p:scale>
        <p:origin x="5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introduce yourself as Mouli Sai. Approx. 30 seconds.</a:t>
            </a:r>
          </a:p>
          <a:p>
            <a:endParaRPr/>
          </a:p>
          <a:p>
            <a:r>
              <a:t>SCRIPT</a:t>
            </a:r>
          </a:p>
          <a:p>
            <a:r>
              <a:t>CloudServe initially asked for a chatbot. I treated that as a proposed interface and investigated the actual support problem. The resulting project is an end-to-end workflow that retrieves approved knowledge, classifies a ticket, applies routing policy, creates a sourced draft or a handover packet, and records the decision. I will walk through discovery, requirements, architecture, results, and the changes the evidence suggests for PRD version two. The figures shown are from the saved 80-ticket evaluation, not a new run performed for this presentation.</a:t>
            </a:r>
          </a:p>
          <a:p>
            <a:endParaRPr/>
          </a:p>
          <a:p>
            <a:r>
              <a:t>SOURCE / CONTEXT</a:t>
            </a:r>
          </a:p>
          <a:p>
            <a:r>
              <a:t>Supplied CloudServe case · implemented repository · saved evaluation, 20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30 seconds.</a:t>
            </a:r>
          </a:p>
          <a:p>
            <a:endParaRPr/>
          </a:p>
          <a:p>
            <a:r>
              <a:t>SCRIPT</a:t>
            </a:r>
          </a:p>
          <a:p>
            <a:r>
              <a:t>CloudServe is the fictional company in the supplied case: a B2B cloud infrastructure and DevOps provider with approximately 150 employees, more than 200 corporate customers, and roughly 12 million dollars in annual revenue. Its customers depend on the platform to ship and operate software. That makes support urgency very different across tickets. A documentation question can wait; a deployment blocker may stop a release. The business objective is to improve useful support capacity without damaging customer trust.</a:t>
            </a:r>
          </a:p>
          <a:p>
            <a:endParaRPr/>
          </a:p>
          <a:p>
            <a:r>
              <a:t>SOURCE / CONTEXT</a:t>
            </a:r>
          </a:p>
          <a:p>
            <a:r>
              <a:t>docs1/01_Read_First/01_Project_Brief.docx · approximate case-company figures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a:t>
            </a:r>
          </a:p>
          <a:p>
            <a:endParaRPr/>
          </a:p>
          <a:p>
            <a:r>
              <a:t>SCRIPT</a:t>
            </a:r>
          </a:p>
          <a:p>
            <a:r>
              <a:t>The case describes more than 500 tickets each week and six support agents. First replies commonly take eight to twelve hours against a two-hour SLA. First-contact resolution is about 42 percent and customer satisfaction is 3.2 out of five. Marcus also describes hiring as a temporary relief rather than a lasting fix. The opportunity is therefore not simply quicker acknowledgement. We need to shorten the time spent finding known answers and reduce avoidable rework and escalations. These are the case baseline figures, not outcomes established by my prototype.</a:t>
            </a:r>
          </a:p>
          <a:p>
            <a:endParaRPr/>
          </a:p>
          <a:p>
            <a:r>
              <a:t>SOURCE / CONTEXT</a:t>
            </a:r>
          </a:p>
          <a:p>
            <a:r>
              <a:t>Project brief and stakeholder interviews · stated baseline, not measured by this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 Statements on screen are paraphrases.</a:t>
            </a:r>
          </a:p>
          <a:p>
            <a:endParaRPr/>
          </a:p>
          <a:p>
            <a:r>
              <a:t>SCRIPT</a:t>
            </a:r>
          </a:p>
          <a:p>
            <a:r>
              <a:t>Marcus sees the capacity problem and asks for a chatbot to take easy work off the team. But his real measure of success is a correctly resolved issue, not an instant message. Sofia explains the operational bottleneck: she often recognises the issue but spends time locating the right document and writing the reply. She is also concerned about an incorrect answer coming back as an angry follow-up. Together these perspectives lead to retrieval, source-backed drafting, and explicit escalation, with automation and resolution measured separately.</a:t>
            </a:r>
          </a:p>
          <a:p>
            <a:endParaRPr/>
          </a:p>
          <a:p>
            <a:r>
              <a:t>SOURCE / CONTEXT</a:t>
            </a:r>
          </a:p>
          <a:p>
            <a:r>
              <a:t>docs1/05_Datasets/Stakeholder_Interviews.docx · paraphrases of supplied interviews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a:t>
            </a:r>
          </a:p>
          <a:p>
            <a:endParaRPr/>
          </a:p>
          <a:p>
            <a:r>
              <a:t>SCRIPT</a:t>
            </a:r>
          </a:p>
          <a:p>
            <a:r>
              <a:t>Daniel makes clear that escalation itself is not failure. A necessary escalation becomes wasteful when the receiving engineer gets no context. The handover packet is therefore a first-class product output. Ines identifies a knowledge-access problem: a customer may describe a deployment as dying while the article is titled around container health checks. Semantic retrieval addresses this language mismatch. Her maintained articles are the approved source of knowledge; the system should not treat old personal snippets, roadmap guesses, or unsupported promises as facts.</a:t>
            </a:r>
          </a:p>
          <a:p>
            <a:endParaRPr/>
          </a:p>
          <a:p>
            <a:r>
              <a:t>SOURCE / CONTEXT</a:t>
            </a:r>
          </a:p>
          <a:p>
            <a:r>
              <a:t>docs1/05_Datasets/Stakeholder_Interviews.docx · interview estimates are not measured savings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a:t>
            </a:r>
          </a:p>
          <a:p>
            <a:endParaRPr/>
          </a:p>
          <a:p>
            <a:r>
              <a:t>SCRIPT</a:t>
            </a:r>
          </a:p>
          <a:p>
            <a:r>
              <a:t>Ravi is the customer voice in the case, rather than a member of the implementation team. He distinguishes a low-impact pagination question from a deployment that prevents shipping. He is comfortable with transparent AI assistance when it includes a source and a path to human confirmation. He is not asking for a system that pretends to know everything. His concern about differences between customer tiers also informs the fairness review. These needs shape urgency classification, AI disclosure, source visibility, and a recoverable handover path.</a:t>
            </a:r>
          </a:p>
          <a:p>
            <a:endParaRPr/>
          </a:p>
          <a:p>
            <a:r>
              <a:t>SOURCE / CONTEXT</a:t>
            </a:r>
          </a:p>
          <a:p>
            <a:r>
              <a:t>Stakeholder_Interviews.docx · Ravi Menon is a customer, not a project team member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a:t>
            </a:r>
          </a:p>
          <a:p>
            <a:endParaRPr/>
          </a:p>
          <a:p>
            <a:r>
              <a:t>SCRIPT</a:t>
            </a:r>
          </a:p>
          <a:p>
            <a:r>
              <a:t>I checked the interview assumptions against the 500 development records. About 71 percent are marked answerable from the knowledge base, but only 62 percent are expected to receive an automatic response. The difference matters: knowing an answer does not mean the workflow is authorised to act. Another 17 percent carry must-not-auto-respond labels. These are overlapping dimensions, not four slices of one total. I also treated stakeholder opinions as hypotheses. For example, the aggregate historical fluency results do not simply confirm that non-fluent customers always have the worst satisfaction.</a:t>
            </a:r>
          </a:p>
          <a:p>
            <a:endParaRPr/>
          </a:p>
          <a:p>
            <a:r>
              <a:t>SOURCE / CONTEXT</a:t>
            </a:r>
          </a:p>
          <a:p>
            <a:r>
              <a:t>data/development_tickets.json · 500 supplied development records; labels are evaluation evidence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a:t>
            </a:r>
          </a:p>
          <a:p>
            <a:endParaRPr/>
          </a:p>
          <a:p>
            <a:r>
              <a:t>SCRIPT</a:t>
            </a:r>
          </a:p>
          <a:p>
            <a:r>
              <a:t>The original request describes how a customer might interact with the solution. It does not specify how to find the correct answer, when to decline automation, what to send to a specialist, or how to explain a decision later. I therefore framed the requirement as a support decision workflow. A chatbot could eventually consume this workflow through the API, but the core capability does not depend on a chat window. This also makes the solution usable across email, chat, documentation requests and forum tickets.</a:t>
            </a:r>
          </a:p>
          <a:p>
            <a:endParaRPr/>
          </a:p>
          <a:p>
            <a:r>
              <a:t>SOURCE / CONTEXT</a:t>
            </a:r>
          </a:p>
          <a:p>
            <a:r>
              <a:t>Synthesis of the supplied interviews, development data and PRD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a:t>
            </a:r>
          </a:p>
          <a:p>
            <a:endParaRPr/>
          </a:p>
          <a:p>
            <a:r>
              <a:t>SCRIPT</a:t>
            </a:r>
          </a:p>
          <a:p>
            <a:r>
              <a:t>The functional PRD covers the whole journey rather than only answer generation. The first group turns varied inputs into a classified, evidence-backed decision. The second group produces the appropriate response: either a cited draft or a structured specialist handover, with risk overrides and output checks. The third group makes the workflow observable and repeatable through audit records, a batch evaluation harness, fallbacks and a kill switch. These are brief descriptions of the requirements, not a claim that every planned production safeguard has already been demonstrated.</a:t>
            </a:r>
          </a:p>
          <a:p>
            <a:endParaRPr/>
          </a:p>
          <a:p>
            <a:r>
              <a:t>SOURCE / CONTEXT</a:t>
            </a:r>
          </a:p>
          <a:p>
            <a:r>
              <a:t>docs/Stage_2_PRD_Filled.docx · abbreviated requirements; implementation limits discussed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a:t>
            </a:r>
          </a:p>
          <a:p>
            <a:endParaRPr/>
          </a:p>
          <a:p>
            <a:r>
              <a:t>SCRIPT</a:t>
            </a:r>
          </a:p>
          <a:p>
            <a:r>
              <a:t>Nonfunctional requirements define performance, quality, privacy, auditability, fairness, cost, calibration, reproducibility and testing. This is where I distinguish implementation evidence from ambition. The current report’s latency KPI uses the legacy 300-second target; the original PRD has a three-second target. Similarly, valid citation IDs do not establish semantic faithfulness, and regex checks are not a complete privacy review. The deck keeps the seven operational KPIs intact while explaining the broader requirements that still need measurement or engineering work.</a:t>
            </a:r>
          </a:p>
          <a:p>
            <a:endParaRPr/>
          </a:p>
          <a:p>
            <a:r>
              <a:t>SOURCE / CONTEXT</a:t>
            </a:r>
          </a:p>
          <a:p>
            <a:r>
              <a:t>Stage_2_PRD_Filled.docx; docs1/03_Reference/Evaluation_Framework.docx; current code and saved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a:t>
            </a:r>
          </a:p>
          <a:p>
            <a:endParaRPr/>
          </a:p>
          <a:p>
            <a:r>
              <a:t>SCRIPT</a:t>
            </a:r>
          </a:p>
          <a:p>
            <a:r>
              <a:t>The sprint plan is organised around dependencies. Discovery and requirements come first. The second week builds ingestion and retrieval before classification, routing, drafting, guardrails and the full harness. The third week focuses on evidence, requirement revision and packaging. The backlog contains 16 items with 78 estimated hours; the effort log uses a separate 80-hour plan, so I do not silently treat those totals as identical. This was an individual implementation. The named stakeholders informed the case requirements; they are not presented as developers on the project.</a:t>
            </a:r>
          </a:p>
          <a:p>
            <a:endParaRPr/>
          </a:p>
          <a:p>
            <a:r>
              <a:t>SOURCE / CONTEXT</a:t>
            </a:r>
          </a:p>
          <a:p>
            <a:r>
              <a:t>docs/Stage_4_Sprint_Plan_Filled.docx · planned sequence; individual implementation by Mouli Sai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a:t>
            </a:r>
          </a:p>
          <a:p>
            <a:endParaRPr/>
          </a:p>
          <a:p>
            <a:r>
              <a:t>SCRIPT</a:t>
            </a:r>
          </a:p>
          <a:p>
            <a:r>
              <a:t>The active model prompts handle classification and response generation. Classification produces structured intent, urgency, confidence and alternatives. Generation uses retrieved evidence and produces the draft, citation IDs and missing-information fields. The prompt library also contains guardrail and quality-review templates, but their presence is not proof of runtime execution. Current guardrails are Python checks. As agreed, the strict grounding reviewer is disabled and does not decide whether a ticket is escalated or automatically answered. Independent quality review remains useful as evaluation evidence, separate from that routing decision.</a:t>
            </a:r>
          </a:p>
          <a:p>
            <a:endParaRPr/>
          </a:p>
          <a:p>
            <a:r>
              <a:t>SOURCE / CONTEXT</a:t>
            </a:r>
          </a:p>
          <a:p>
            <a:r>
              <a:t>prompts/build, prompts/evaluation and actual invocation paths; Stage_3_Prompt_Library_Filled.docx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 Follow arrows left-to-right, then the two branches.</a:t>
            </a:r>
          </a:p>
          <a:p>
            <a:endParaRPr/>
          </a:p>
          <a:p>
            <a:r>
              <a:t>SCRIPT</a:t>
            </a:r>
          </a:p>
          <a:p>
            <a:r>
              <a:t>The shared pipeline begins with normalisation, retrieves relevant knowledge and classifies the ticket, then applies deterministic routing policy. Only eligible tickets go through generation and guardrails. Escalated tickets receive a handover packet, constructed within routing and shown as a logical output here. Both paths persist an audit event. Retrieval uses local MiniLM embeddings, Chroma, 700-character chunks with overlap, and the top three matches. Classification and generation use OpenRouter, with offline fallbacks available. A blocked draft is suppressed and the route becomes escalation. The grounding reviewer is not part of the active routing gate. This diagram is a simplified control-flow view; the HTML shows more detail.</a:t>
            </a:r>
          </a:p>
          <a:p>
            <a:endParaRPr/>
          </a:p>
          <a:p>
            <a:r>
              <a:t>SOURCE / CONTEXT</a:t>
            </a:r>
          </a:p>
          <a:p>
            <a:r>
              <a:t>Current src orchestration, retrieval, routing, generation, guardrails and audit 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a:t>
            </a:r>
          </a:p>
          <a:p>
            <a:endParaRPr/>
          </a:p>
          <a:p>
            <a:r>
              <a:t>SCRIPT</a:t>
            </a:r>
          </a:p>
          <a:p>
            <a:r>
              <a:t>The project structure supports reuse. FastAPI is a service interface, while the harness is an evaluation entry point; neither should contain a second copy of the decision workflow. The processing core owns retrieval, classification, policy and response checks. Knowledge and indexes support runtime operation, SQLite records decisions, and evaluation outputs preserve test evidence. Ground-truth labels belong to the harness and are not passed to runtime routing. The documentation and pinned environment make the implementation easier to run and review. This separates project organisation from the previous slide’s ticket control flow.</a:t>
            </a:r>
          </a:p>
          <a:p>
            <a:endParaRPr/>
          </a:p>
          <a:p>
            <a:r>
              <a:t>SOURCE / CONTEXT</a:t>
            </a:r>
          </a:p>
          <a:p>
            <a:r>
              <a:t>Repository structure; README.md; src; evaluation/harness.py; data; 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a:t>
            </a:r>
          </a:p>
          <a:p>
            <a:endParaRPr/>
          </a:p>
          <a:p>
            <a:r>
              <a:t>SCRIPT</a:t>
            </a:r>
          </a:p>
          <a:p>
            <a:r>
              <a:t>Routing is a sequence of explicit policy decisions. A kill switch or high-risk rule can override automation. Low confidence, unclear intent and missing evidence also cause escalation. An eligible ticket is drafted and checked before release; a failed output check suppresses that draft and creates a handover. The strict semantic grounding reviewer does not participate. Two limits are important for the operational design: the current kill switch is process-local, and it is evaluated after retrieval and classification. It therefore does not guarantee that no earlier provider call has occurred.</a:t>
            </a:r>
          </a:p>
          <a:p>
            <a:endParaRPr/>
          </a:p>
          <a:p>
            <a:r>
              <a:t>SOURCE / CONTEXT</a:t>
            </a:r>
          </a:p>
          <a:p>
            <a:r>
              <a:t>Current routing and guardrail implementation; grounding review disabled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open docs/architecture_diagram.html in a browser. Allow 90–120 seconds. Return to slide 17.</a:t>
            </a:r>
          </a:p>
          <a:p>
            <a:endParaRPr/>
          </a:p>
          <a:p>
            <a:r>
              <a:t>SCRIPT</a:t>
            </a:r>
          </a:p>
          <a:p>
            <a:r>
              <a:t>I will now switch to the architecture HTML rather than reproduce every detail on a slide. First I will trace the normal workflow and show where the two routes diverge. Next I will open the data view and explain what stays local, what is sent to the model provider, and where the audit record is stored. Finally I will show the evidence view and explain why dataset labels are used to score the workflow but never to make a runtime decision. I will then return to the deck to demonstrate the FastAPI interface.</a:t>
            </a:r>
          </a:p>
          <a:p>
            <a:endParaRPr/>
          </a:p>
          <a:p>
            <a:r>
              <a:t>SOURCE / CONTEXT</a:t>
            </a:r>
          </a:p>
          <a:p>
            <a:r>
              <a:t>docs/architecture_diagram.html · existing standalone interactive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start the service using README; open http://127.0.0.1:8000/docs. Allow ~2 minutes. Use synthetic inputs only.</a:t>
            </a:r>
          </a:p>
          <a:p>
            <a:endParaRPr/>
          </a:p>
          <a:p>
            <a:r>
              <a:t>SCRIPT</a:t>
            </a:r>
          </a:p>
          <a:p>
            <a:r>
              <a:t>FastAPI exposes the workflow as a reusable service. I will open Swagger at localhost port 8000, submit a low-risk documentation ticket, and inspect the route, confidence, draft, citations and decision identifier. Then I will show a sensitive ticket that produces a handover. The health endpoint checks database access, and metrics returns aggregate JSON counts rather than Prometheus telemetry. The admin switch is useful for a local demonstration, but authentication and a shared switch across workers are future production work. A returned draft also does not mean an outbound customer message has been delivered.</a:t>
            </a:r>
          </a:p>
          <a:p>
            <a:endParaRPr/>
          </a:p>
          <a:p>
            <a:r>
              <a:t>SOURCE / CONTEXT</a:t>
            </a:r>
          </a:p>
          <a:p>
            <a:r>
              <a:t>src/api.py and README.md · local service; production authentication is not implemented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run the offline development command on screen or show a prepared run; inspect one auto-response, one escalation and the audit reconciliation. Allow ~2 minutes.</a:t>
            </a:r>
          </a:p>
          <a:p>
            <a:endParaRPr/>
          </a:p>
          <a:p>
            <a:r>
              <a:t>SCRIPT</a:t>
            </a:r>
          </a:p>
          <a:p>
            <a:r>
              <a:t>The harness exercises the same workflow over a dataset and writes a report plus a per-ticket results file. The output argument is a directory; filenames are fixed inside it. For a repeatable demonstration I use the development dataset in offline mode and a separate demo output directory. I do not overwrite the saved validation evidence. Audit completeness is checked against this run’s input positions, including missing, extra and duplicate records, rather than using the lifetime row count. The saved evaluation reconciles all 80 inputs. Live API activity can change lifetime metrics without changing that saved report.</a:t>
            </a:r>
          </a:p>
          <a:p>
            <a:endParaRPr/>
          </a:p>
          <a:p>
            <a:r>
              <a:t>SOURCE / CONTEXT</a:t>
            </a:r>
          </a:p>
          <a:p>
            <a:r>
              <a:t>evaluation/harness.py; evaluation/results/latest_report.json; SQLite audit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 Point to the legacy latency footnote before moving on.</a:t>
            </a:r>
          </a:p>
          <a:p>
            <a:endParaRPr/>
          </a:p>
          <a:p>
            <a:r>
              <a:t>SCRIPT</a:t>
            </a:r>
          </a:p>
          <a:p>
            <a:r>
              <a:t>Here is the saved 80-ticket run. Fifty-six tickets produced automatic drafts and 24 were escalated, giving 70 percent automation and 30 percent escalation. All seven selected operational KPI rows pass their configured thresholds. Weighted intent precision is 88.51 percent, no private-data patterns were detected in the scanned drafts, all audit records reconcile, and cited document IDs are valid. The latency row uses the legacy 300-second threshold. I am deliberately calling these operational KPIs and automatic drafts: they do not establish customer resolution, delivered first reply, or complete semantic correctness.</a:t>
            </a:r>
          </a:p>
          <a:p>
            <a:endParaRPr/>
          </a:p>
          <a:p>
            <a:r>
              <a:t>SOURCE / CONTEXT</a:t>
            </a:r>
          </a:p>
          <a:p>
            <a:r>
              <a:t>evaluation/results/latest_report.json · saved 20 Sep 2026 · legacy_operational_proxies schema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a:t>
            </a:r>
          </a:p>
          <a:p>
            <a:endParaRPr/>
          </a:p>
          <a:p>
            <a:r>
              <a:t>SCRIPT</a:t>
            </a:r>
          </a:p>
          <a:p>
            <a:r>
              <a:t>This slide explains why apparently strong metrics can coexist with unfinished requirements. Automation counts a route, while first-contact resolution requires a customer outcome. Weighted precision can hide weak classes. Citation validity checks identifiers, while faithfulness asks whether the source supports each claim. The measured P95 covers processing, not time to a delivered customer reply, and the original three-second objective is much stricter than the legacy report target. Finally, a regex scan only proves what that scan can detect. These definitions let us keep a clear report without misrepresenting its evidence.</a:t>
            </a:r>
          </a:p>
          <a:p>
            <a:endParaRPr/>
          </a:p>
          <a:p>
            <a:r>
              <a:t>SOURCE / CONTEXT</a:t>
            </a:r>
          </a:p>
          <a:p>
            <a:r>
              <a:t>Saved report definitions; original PRD and Evaluation_Framework.docx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50 seconds. Matrix rows are expected labels; columns are actual routes.</a:t>
            </a:r>
          </a:p>
          <a:p>
            <a:endParaRPr/>
          </a:p>
          <a:p>
            <a:r>
              <a:t>SCRIPT</a:t>
            </a:r>
          </a:p>
          <a:p>
            <a:r>
              <a:t>The overall route matches the expected label for 58 of 80 tickets. In the confusion matrix, 15 tickets expected to escalate received an automatic route, and seven expected to auto-respond were escalated. These disagreements need case review; a strict policy can sometimes appropriately disagree with a dataset label. There were zero violations among the 14 must-not-auto-respond cases, which is encouraging but a small sample. High-urgency recall is only five out of 25, or 20 percent. Mean confidence exceeds accuracy by 11.81 percentage points. Those findings make urgency, routing and calibration concrete priorities.</a:t>
            </a:r>
          </a:p>
          <a:p>
            <a:endParaRPr/>
          </a:p>
          <a:p>
            <a:r>
              <a:t>SOURCE / CONTEXT</a:t>
            </a:r>
          </a:p>
          <a:p>
            <a:r>
              <a:t>Paired latest_report.json and latest_ticket_results.json · 80-ticket saved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45 seconds. These are proposed requirement changes, not recorded stakeholder approval.</a:t>
            </a:r>
          </a:p>
          <a:p>
            <a:endParaRPr/>
          </a:p>
          <a:p>
            <a:r>
              <a:t>SCRIPT</a:t>
            </a:r>
          </a:p>
          <a:p>
            <a:r>
              <a:t>The revision log should explain what I initially assumed and what the evidence now tells me to change, rather than simply list code edits. Automation initially looked like a convenient resolution proxy, but the implementation does not observe closure. Model confidence looked like a decision signal, but it is not calibrated probability. Valid source IDs looked reassuring, but they do not verify every generated claim. And a green console report does not replace the original nonfunctional requirements. The proposed PRD v2 makes those distinctions explicit; it does not lower targets just to turn failures into passes.</a:t>
            </a:r>
          </a:p>
          <a:p>
            <a:endParaRPr/>
          </a:p>
          <a:p>
            <a:r>
              <a:t>SOURCE / CONTEXT</a:t>
            </a:r>
          </a:p>
          <a:p>
            <a:r>
              <a:t>Original PRD + saved evaluation; proposed consolidation of Stage_5_PRD_Revision_Log.docx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50 seconds. This is a proposed consolidated v2, not an edited or approved PRD.</a:t>
            </a:r>
          </a:p>
          <a:p>
            <a:endParaRPr/>
          </a:p>
          <a:p>
            <a:r>
              <a:t>SCRIPT</a:t>
            </a:r>
          </a:p>
          <a:p>
            <a:r>
              <a:t>These are the seven proposed revision areas. Retrieval needs its own threshold and recorded configuration, distinct from classifier confidence. Routing needs explicit policy boundaries and a review of disagreements without using evaluation labels at runtime. Answer quality needs independent semantic evidence while the reviewer remains outside routing. Audit acceptance should reconcile exact run inputs. Metrics should keep the selected operational report but add the instrumentation needed for real business outcomes. Latency retains the original target with clearer scope. Calibration becomes an explicit acceptance exercise. The existing revision workbook should be reconciled to this evidence before calling v2 approved.</a:t>
            </a:r>
          </a:p>
          <a:p>
            <a:endParaRPr/>
          </a:p>
          <a:p>
            <a:r>
              <a:t>SOURCE / CONTEXT</a:t>
            </a:r>
          </a:p>
          <a:p>
            <a:r>
              <a:t>Proposed changes based on current code and saved results; source workbooks remain unedited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a:t>
            </a:r>
          </a:p>
          <a:p>
            <a:endParaRPr/>
          </a:p>
          <a:p>
            <a:r>
              <a:t>SCRIPT</a:t>
            </a:r>
          </a:p>
          <a:p>
            <a:r>
              <a:t>I included governance because it is easy to demonstrate an answer and overlook how the service would be operated. Before release, API and admin actions need access control, provider-bound data needs review, and retention and incident ownership need definition. During operation, delivery and closure events are needed to measure business outcomes. An incident procedure must stop automation, preserve evidence and hand ownership to a person. Group-level results also need careful review: observed accuracy gaps are diagnostic signals, not causal proof of bias. Availability and production cost should be established through operational evidence.</a:t>
            </a:r>
          </a:p>
          <a:p>
            <a:endParaRPr/>
          </a:p>
          <a:p>
            <a:r>
              <a:t>SOURCE / CONTEXT</a:t>
            </a:r>
          </a:p>
          <a:p>
            <a:r>
              <a:t>Current implementation; Governance_Framework.docx; proposed operational hardening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40 seconds. Do not present either actual total as independently verified.</a:t>
            </a:r>
          </a:p>
          <a:p>
            <a:endParaRPr/>
          </a:p>
          <a:p>
            <a:r>
              <a:t>SCRIPT</a:t>
            </a:r>
          </a:p>
          <a:p>
            <a:r>
              <a:t>The effort log shows that engineering, testing and evaluation absorbed most of the work. However, the file does not currently support one reconciled final total. Its planned hours sum to 80, its declared actual summary totals 84, and its daily entries total 105. The summary and daily records therefore differ by 21 hours, particularly in the build stage. I have not chosen whichever figure looks better or edited the log. Before submission, I would reconcile the daily records and summary. The practical lesson is to reserve more capacity for integration, evaluation and debugging.</a:t>
            </a:r>
          </a:p>
          <a:p>
            <a:endParaRPr/>
          </a:p>
          <a:p>
            <a:r>
              <a:t>SOURCE / CONTEXT</a:t>
            </a:r>
          </a:p>
          <a:p>
            <a:r>
              <a:t>docs/Effort_Log.docx · planned and declared summary versus sum of daily entries; no source edits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35 seconds. End the main presentation here; slides 27–30 are backup material.</a:t>
            </a:r>
          </a:p>
          <a:p>
            <a:endParaRPr/>
          </a:p>
          <a:p>
            <a:r>
              <a:t>SCRIPT</a:t>
            </a:r>
          </a:p>
          <a:p>
            <a:r>
              <a:t>The project delivers a working support workflow rather than only a conversational interface. It can be called through FastAPI, evaluated in a batch, and inspected through its audit records. The saved run demonstrates meaningful automation with complete run reconciliation. The next milestone is stronger evidence of correct resolution: review routing disagreements and missed urgency, calibrate confidence, measure semantic quality independently, and connect drafts to customer delivery and closure. I would also reconcile the effort log and revision workbook before final submission. That is the progression from a demonstrable capstone to a dependable operating service.</a:t>
            </a:r>
          </a:p>
          <a:p>
            <a:endParaRPr/>
          </a:p>
          <a:p>
            <a:r>
              <a:t>SOURCE / CONTEXT</a:t>
            </a:r>
          </a:p>
          <a:p>
            <a:r>
              <a:t>Implemented repository and saved evaluation; proposed priorities, not completed production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about 30 seconds if requested.</a:t>
            </a:r>
          </a:p>
          <a:p>
            <a:endParaRPr/>
          </a:p>
          <a:p>
            <a:r>
              <a:t>SCRIPT</a:t>
            </a:r>
          </a:p>
          <a:p>
            <a:r>
              <a:t>Use this slide if asked how the implementation maps to the functional PRD. The important trace is from requirement to a processing responsibility and then to evidence, not just to a filename. For example, audit completeness is backed by run reconciliation, whereas the kill switch is implemented but still has process-local limitations. A module existing in the repository does not prove every acceptance condition has passed. The main slides explain where the implemented surface is narrower than the original ambition.</a:t>
            </a:r>
          </a:p>
          <a:p>
            <a:endParaRPr/>
          </a:p>
          <a:p>
            <a:r>
              <a:t>SOURCE / CONTEXT</a:t>
            </a:r>
          </a:p>
          <a:p>
            <a:r>
              <a:t>Stage_2_PRD_Filled.docx; current repository; detailed limitations in main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for metric questions.</a:t>
            </a:r>
          </a:p>
          <a:p>
            <a:endParaRPr/>
          </a:p>
          <a:p>
            <a:r>
              <a:t>SCRIPT</a:t>
            </a:r>
          </a:p>
          <a:p>
            <a:r>
              <a:t>This backup slide gives the denominators behind common questions. In particular, retrieval is evaluated on 53 answerable validation tickets, while overall automation uses all 80 inputs. Citation validity counts 130 citation occurrences rather than 130 different articles. Intent accuracy is 68 correct labels out of 80 and is not interchangeable with weighted precision. The P95 calculation uses the nearest-rank method: the 76th sorted duration for 80 observations. Small subgroups, such as the 14 must-not-auto cases, should not be extrapolated into blanket safety claims.</a:t>
            </a:r>
          </a:p>
          <a:p>
            <a:endParaRPr/>
          </a:p>
          <a:p>
            <a:r>
              <a:t>SOURCE / CONTEXT</a:t>
            </a:r>
          </a:p>
          <a:p>
            <a:r>
              <a:t>Current harness calculation and saved 80-ticket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setup instructions. Never display .env contents or real customer secrets.</a:t>
            </a:r>
          </a:p>
          <a:p>
            <a:endParaRPr/>
          </a:p>
          <a:p>
            <a:r>
              <a:t>SCRIPT</a:t>
            </a:r>
          </a:p>
          <a:p>
            <a:r>
              <a:t>Before presenting, complete the README setup and build the knowledge index. Open the architecture HTML and Swagger in separate tabs, and keep the saved report visible. Run the offline development harness into a separate demo directory so the canonical validation results are preserved. Use a low-risk documentation example and a synthetic sensitive case to show both routes. Inspect the response and audit record rather than promising customer delivery. If the model provider is unavailable, explain and use the supported offline mode; do not present offline results as equivalent to the saved online evaluation.</a:t>
            </a:r>
          </a:p>
          <a:p>
            <a:endParaRPr/>
          </a:p>
          <a:p>
            <a:r>
              <a:t>SOURCE / CONTEXT</a:t>
            </a:r>
          </a:p>
          <a:p>
            <a:r>
              <a:t>README.md · run from repository root; use an existing configured environment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provenance and limitations.</a:t>
            </a:r>
          </a:p>
          <a:p>
            <a:endParaRPr/>
          </a:p>
          <a:p>
            <a:r>
              <a:t>SCRIPT</a:t>
            </a:r>
          </a:p>
          <a:p>
            <a:r>
              <a:t>The presentation uses three kinds of evidence. The company and stakeholder story comes from the supplied fictional case. Implementation claims come from the current repository. Numerical run results come from the paired saved report and ticket records. The proposed PRD v2 is an interpretation of that evidence, not a new stakeholder-approved document. The validation dataset has been used during iteration, so I do not describe it as an untouched blind holdout. No new validation run was performed to create this deck, and no source workbook was edited.</a:t>
            </a:r>
          </a:p>
          <a:p>
            <a:endParaRPr/>
          </a:p>
          <a:p>
            <a:r>
              <a:t>SOURCE / CONTEXT</a:t>
            </a:r>
          </a:p>
          <a:p>
            <a:r>
              <a:t>All sources are local to this repository; no external assets or invented stakeholder approvals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047"/>
        </a:solidFill>
        <a:effectLst/>
      </p:bgPr>
    </p:bg>
    <p:spTree>
      <p:nvGrpSpPr>
        <p:cNvPr id="1" name=""/>
        <p:cNvGrpSpPr/>
        <p:nvPr/>
      </p:nvGrpSpPr>
      <p:grpSpPr>
        <a:xfrm>
          <a:off x="0" y="0"/>
          <a:ext cx="0" cy="0"/>
          <a:chOff x="0" y="0"/>
          <a:chExt cx="0" cy="0"/>
        </a:xfrm>
      </p:grpSpPr>
      <p:sp>
        <p:nvSpPr>
          <p:cNvPr id="15" name="kicker-marker">
            <a:extLst>
              <a:ext uri="{FF2B5EF4-FFF2-40B4-BE49-F238E27FC236}">
                <a16:creationId xmlns:a16="http://schemas.microsoft.com/office/drawing/2014/main" id="{4C2D0F7D-D6B1-4A5F-84CA-A7396192E500}"/>
              </a:ext>
            </a:extLst>
          </p:cNvPr>
          <p:cNvSpPr>
            <a:spLocks noGrp="1"/>
          </p:cNvSpPr>
          <p:nvPr/>
        </p:nvSpPr>
        <p:spPr>
          <a:xfrm>
            <a:off x="609600" y="419100"/>
            <a:ext cx="76200" cy="76200"/>
          </a:xfrm>
          <a:prstGeom prst="rect">
            <a:avLst/>
          </a:prstGeom>
          <a:solidFill>
            <a:srgbClr val="D7E6E4"/>
          </a:solidFill>
        </p:spPr>
      </p:sp>
      <p:sp>
        <p:nvSpPr>
          <p:cNvPr id="2" name="kicker-label">
            <a:extLst>
              <a:ext uri="{FF2B5EF4-FFF2-40B4-BE49-F238E27FC236}">
                <a16:creationId xmlns:a16="http://schemas.microsoft.com/office/drawing/2014/main" id="{62CE60E4-4F29-41D8-929F-A6FA7602973E}"/>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D7E6E4"/>
                </a:solidFill>
                <a:latin typeface="Arial"/>
                <a:ea typeface="Arial"/>
                <a:cs typeface="Arial"/>
              </a:defRPr>
            </a:pPr>
            <a:r>
              <a:t>CLOUDSERVE · FDE CAPSTONE</a:t>
            </a:r>
          </a:p>
        </p:txBody>
      </p:sp>
      <p:sp>
        <p:nvSpPr>
          <p:cNvPr id="3" name="shape-2">
            <a:extLst>
              <a:ext uri="{FF2B5EF4-FFF2-40B4-BE49-F238E27FC236}">
                <a16:creationId xmlns:a16="http://schemas.microsoft.com/office/drawing/2014/main" id="{58ED4563-C597-4D2E-99A6-E7F27095E802}"/>
              </a:ext>
            </a:extLst>
          </p:cNvPr>
          <p:cNvSpPr>
            <a:spLocks noGrp="1"/>
          </p:cNvSpPr>
          <p:nvPr/>
        </p:nvSpPr>
        <p:spPr>
          <a:xfrm>
            <a:off x="609600" y="6305550"/>
            <a:ext cx="10972800" cy="9525"/>
          </a:xfrm>
          <a:prstGeom prst="rect">
            <a:avLst/>
          </a:prstGeom>
          <a:solidFill>
            <a:srgbClr val="406071"/>
          </a:solidFill>
        </p:spPr>
      </p:sp>
      <p:sp>
        <p:nvSpPr>
          <p:cNvPr id="4" name="text-3">
            <a:extLst>
              <a:ext uri="{FF2B5EF4-FFF2-40B4-BE49-F238E27FC236}">
                <a16:creationId xmlns:a16="http://schemas.microsoft.com/office/drawing/2014/main" id="{BA030809-C0FA-429B-BD00-F34ADF7E7334}"/>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D7E6E4"/>
                </a:solidFill>
                <a:latin typeface="Arial"/>
                <a:ea typeface="Arial"/>
                <a:cs typeface="Arial"/>
              </a:defRPr>
            </a:pPr>
            <a:r>
              <a:t>Supplied CloudServe case · implemented repository · saved evaluation, 20 September 2026</a:t>
            </a:r>
          </a:p>
        </p:txBody>
      </p:sp>
      <p:sp>
        <p:nvSpPr>
          <p:cNvPr id="5" name="text-4">
            <a:extLst>
              <a:ext uri="{FF2B5EF4-FFF2-40B4-BE49-F238E27FC236}">
                <a16:creationId xmlns:a16="http://schemas.microsoft.com/office/drawing/2014/main" id="{C3086400-32C7-4DCE-B6C9-92C9B71C58F2}"/>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FFFFFF"/>
                </a:solidFill>
                <a:latin typeface="Arial"/>
                <a:ea typeface="Arial"/>
                <a:cs typeface="Arial"/>
              </a:defRPr>
            </a:pPr>
            <a:r>
              <a:t>01</a:t>
            </a:r>
          </a:p>
        </p:txBody>
      </p:sp>
      <p:sp>
        <p:nvSpPr>
          <p:cNvPr id="6" name="text-5">
            <a:extLst>
              <a:ext uri="{FF2B5EF4-FFF2-40B4-BE49-F238E27FC236}">
                <a16:creationId xmlns:a16="http://schemas.microsoft.com/office/drawing/2014/main" id="{9773FCF6-84F4-482C-960A-E8047A2D7B95}"/>
              </a:ext>
            </a:extLst>
          </p:cNvPr>
          <p:cNvSpPr>
            <a:spLocks noGrp="1"/>
          </p:cNvSpPr>
          <p:nvPr/>
        </p:nvSpPr>
        <p:spPr>
          <a:xfrm>
            <a:off x="609600" y="1190625"/>
            <a:ext cx="10668000" cy="1619250"/>
          </a:xfrm>
          <a:prstGeom prst="rect">
            <a:avLst/>
          </a:prstGeom>
        </p:spPr>
        <p:txBody>
          <a:bodyPr wrap="square" lIns="0" tIns="0" rIns="0" bIns="0" anchor="t"/>
          <a:lstStyle/>
          <a:p>
            <a:pPr>
              <a:defRPr sz="4650" b="0">
                <a:solidFill>
                  <a:srgbClr val="FFFFFF"/>
                </a:solidFill>
                <a:latin typeface="Georgia"/>
                <a:ea typeface="Georgia"/>
                <a:cs typeface="Georgia"/>
              </a:defRPr>
            </a:pPr>
            <a:r>
              <a:t>From a chatbot request</a:t>
            </a:r>
          </a:p>
          <a:p>
            <a:pPr>
              <a:defRPr sz="4650" b="0">
                <a:solidFill>
                  <a:srgbClr val="FFFFFF"/>
                </a:solidFill>
                <a:latin typeface="Georgia"/>
                <a:ea typeface="Georgia"/>
                <a:cs typeface="Georgia"/>
              </a:defRPr>
            </a:pPr>
            <a:r>
              <a:t>to a support decision workflow</a:t>
            </a:r>
          </a:p>
        </p:txBody>
      </p:sp>
      <p:sp>
        <p:nvSpPr>
          <p:cNvPr id="7" name="text-6">
            <a:extLst>
              <a:ext uri="{FF2B5EF4-FFF2-40B4-BE49-F238E27FC236}">
                <a16:creationId xmlns:a16="http://schemas.microsoft.com/office/drawing/2014/main" id="{C8B5A891-1549-4D1A-88B2-55289A603CE0}"/>
              </a:ext>
            </a:extLst>
          </p:cNvPr>
          <p:cNvSpPr>
            <a:spLocks noGrp="1"/>
          </p:cNvSpPr>
          <p:nvPr/>
        </p:nvSpPr>
        <p:spPr>
          <a:xfrm>
            <a:off x="647700" y="3067050"/>
            <a:ext cx="10001250" cy="762000"/>
          </a:xfrm>
          <a:prstGeom prst="rect">
            <a:avLst/>
          </a:prstGeom>
        </p:spPr>
        <p:txBody>
          <a:bodyPr wrap="square" lIns="0" tIns="0" rIns="0" bIns="0" anchor="t"/>
          <a:lstStyle/>
          <a:p>
            <a:pPr>
              <a:defRPr sz="1950" b="0">
                <a:solidFill>
                  <a:srgbClr val="D7E6E4"/>
                </a:solidFill>
                <a:latin typeface="Arial"/>
                <a:ea typeface="Arial"/>
                <a:cs typeface="Arial"/>
              </a:defRPr>
            </a:pPr>
            <a:r>
              <a:t>Resolve the repeatable. Escalate with context. Make every decision traceable.</a:t>
            </a:r>
          </a:p>
        </p:txBody>
      </p:sp>
      <p:sp>
        <p:nvSpPr>
          <p:cNvPr id="8" name="text-7">
            <a:extLst>
              <a:ext uri="{FF2B5EF4-FFF2-40B4-BE49-F238E27FC236}">
                <a16:creationId xmlns:a16="http://schemas.microsoft.com/office/drawing/2014/main" id="{A6A0E081-A580-499E-B4A2-55BC280C7716}"/>
              </a:ext>
            </a:extLst>
          </p:cNvPr>
          <p:cNvSpPr>
            <a:spLocks noGrp="1"/>
          </p:cNvSpPr>
          <p:nvPr/>
        </p:nvSpPr>
        <p:spPr>
          <a:xfrm>
            <a:off x="647700" y="4391025"/>
            <a:ext cx="3333750" cy="685800"/>
          </a:xfrm>
          <a:prstGeom prst="rect">
            <a:avLst/>
          </a:prstGeom>
        </p:spPr>
        <p:txBody>
          <a:bodyPr wrap="square" lIns="0" tIns="0" rIns="0" bIns="0" anchor="t"/>
          <a:lstStyle/>
          <a:p>
            <a:pPr>
              <a:defRPr sz="4125" b="0">
                <a:solidFill>
                  <a:srgbClr val="FFFFFF"/>
                </a:solidFill>
                <a:latin typeface="Georgia"/>
                <a:ea typeface="Georgia"/>
                <a:cs typeface="Georgia"/>
              </a:defRPr>
            </a:pPr>
            <a:r>
              <a:t>29</a:t>
            </a:r>
          </a:p>
        </p:txBody>
      </p:sp>
      <p:sp>
        <p:nvSpPr>
          <p:cNvPr id="9" name="text-8">
            <a:extLst>
              <a:ext uri="{FF2B5EF4-FFF2-40B4-BE49-F238E27FC236}">
                <a16:creationId xmlns:a16="http://schemas.microsoft.com/office/drawing/2014/main" id="{CF771655-F76A-488D-B246-1F5C2030A42B}"/>
              </a:ext>
            </a:extLst>
          </p:cNvPr>
          <p:cNvSpPr>
            <a:spLocks noGrp="1"/>
          </p:cNvSpPr>
          <p:nvPr/>
        </p:nvSpPr>
        <p:spPr>
          <a:xfrm>
            <a:off x="647700" y="5133975"/>
            <a:ext cx="3333750" cy="381000"/>
          </a:xfrm>
          <a:prstGeom prst="rect">
            <a:avLst/>
          </a:prstGeom>
        </p:spPr>
        <p:txBody>
          <a:bodyPr wrap="square" lIns="0" tIns="0" rIns="0" bIns="0" anchor="t"/>
          <a:lstStyle/>
          <a:p>
            <a:pPr>
              <a:defRPr sz="1500" b="0">
                <a:solidFill>
                  <a:srgbClr val="D7E6E4"/>
                </a:solidFill>
                <a:latin typeface="Arial"/>
                <a:ea typeface="Arial"/>
                <a:cs typeface="Arial"/>
              </a:defRPr>
            </a:pPr>
            <a:r>
              <a:t>approved KB articles</a:t>
            </a:r>
          </a:p>
        </p:txBody>
      </p:sp>
      <p:sp>
        <p:nvSpPr>
          <p:cNvPr id="10" name="text-9">
            <a:extLst>
              <a:ext uri="{FF2B5EF4-FFF2-40B4-BE49-F238E27FC236}">
                <a16:creationId xmlns:a16="http://schemas.microsoft.com/office/drawing/2014/main" id="{09EAE7D0-ECF4-4A2C-B59C-6DC77EB58DBB}"/>
              </a:ext>
            </a:extLst>
          </p:cNvPr>
          <p:cNvSpPr>
            <a:spLocks noGrp="1"/>
          </p:cNvSpPr>
          <p:nvPr/>
        </p:nvSpPr>
        <p:spPr>
          <a:xfrm>
            <a:off x="4362450" y="4391025"/>
            <a:ext cx="3333750" cy="685800"/>
          </a:xfrm>
          <a:prstGeom prst="rect">
            <a:avLst/>
          </a:prstGeom>
        </p:spPr>
        <p:txBody>
          <a:bodyPr wrap="square" lIns="0" tIns="0" rIns="0" bIns="0" anchor="t"/>
          <a:lstStyle/>
          <a:p>
            <a:pPr>
              <a:defRPr sz="4125" b="0">
                <a:solidFill>
                  <a:srgbClr val="FFFFFF"/>
                </a:solidFill>
                <a:latin typeface="Georgia"/>
                <a:ea typeface="Georgia"/>
                <a:cs typeface="Georgia"/>
              </a:defRPr>
            </a:pPr>
            <a:r>
              <a:t>80</a:t>
            </a:r>
          </a:p>
        </p:txBody>
      </p:sp>
      <p:sp>
        <p:nvSpPr>
          <p:cNvPr id="11" name="text-10">
            <a:extLst>
              <a:ext uri="{FF2B5EF4-FFF2-40B4-BE49-F238E27FC236}">
                <a16:creationId xmlns:a16="http://schemas.microsoft.com/office/drawing/2014/main" id="{71848EC8-0DBB-49D0-9AFA-3948CD38AF47}"/>
              </a:ext>
            </a:extLst>
          </p:cNvPr>
          <p:cNvSpPr>
            <a:spLocks noGrp="1"/>
          </p:cNvSpPr>
          <p:nvPr/>
        </p:nvSpPr>
        <p:spPr>
          <a:xfrm>
            <a:off x="4362450" y="5133975"/>
            <a:ext cx="3333750" cy="381000"/>
          </a:xfrm>
          <a:prstGeom prst="rect">
            <a:avLst/>
          </a:prstGeom>
        </p:spPr>
        <p:txBody>
          <a:bodyPr wrap="square" lIns="0" tIns="0" rIns="0" bIns="0" anchor="t"/>
          <a:lstStyle/>
          <a:p>
            <a:pPr>
              <a:defRPr sz="1500" b="0">
                <a:solidFill>
                  <a:srgbClr val="D7E6E4"/>
                </a:solidFill>
                <a:latin typeface="Arial"/>
                <a:ea typeface="Arial"/>
                <a:cs typeface="Arial"/>
              </a:defRPr>
            </a:pPr>
            <a:r>
              <a:t>evaluated tickets</a:t>
            </a:r>
          </a:p>
        </p:txBody>
      </p:sp>
      <p:sp>
        <p:nvSpPr>
          <p:cNvPr id="12" name="text-11">
            <a:extLst>
              <a:ext uri="{FF2B5EF4-FFF2-40B4-BE49-F238E27FC236}">
                <a16:creationId xmlns:a16="http://schemas.microsoft.com/office/drawing/2014/main" id="{5AA77EFE-FAAC-4962-AF37-B37AEB84BF2D}"/>
              </a:ext>
            </a:extLst>
          </p:cNvPr>
          <p:cNvSpPr>
            <a:spLocks noGrp="1"/>
          </p:cNvSpPr>
          <p:nvPr/>
        </p:nvSpPr>
        <p:spPr>
          <a:xfrm>
            <a:off x="8077200" y="4391025"/>
            <a:ext cx="3333750" cy="685800"/>
          </a:xfrm>
          <a:prstGeom prst="rect">
            <a:avLst/>
          </a:prstGeom>
        </p:spPr>
        <p:txBody>
          <a:bodyPr wrap="square" lIns="0" tIns="0" rIns="0" bIns="0" anchor="t"/>
          <a:lstStyle/>
          <a:p>
            <a:pPr>
              <a:defRPr sz="4125" b="0">
                <a:solidFill>
                  <a:srgbClr val="E7BD80"/>
                </a:solidFill>
                <a:latin typeface="Georgia"/>
                <a:ea typeface="Georgia"/>
                <a:cs typeface="Georgia"/>
              </a:defRPr>
            </a:pPr>
            <a:r>
              <a:t>56 / 24</a:t>
            </a:r>
          </a:p>
        </p:txBody>
      </p:sp>
      <p:sp>
        <p:nvSpPr>
          <p:cNvPr id="13" name="text-12">
            <a:extLst>
              <a:ext uri="{FF2B5EF4-FFF2-40B4-BE49-F238E27FC236}">
                <a16:creationId xmlns:a16="http://schemas.microsoft.com/office/drawing/2014/main" id="{BBA6EF46-D8FF-403C-9CCB-552C8AF37041}"/>
              </a:ext>
            </a:extLst>
          </p:cNvPr>
          <p:cNvSpPr>
            <a:spLocks noGrp="1"/>
          </p:cNvSpPr>
          <p:nvPr/>
        </p:nvSpPr>
        <p:spPr>
          <a:xfrm>
            <a:off x="8077200" y="5133975"/>
            <a:ext cx="3333750" cy="381000"/>
          </a:xfrm>
          <a:prstGeom prst="rect">
            <a:avLst/>
          </a:prstGeom>
        </p:spPr>
        <p:txBody>
          <a:bodyPr wrap="square" lIns="0" tIns="0" rIns="0" bIns="0" anchor="t"/>
          <a:lstStyle/>
          <a:p>
            <a:pPr>
              <a:defRPr sz="1500" b="0">
                <a:solidFill>
                  <a:srgbClr val="D7E6E4"/>
                </a:solidFill>
                <a:latin typeface="Arial"/>
                <a:ea typeface="Arial"/>
                <a:cs typeface="Arial"/>
              </a:defRPr>
            </a:pPr>
            <a:r>
              <a:t>auto-response / escalation</a:t>
            </a:r>
          </a:p>
        </p:txBody>
      </p:sp>
      <p:sp>
        <p:nvSpPr>
          <p:cNvPr id="14" name="text-13">
            <a:extLst>
              <a:ext uri="{FF2B5EF4-FFF2-40B4-BE49-F238E27FC236}">
                <a16:creationId xmlns:a16="http://schemas.microsoft.com/office/drawing/2014/main" id="{EF4DEFDD-9503-45E6-B554-60810F788A55}"/>
              </a:ext>
            </a:extLst>
          </p:cNvPr>
          <p:cNvSpPr>
            <a:spLocks noGrp="1"/>
          </p:cNvSpPr>
          <p:nvPr/>
        </p:nvSpPr>
        <p:spPr>
          <a:xfrm>
            <a:off x="647700" y="5867400"/>
            <a:ext cx="9525000" cy="228600"/>
          </a:xfrm>
          <a:prstGeom prst="rect">
            <a:avLst/>
          </a:prstGeom>
        </p:spPr>
        <p:txBody>
          <a:bodyPr wrap="square" lIns="0" tIns="0" rIns="0" bIns="0" anchor="t"/>
          <a:lstStyle/>
          <a:p>
            <a:pPr>
              <a:defRPr sz="975" b="1">
                <a:solidFill>
                  <a:srgbClr val="D7E6E4"/>
                </a:solidFill>
                <a:latin typeface="Arial"/>
                <a:ea typeface="Arial"/>
                <a:cs typeface="Arial"/>
              </a:defRPr>
            </a:pPr>
            <a:r>
              <a:t>MOULI SAI  /  DISCOVERY → BUILD → EVIDENCE</a:t>
            </a:r>
          </a:p>
        </p:txBody>
      </p:sp>
    </p:spTree>
    <p:extLst>
      <p:ext uri="{BB962C8B-B14F-4D97-AF65-F5344CB8AC3E}">
        <p14:creationId xmlns:p14="http://schemas.microsoft.com/office/powerpoint/2010/main" val="1539686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1" name="kicker-marker">
            <a:extLst>
              <a:ext uri="{FF2B5EF4-FFF2-40B4-BE49-F238E27FC236}">
                <a16:creationId xmlns:a16="http://schemas.microsoft.com/office/drawing/2014/main" id="{4FCE1640-6735-4631-99BD-B674766EF2B0}"/>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52FB5A91-6DF7-4CF7-950E-1772C397AA52}"/>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BUSINESS CONTEXT</a:t>
            </a:r>
          </a:p>
        </p:txBody>
      </p:sp>
      <p:sp>
        <p:nvSpPr>
          <p:cNvPr id="3" name="text-2">
            <a:extLst>
              <a:ext uri="{FF2B5EF4-FFF2-40B4-BE49-F238E27FC236}">
                <a16:creationId xmlns:a16="http://schemas.microsoft.com/office/drawing/2014/main" id="{8D9612C6-A6DF-4832-8FF5-38F897055E7C}"/>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CloudServe supports teams whose</a:t>
            </a:r>
          </a:p>
          <a:p>
            <a:pPr>
              <a:defRPr sz="3150" b="0">
                <a:solidFill>
                  <a:srgbClr val="173047"/>
                </a:solidFill>
                <a:latin typeface="Georgia"/>
                <a:ea typeface="Georgia"/>
                <a:cs typeface="Georgia"/>
              </a:defRPr>
            </a:pPr>
            <a:r>
              <a:t>deployments cannot wait</a:t>
            </a:r>
          </a:p>
        </p:txBody>
      </p:sp>
      <p:sp>
        <p:nvSpPr>
          <p:cNvPr id="4" name="shape-3">
            <a:extLst>
              <a:ext uri="{FF2B5EF4-FFF2-40B4-BE49-F238E27FC236}">
                <a16:creationId xmlns:a16="http://schemas.microsoft.com/office/drawing/2014/main" id="{CD0694E4-1A89-45FD-8D19-E7640A11F38F}"/>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268E25A0-ADC2-42E3-8019-28FE87A2D521}"/>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docs1/01_Read_First/01_Project_Brief.docx · approximate case-company figures</a:t>
            </a:r>
          </a:p>
        </p:txBody>
      </p:sp>
      <p:sp>
        <p:nvSpPr>
          <p:cNvPr id="6" name="text-5">
            <a:extLst>
              <a:ext uri="{FF2B5EF4-FFF2-40B4-BE49-F238E27FC236}">
                <a16:creationId xmlns:a16="http://schemas.microsoft.com/office/drawing/2014/main" id="{16620D13-7C6A-4089-AFEF-9EA28FB86B8E}"/>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02</a:t>
            </a:r>
          </a:p>
        </p:txBody>
      </p:sp>
      <p:sp>
        <p:nvSpPr>
          <p:cNvPr id="7" name="text-6">
            <a:extLst>
              <a:ext uri="{FF2B5EF4-FFF2-40B4-BE49-F238E27FC236}">
                <a16:creationId xmlns:a16="http://schemas.microsoft.com/office/drawing/2014/main" id="{4A64301A-4178-4A33-A70A-669BBCD45A41}"/>
              </a:ext>
            </a:extLst>
          </p:cNvPr>
          <p:cNvSpPr>
            <a:spLocks noGrp="1"/>
          </p:cNvSpPr>
          <p:nvPr/>
        </p:nvSpPr>
        <p:spPr>
          <a:xfrm>
            <a:off x="609600" y="2171700"/>
            <a:ext cx="3810000" cy="228600"/>
          </a:xfrm>
          <a:prstGeom prst="rect">
            <a:avLst/>
          </a:prstGeom>
        </p:spPr>
        <p:txBody>
          <a:bodyPr wrap="square" lIns="0" tIns="0" rIns="0" bIns="0" anchor="t"/>
          <a:lstStyle/>
          <a:p>
            <a:pPr>
              <a:defRPr sz="975" b="1">
                <a:solidFill>
                  <a:srgbClr val="00766B"/>
                </a:solidFill>
                <a:latin typeface="Arial"/>
                <a:ea typeface="Arial"/>
                <a:cs typeface="Arial"/>
              </a:defRPr>
            </a:pPr>
            <a:r>
              <a:t>THE CASE COMPANY</a:t>
            </a:r>
          </a:p>
        </p:txBody>
      </p:sp>
      <p:sp>
        <p:nvSpPr>
          <p:cNvPr id="8" name="text-7">
            <a:extLst>
              <a:ext uri="{FF2B5EF4-FFF2-40B4-BE49-F238E27FC236}">
                <a16:creationId xmlns:a16="http://schemas.microsoft.com/office/drawing/2014/main" id="{4E34EC62-645A-43FB-9999-40B743299E04}"/>
              </a:ext>
            </a:extLst>
          </p:cNvPr>
          <p:cNvSpPr>
            <a:spLocks noGrp="1"/>
          </p:cNvSpPr>
          <p:nvPr/>
        </p:nvSpPr>
        <p:spPr>
          <a:xfrm>
            <a:off x="609600" y="2495550"/>
            <a:ext cx="4191000" cy="952500"/>
          </a:xfrm>
          <a:prstGeom prst="rect">
            <a:avLst/>
          </a:prstGeom>
        </p:spPr>
        <p:txBody>
          <a:bodyPr wrap="square" lIns="0" tIns="0" rIns="0" bIns="0" anchor="t"/>
          <a:lstStyle/>
          <a:p>
            <a:pPr>
              <a:defRPr sz="2550" b="0">
                <a:solidFill>
                  <a:srgbClr val="173047"/>
                </a:solidFill>
                <a:latin typeface="Georgia"/>
                <a:ea typeface="Georgia"/>
                <a:cs typeface="Georgia"/>
              </a:defRPr>
            </a:pPr>
            <a:r>
              <a:t>B2B cloud infrastructure and DevOps services</a:t>
            </a:r>
          </a:p>
        </p:txBody>
      </p:sp>
      <p:sp>
        <p:nvSpPr>
          <p:cNvPr id="9" name="text-8">
            <a:extLst>
              <a:ext uri="{FF2B5EF4-FFF2-40B4-BE49-F238E27FC236}">
                <a16:creationId xmlns:a16="http://schemas.microsoft.com/office/drawing/2014/main" id="{483033CC-CE26-4D0D-8F4D-FBD1DC9DB8EA}"/>
              </a:ext>
            </a:extLst>
          </p:cNvPr>
          <p:cNvSpPr>
            <a:spLocks noGrp="1"/>
          </p:cNvSpPr>
          <p:nvPr/>
        </p:nvSpPr>
        <p:spPr>
          <a:xfrm>
            <a:off x="609600" y="3714750"/>
            <a:ext cx="4229100" cy="628650"/>
          </a:xfrm>
          <a:prstGeom prst="rect">
            <a:avLst/>
          </a:prstGeom>
        </p:spPr>
        <p:txBody>
          <a:bodyPr wrap="square" lIns="0" tIns="0" rIns="0" bIns="0" anchor="t"/>
          <a:lstStyle/>
          <a:p>
            <a:pPr>
              <a:defRPr sz="1575" b="0">
                <a:solidFill>
                  <a:srgbClr val="546573"/>
                </a:solidFill>
                <a:latin typeface="Arial"/>
                <a:ea typeface="Arial"/>
                <a:cs typeface="Arial"/>
              </a:defRPr>
            </a:pPr>
            <a:r>
              <a:t>Customer questions span APIs, deployments, billing and account access.</a:t>
            </a:r>
          </a:p>
        </p:txBody>
      </p:sp>
      <p:sp>
        <p:nvSpPr>
          <p:cNvPr id="10" name="text-9">
            <a:extLst>
              <a:ext uri="{FF2B5EF4-FFF2-40B4-BE49-F238E27FC236}">
                <a16:creationId xmlns:a16="http://schemas.microsoft.com/office/drawing/2014/main" id="{6C8AA234-D8AD-4742-85DD-1A872CE3FD9B}"/>
              </a:ext>
            </a:extLst>
          </p:cNvPr>
          <p:cNvSpPr>
            <a:spLocks noGrp="1"/>
          </p:cNvSpPr>
          <p:nvPr/>
        </p:nvSpPr>
        <p:spPr>
          <a:xfrm>
            <a:off x="609600" y="4391025"/>
            <a:ext cx="4229100" cy="628650"/>
          </a:xfrm>
          <a:prstGeom prst="rect">
            <a:avLst/>
          </a:prstGeom>
        </p:spPr>
        <p:txBody>
          <a:bodyPr wrap="square" lIns="0" tIns="0" rIns="0" bIns="0" anchor="t"/>
          <a:lstStyle/>
          <a:p>
            <a:pPr>
              <a:defRPr sz="1575" b="0">
                <a:solidFill>
                  <a:srgbClr val="546573"/>
                </a:solidFill>
                <a:latin typeface="Arial"/>
                <a:ea typeface="Arial"/>
                <a:cs typeface="Arial"/>
              </a:defRPr>
            </a:pPr>
            <a:r>
              <a:t>A blocked deployment can interrupt a customer’s delivery schedule.</a:t>
            </a:r>
          </a:p>
        </p:txBody>
      </p:sp>
      <p:sp>
        <p:nvSpPr>
          <p:cNvPr id="11" name="text-10">
            <a:extLst>
              <a:ext uri="{FF2B5EF4-FFF2-40B4-BE49-F238E27FC236}">
                <a16:creationId xmlns:a16="http://schemas.microsoft.com/office/drawing/2014/main" id="{EDF02B41-542C-48DE-B3E9-5D8A06EF6953}"/>
              </a:ext>
            </a:extLst>
          </p:cNvPr>
          <p:cNvSpPr>
            <a:spLocks noGrp="1"/>
          </p:cNvSpPr>
          <p:nvPr/>
        </p:nvSpPr>
        <p:spPr>
          <a:xfrm>
            <a:off x="609600" y="5067300"/>
            <a:ext cx="4229100" cy="628650"/>
          </a:xfrm>
          <a:prstGeom prst="rect">
            <a:avLst/>
          </a:prstGeom>
        </p:spPr>
        <p:txBody>
          <a:bodyPr wrap="square" lIns="0" tIns="0" rIns="0" bIns="0" anchor="t"/>
          <a:lstStyle/>
          <a:p>
            <a:pPr>
              <a:defRPr sz="1575" b="0">
                <a:solidFill>
                  <a:srgbClr val="546573"/>
                </a:solidFill>
                <a:latin typeface="Arial"/>
                <a:ea typeface="Arial"/>
                <a:cs typeface="Arial"/>
              </a:defRPr>
            </a:pPr>
            <a:r>
              <a:t>Support must protect trust as well as reduce repetitive work.</a:t>
            </a:r>
          </a:p>
        </p:txBody>
      </p:sp>
      <p:sp>
        <p:nvSpPr>
          <p:cNvPr id="12" name="shape-11">
            <a:extLst>
              <a:ext uri="{FF2B5EF4-FFF2-40B4-BE49-F238E27FC236}">
                <a16:creationId xmlns:a16="http://schemas.microsoft.com/office/drawing/2014/main" id="{BE1D4533-0650-4E17-AD4F-A18327BC1DDB}"/>
              </a:ext>
            </a:extLst>
          </p:cNvPr>
          <p:cNvSpPr>
            <a:spLocks noGrp="1"/>
          </p:cNvSpPr>
          <p:nvPr/>
        </p:nvSpPr>
        <p:spPr>
          <a:xfrm>
            <a:off x="5676900" y="2038350"/>
            <a:ext cx="5905500" cy="9525"/>
          </a:xfrm>
          <a:prstGeom prst="rect">
            <a:avLst/>
          </a:prstGeom>
          <a:solidFill>
            <a:srgbClr val="CDD3D2"/>
          </a:solidFill>
        </p:spPr>
      </p:sp>
      <p:sp>
        <p:nvSpPr>
          <p:cNvPr id="13" name="text-12">
            <a:extLst>
              <a:ext uri="{FF2B5EF4-FFF2-40B4-BE49-F238E27FC236}">
                <a16:creationId xmlns:a16="http://schemas.microsoft.com/office/drawing/2014/main" id="{96D9C702-9BC1-4F97-B0FE-ADB0F2EFAFC7}"/>
              </a:ext>
            </a:extLst>
          </p:cNvPr>
          <p:cNvSpPr>
            <a:spLocks noGrp="1"/>
          </p:cNvSpPr>
          <p:nvPr/>
        </p:nvSpPr>
        <p:spPr>
          <a:xfrm>
            <a:off x="5772150" y="2209800"/>
            <a:ext cx="2905125" cy="847725"/>
          </a:xfrm>
          <a:prstGeom prst="rect">
            <a:avLst/>
          </a:prstGeom>
        </p:spPr>
        <p:txBody>
          <a:bodyPr wrap="square" lIns="0" tIns="0" rIns="0" bIns="0" anchor="t"/>
          <a:lstStyle/>
          <a:p>
            <a:pPr>
              <a:defRPr sz="4650" b="0">
                <a:solidFill>
                  <a:srgbClr val="00766B"/>
                </a:solidFill>
                <a:latin typeface="Georgia"/>
                <a:ea typeface="Georgia"/>
                <a:cs typeface="Georgia"/>
              </a:defRPr>
            </a:pPr>
            <a:r>
              <a:t>~150</a:t>
            </a:r>
          </a:p>
        </p:txBody>
      </p:sp>
      <p:sp>
        <p:nvSpPr>
          <p:cNvPr id="14" name="text-13">
            <a:extLst>
              <a:ext uri="{FF2B5EF4-FFF2-40B4-BE49-F238E27FC236}">
                <a16:creationId xmlns:a16="http://schemas.microsoft.com/office/drawing/2014/main" id="{6F134ACF-718E-4142-898F-172735DD79ED}"/>
              </a:ext>
            </a:extLst>
          </p:cNvPr>
          <p:cNvSpPr>
            <a:spLocks noGrp="1"/>
          </p:cNvSpPr>
          <p:nvPr/>
        </p:nvSpPr>
        <p:spPr>
          <a:xfrm>
            <a:off x="8820150" y="2457450"/>
            <a:ext cx="2667000" cy="552450"/>
          </a:xfrm>
          <a:prstGeom prst="rect">
            <a:avLst/>
          </a:prstGeom>
        </p:spPr>
        <p:txBody>
          <a:bodyPr wrap="square" lIns="0" tIns="0" rIns="0" bIns="0" anchor="t"/>
          <a:lstStyle/>
          <a:p>
            <a:pPr>
              <a:defRPr sz="1650" b="0">
                <a:solidFill>
                  <a:srgbClr val="173047"/>
                </a:solidFill>
                <a:latin typeface="Arial"/>
                <a:ea typeface="Arial"/>
                <a:cs typeface="Arial"/>
              </a:defRPr>
            </a:pPr>
            <a:r>
              <a:t>employees</a:t>
            </a:r>
          </a:p>
        </p:txBody>
      </p:sp>
      <p:sp>
        <p:nvSpPr>
          <p:cNvPr id="15" name="shape-14">
            <a:extLst>
              <a:ext uri="{FF2B5EF4-FFF2-40B4-BE49-F238E27FC236}">
                <a16:creationId xmlns:a16="http://schemas.microsoft.com/office/drawing/2014/main" id="{9AF275BA-EACA-4358-AF20-8D8C18CA5B2B}"/>
              </a:ext>
            </a:extLst>
          </p:cNvPr>
          <p:cNvSpPr>
            <a:spLocks noGrp="1"/>
          </p:cNvSpPr>
          <p:nvPr/>
        </p:nvSpPr>
        <p:spPr>
          <a:xfrm>
            <a:off x="5676900" y="3362325"/>
            <a:ext cx="5905500" cy="9525"/>
          </a:xfrm>
          <a:prstGeom prst="rect">
            <a:avLst/>
          </a:prstGeom>
          <a:solidFill>
            <a:srgbClr val="CDD3D2"/>
          </a:solidFill>
        </p:spPr>
      </p:sp>
      <p:sp>
        <p:nvSpPr>
          <p:cNvPr id="16" name="text-15">
            <a:extLst>
              <a:ext uri="{FF2B5EF4-FFF2-40B4-BE49-F238E27FC236}">
                <a16:creationId xmlns:a16="http://schemas.microsoft.com/office/drawing/2014/main" id="{EC5A5537-8080-43C4-AE3E-F6D7E011E452}"/>
              </a:ext>
            </a:extLst>
          </p:cNvPr>
          <p:cNvSpPr>
            <a:spLocks noGrp="1"/>
          </p:cNvSpPr>
          <p:nvPr/>
        </p:nvSpPr>
        <p:spPr>
          <a:xfrm>
            <a:off x="5772150" y="3533775"/>
            <a:ext cx="2905125" cy="847725"/>
          </a:xfrm>
          <a:prstGeom prst="rect">
            <a:avLst/>
          </a:prstGeom>
        </p:spPr>
        <p:txBody>
          <a:bodyPr wrap="square" lIns="0" tIns="0" rIns="0" bIns="0" anchor="t"/>
          <a:lstStyle/>
          <a:p>
            <a:pPr>
              <a:defRPr sz="4650" b="0">
                <a:solidFill>
                  <a:srgbClr val="00766B"/>
                </a:solidFill>
                <a:latin typeface="Georgia"/>
                <a:ea typeface="Georgia"/>
                <a:cs typeface="Georgia"/>
              </a:defRPr>
            </a:pPr>
            <a:r>
              <a:t>200+</a:t>
            </a:r>
          </a:p>
        </p:txBody>
      </p:sp>
      <p:sp>
        <p:nvSpPr>
          <p:cNvPr id="17" name="text-16">
            <a:extLst>
              <a:ext uri="{FF2B5EF4-FFF2-40B4-BE49-F238E27FC236}">
                <a16:creationId xmlns:a16="http://schemas.microsoft.com/office/drawing/2014/main" id="{484904F6-19A7-460B-8159-9AD48C7F5D8A}"/>
              </a:ext>
            </a:extLst>
          </p:cNvPr>
          <p:cNvSpPr>
            <a:spLocks noGrp="1"/>
          </p:cNvSpPr>
          <p:nvPr/>
        </p:nvSpPr>
        <p:spPr>
          <a:xfrm>
            <a:off x="8820150" y="3781425"/>
            <a:ext cx="2667000" cy="552450"/>
          </a:xfrm>
          <a:prstGeom prst="rect">
            <a:avLst/>
          </a:prstGeom>
        </p:spPr>
        <p:txBody>
          <a:bodyPr wrap="square" lIns="0" tIns="0" rIns="0" bIns="0" anchor="t"/>
          <a:lstStyle/>
          <a:p>
            <a:pPr>
              <a:defRPr sz="1650" b="0">
                <a:solidFill>
                  <a:srgbClr val="173047"/>
                </a:solidFill>
                <a:latin typeface="Arial"/>
                <a:ea typeface="Arial"/>
                <a:cs typeface="Arial"/>
              </a:defRPr>
            </a:pPr>
            <a:r>
              <a:t>corporate customers</a:t>
            </a:r>
          </a:p>
        </p:txBody>
      </p:sp>
      <p:sp>
        <p:nvSpPr>
          <p:cNvPr id="18" name="shape-17">
            <a:extLst>
              <a:ext uri="{FF2B5EF4-FFF2-40B4-BE49-F238E27FC236}">
                <a16:creationId xmlns:a16="http://schemas.microsoft.com/office/drawing/2014/main" id="{1D9FC9B5-CE8C-4E43-840D-36BE5FAAA0A6}"/>
              </a:ext>
            </a:extLst>
          </p:cNvPr>
          <p:cNvSpPr>
            <a:spLocks noGrp="1"/>
          </p:cNvSpPr>
          <p:nvPr/>
        </p:nvSpPr>
        <p:spPr>
          <a:xfrm>
            <a:off x="5676900" y="4686300"/>
            <a:ext cx="5905500" cy="9525"/>
          </a:xfrm>
          <a:prstGeom prst="rect">
            <a:avLst/>
          </a:prstGeom>
          <a:solidFill>
            <a:srgbClr val="CDD3D2"/>
          </a:solidFill>
        </p:spPr>
      </p:sp>
      <p:sp>
        <p:nvSpPr>
          <p:cNvPr id="19" name="text-18">
            <a:extLst>
              <a:ext uri="{FF2B5EF4-FFF2-40B4-BE49-F238E27FC236}">
                <a16:creationId xmlns:a16="http://schemas.microsoft.com/office/drawing/2014/main" id="{99DD72FB-0673-4E05-B675-D8E09A110D8D}"/>
              </a:ext>
            </a:extLst>
          </p:cNvPr>
          <p:cNvSpPr>
            <a:spLocks noGrp="1"/>
          </p:cNvSpPr>
          <p:nvPr/>
        </p:nvSpPr>
        <p:spPr>
          <a:xfrm>
            <a:off x="5772150" y="4857750"/>
            <a:ext cx="2905125" cy="847725"/>
          </a:xfrm>
          <a:prstGeom prst="rect">
            <a:avLst/>
          </a:prstGeom>
        </p:spPr>
        <p:txBody>
          <a:bodyPr wrap="square" lIns="0" tIns="0" rIns="0" bIns="0" anchor="t"/>
          <a:lstStyle/>
          <a:p>
            <a:pPr>
              <a:defRPr sz="4650" b="0">
                <a:solidFill>
                  <a:srgbClr val="B87522"/>
                </a:solidFill>
                <a:latin typeface="Georgia"/>
                <a:ea typeface="Georgia"/>
                <a:cs typeface="Georgia"/>
              </a:defRPr>
            </a:pPr>
            <a:r>
              <a:t>~$12m</a:t>
            </a:r>
          </a:p>
        </p:txBody>
      </p:sp>
      <p:sp>
        <p:nvSpPr>
          <p:cNvPr id="20" name="text-19">
            <a:extLst>
              <a:ext uri="{FF2B5EF4-FFF2-40B4-BE49-F238E27FC236}">
                <a16:creationId xmlns:a16="http://schemas.microsoft.com/office/drawing/2014/main" id="{BFAD3265-885B-49CA-A46C-A84C82BF38AF}"/>
              </a:ext>
            </a:extLst>
          </p:cNvPr>
          <p:cNvSpPr>
            <a:spLocks noGrp="1"/>
          </p:cNvSpPr>
          <p:nvPr/>
        </p:nvSpPr>
        <p:spPr>
          <a:xfrm>
            <a:off x="8820150" y="5105400"/>
            <a:ext cx="2667000" cy="552450"/>
          </a:xfrm>
          <a:prstGeom prst="rect">
            <a:avLst/>
          </a:prstGeom>
        </p:spPr>
        <p:txBody>
          <a:bodyPr wrap="square" lIns="0" tIns="0" rIns="0" bIns="0" anchor="t"/>
          <a:lstStyle/>
          <a:p>
            <a:pPr>
              <a:defRPr sz="1650" b="0">
                <a:solidFill>
                  <a:srgbClr val="173047"/>
                </a:solidFill>
                <a:latin typeface="Arial"/>
                <a:ea typeface="Arial"/>
                <a:cs typeface="Arial"/>
              </a:defRPr>
            </a:pPr>
            <a:r>
              <a:t>annual revenue</a:t>
            </a:r>
          </a:p>
        </p:txBody>
      </p:sp>
    </p:spTree>
    <p:extLst>
      <p:ext uri="{BB962C8B-B14F-4D97-AF65-F5344CB8AC3E}">
        <p14:creationId xmlns:p14="http://schemas.microsoft.com/office/powerpoint/2010/main" val="1376124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04AB3F84-4A9D-4C2E-84FF-B8FA51010166}"/>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85236814-EB47-460C-BF32-A00C2A85AB41}"/>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CURRENT SITUATION</a:t>
            </a:r>
          </a:p>
        </p:txBody>
      </p:sp>
      <p:sp>
        <p:nvSpPr>
          <p:cNvPr id="3" name="text-2">
            <a:extLst>
              <a:ext uri="{FF2B5EF4-FFF2-40B4-BE49-F238E27FC236}">
                <a16:creationId xmlns:a16="http://schemas.microsoft.com/office/drawing/2014/main" id="{9B432066-EA25-4F89-88EB-AC4C78E0F463}"/>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Six agents cannot absorb the queue</a:t>
            </a:r>
          </a:p>
          <a:p>
            <a:pPr>
              <a:defRPr sz="3150" b="0">
                <a:solidFill>
                  <a:srgbClr val="173047"/>
                </a:solidFill>
                <a:latin typeface="Georgia"/>
                <a:ea typeface="Georgia"/>
                <a:cs typeface="Georgia"/>
              </a:defRPr>
            </a:pPr>
            <a:r>
              <a:t>by answering faster alone</a:t>
            </a:r>
          </a:p>
        </p:txBody>
      </p:sp>
      <p:sp>
        <p:nvSpPr>
          <p:cNvPr id="4" name="shape-3">
            <a:extLst>
              <a:ext uri="{FF2B5EF4-FFF2-40B4-BE49-F238E27FC236}">
                <a16:creationId xmlns:a16="http://schemas.microsoft.com/office/drawing/2014/main" id="{C504618D-8FC3-4BA3-B97B-29BF34119801}"/>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9754A8AE-060C-494D-9125-59E8B9F33A6B}"/>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Project brief and stakeholder interviews · stated baseline, not measured by this implementation</a:t>
            </a:r>
          </a:p>
        </p:txBody>
      </p:sp>
      <p:sp>
        <p:nvSpPr>
          <p:cNvPr id="6" name="text-5">
            <a:extLst>
              <a:ext uri="{FF2B5EF4-FFF2-40B4-BE49-F238E27FC236}">
                <a16:creationId xmlns:a16="http://schemas.microsoft.com/office/drawing/2014/main" id="{A985E2A8-87D5-4299-83C4-6CF7622384F4}"/>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03</a:t>
            </a:r>
          </a:p>
        </p:txBody>
      </p:sp>
      <p:sp>
        <p:nvSpPr>
          <p:cNvPr id="7" name="text-6">
            <a:extLst>
              <a:ext uri="{FF2B5EF4-FFF2-40B4-BE49-F238E27FC236}">
                <a16:creationId xmlns:a16="http://schemas.microsoft.com/office/drawing/2014/main" id="{2EF3CCE5-D50F-420B-818A-A7C6A4B74871}"/>
              </a:ext>
            </a:extLst>
          </p:cNvPr>
          <p:cNvSpPr>
            <a:spLocks noGrp="1"/>
          </p:cNvSpPr>
          <p:nvPr/>
        </p:nvSpPr>
        <p:spPr>
          <a:xfrm>
            <a:off x="609600" y="2076450"/>
            <a:ext cx="3810000" cy="228600"/>
          </a:xfrm>
          <a:prstGeom prst="rect">
            <a:avLst/>
          </a:prstGeom>
        </p:spPr>
        <p:txBody>
          <a:bodyPr wrap="square" lIns="0" tIns="0" rIns="0" bIns="0" anchor="t"/>
          <a:lstStyle/>
          <a:p>
            <a:pPr>
              <a:defRPr sz="975" b="1">
                <a:solidFill>
                  <a:srgbClr val="00766B"/>
                </a:solidFill>
                <a:latin typeface="Arial"/>
                <a:ea typeface="Arial"/>
                <a:cs typeface="Arial"/>
              </a:defRPr>
            </a:pPr>
            <a:r>
              <a:t>CAPACITY</a:t>
            </a:r>
          </a:p>
        </p:txBody>
      </p:sp>
      <p:sp>
        <p:nvSpPr>
          <p:cNvPr id="8" name="text-7">
            <a:extLst>
              <a:ext uri="{FF2B5EF4-FFF2-40B4-BE49-F238E27FC236}">
                <a16:creationId xmlns:a16="http://schemas.microsoft.com/office/drawing/2014/main" id="{2C32D5FE-96DE-43D2-B68A-7BA65D8F0DB6}"/>
              </a:ext>
            </a:extLst>
          </p:cNvPr>
          <p:cNvSpPr>
            <a:spLocks noGrp="1"/>
          </p:cNvSpPr>
          <p:nvPr/>
        </p:nvSpPr>
        <p:spPr>
          <a:xfrm>
            <a:off x="609600" y="2381250"/>
            <a:ext cx="3333750" cy="809625"/>
          </a:xfrm>
          <a:prstGeom prst="rect">
            <a:avLst/>
          </a:prstGeom>
        </p:spPr>
        <p:txBody>
          <a:bodyPr wrap="square" lIns="0" tIns="0" rIns="0" bIns="0" anchor="t"/>
          <a:lstStyle/>
          <a:p>
            <a:pPr>
              <a:defRPr sz="5250" b="0">
                <a:solidFill>
                  <a:srgbClr val="00766B"/>
                </a:solidFill>
                <a:latin typeface="Georgia"/>
                <a:ea typeface="Georgia"/>
                <a:cs typeface="Georgia"/>
              </a:defRPr>
            </a:pPr>
            <a:r>
              <a:t>500+</a:t>
            </a:r>
          </a:p>
        </p:txBody>
      </p:sp>
      <p:sp>
        <p:nvSpPr>
          <p:cNvPr id="9" name="text-8">
            <a:extLst>
              <a:ext uri="{FF2B5EF4-FFF2-40B4-BE49-F238E27FC236}">
                <a16:creationId xmlns:a16="http://schemas.microsoft.com/office/drawing/2014/main" id="{5717CFFD-CB2B-4B38-A69C-D858952E8603}"/>
              </a:ext>
            </a:extLst>
          </p:cNvPr>
          <p:cNvSpPr>
            <a:spLocks noGrp="1"/>
          </p:cNvSpPr>
          <p:nvPr/>
        </p:nvSpPr>
        <p:spPr>
          <a:xfrm>
            <a:off x="609600" y="3228975"/>
            <a:ext cx="3429000" cy="400050"/>
          </a:xfrm>
          <a:prstGeom prst="rect">
            <a:avLst/>
          </a:prstGeom>
        </p:spPr>
        <p:txBody>
          <a:bodyPr wrap="square" lIns="0" tIns="0" rIns="0" bIns="0" anchor="t"/>
          <a:lstStyle/>
          <a:p>
            <a:pPr>
              <a:defRPr sz="1800" b="0">
                <a:solidFill>
                  <a:srgbClr val="173047"/>
                </a:solidFill>
                <a:latin typeface="Arial"/>
                <a:ea typeface="Arial"/>
                <a:cs typeface="Arial"/>
              </a:defRPr>
            </a:pPr>
            <a:r>
              <a:t>tickets each week</a:t>
            </a:r>
          </a:p>
        </p:txBody>
      </p:sp>
      <p:sp>
        <p:nvSpPr>
          <p:cNvPr id="10" name="text-9">
            <a:extLst>
              <a:ext uri="{FF2B5EF4-FFF2-40B4-BE49-F238E27FC236}">
                <a16:creationId xmlns:a16="http://schemas.microsoft.com/office/drawing/2014/main" id="{82969528-E64E-42D2-B2F8-85FDDEEA79E1}"/>
              </a:ext>
            </a:extLst>
          </p:cNvPr>
          <p:cNvSpPr>
            <a:spLocks noGrp="1"/>
          </p:cNvSpPr>
          <p:nvPr/>
        </p:nvSpPr>
        <p:spPr>
          <a:xfrm>
            <a:off x="609600" y="3905250"/>
            <a:ext cx="3810000" cy="495300"/>
          </a:xfrm>
          <a:prstGeom prst="rect">
            <a:avLst/>
          </a:prstGeom>
        </p:spPr>
        <p:txBody>
          <a:bodyPr wrap="square" lIns="0" tIns="0" rIns="0" bIns="0" anchor="t"/>
          <a:lstStyle/>
          <a:p>
            <a:pPr>
              <a:defRPr sz="2250" b="0">
                <a:solidFill>
                  <a:srgbClr val="173047"/>
                </a:solidFill>
                <a:latin typeface="Georgia"/>
                <a:ea typeface="Georgia"/>
                <a:cs typeface="Georgia"/>
              </a:defRPr>
            </a:pPr>
            <a:r>
              <a:t>6 support agents</a:t>
            </a:r>
          </a:p>
        </p:txBody>
      </p:sp>
      <p:sp>
        <p:nvSpPr>
          <p:cNvPr id="11" name="text-10">
            <a:extLst>
              <a:ext uri="{FF2B5EF4-FFF2-40B4-BE49-F238E27FC236}">
                <a16:creationId xmlns:a16="http://schemas.microsoft.com/office/drawing/2014/main" id="{FE5EDA5A-DD03-4E57-B3B2-3A65A72166C7}"/>
              </a:ext>
            </a:extLst>
          </p:cNvPr>
          <p:cNvSpPr>
            <a:spLocks noGrp="1"/>
          </p:cNvSpPr>
          <p:nvPr/>
        </p:nvSpPr>
        <p:spPr>
          <a:xfrm>
            <a:off x="609600" y="4562475"/>
            <a:ext cx="3714750" cy="866775"/>
          </a:xfrm>
          <a:prstGeom prst="rect">
            <a:avLst/>
          </a:prstGeom>
        </p:spPr>
        <p:txBody>
          <a:bodyPr wrap="square" lIns="0" tIns="0" rIns="0" bIns="0" anchor="t"/>
          <a:lstStyle/>
          <a:p>
            <a:pPr>
              <a:defRPr sz="1650" b="0">
                <a:solidFill>
                  <a:srgbClr val="546573"/>
                </a:solidFill>
                <a:latin typeface="Arial"/>
                <a:ea typeface="Arial"/>
                <a:cs typeface="Arial"/>
              </a:defRPr>
            </a:pPr>
            <a:r>
              <a:t>More headcount helped briefly;</a:t>
            </a:r>
          </a:p>
          <a:p>
            <a:pPr>
              <a:defRPr sz="1650" b="0">
                <a:solidFill>
                  <a:srgbClr val="546573"/>
                </a:solidFill>
                <a:latin typeface="Arial"/>
                <a:ea typeface="Arial"/>
                <a:cs typeface="Arial"/>
              </a:defRPr>
            </a:pPr>
            <a:r>
              <a:t>repeated investigation remained.</a:t>
            </a:r>
          </a:p>
        </p:txBody>
      </p:sp>
      <p:sp>
        <p:nvSpPr>
          <p:cNvPr id="12" name="text-11">
            <a:extLst>
              <a:ext uri="{FF2B5EF4-FFF2-40B4-BE49-F238E27FC236}">
                <a16:creationId xmlns:a16="http://schemas.microsoft.com/office/drawing/2014/main" id="{68097F3D-64E9-40A0-9BD4-093F99BB731D}"/>
              </a:ext>
            </a:extLst>
          </p:cNvPr>
          <p:cNvSpPr>
            <a:spLocks noGrp="1"/>
          </p:cNvSpPr>
          <p:nvPr/>
        </p:nvSpPr>
        <p:spPr>
          <a:xfrm>
            <a:off x="5181600" y="2095500"/>
            <a:ext cx="3810000" cy="228600"/>
          </a:xfrm>
          <a:prstGeom prst="rect">
            <a:avLst/>
          </a:prstGeom>
        </p:spPr>
        <p:txBody>
          <a:bodyPr wrap="square" lIns="0" tIns="0" rIns="0" bIns="0" anchor="t"/>
          <a:lstStyle/>
          <a:p>
            <a:pPr>
              <a:defRPr sz="975" b="1">
                <a:solidFill>
                  <a:srgbClr val="00766B"/>
                </a:solidFill>
                <a:latin typeface="Arial"/>
                <a:ea typeface="Arial"/>
                <a:cs typeface="Arial"/>
              </a:defRPr>
            </a:pPr>
            <a:r>
              <a:t>FIRST REPLY</a:t>
            </a:r>
          </a:p>
        </p:txBody>
      </p:sp>
      <p:sp>
        <p:nvSpPr>
          <p:cNvPr id="13" name="text-12">
            <a:extLst>
              <a:ext uri="{FF2B5EF4-FFF2-40B4-BE49-F238E27FC236}">
                <a16:creationId xmlns:a16="http://schemas.microsoft.com/office/drawing/2014/main" id="{A5876E10-8F0D-4562-A9C8-276DB7C3DAA8}"/>
              </a:ext>
            </a:extLst>
          </p:cNvPr>
          <p:cNvSpPr>
            <a:spLocks noGrp="1"/>
          </p:cNvSpPr>
          <p:nvPr/>
        </p:nvSpPr>
        <p:spPr>
          <a:xfrm>
            <a:off x="5181600" y="2409825"/>
            <a:ext cx="5905500" cy="514350"/>
          </a:xfrm>
          <a:prstGeom prst="rect">
            <a:avLst/>
          </a:prstGeom>
        </p:spPr>
        <p:txBody>
          <a:bodyPr wrap="square" lIns="0" tIns="0" rIns="0" bIns="0" anchor="t"/>
          <a:lstStyle/>
          <a:p>
            <a:pPr>
              <a:defRPr sz="3000" b="0">
                <a:solidFill>
                  <a:srgbClr val="173047"/>
                </a:solidFill>
                <a:latin typeface="Georgia"/>
                <a:ea typeface="Georgia"/>
                <a:cs typeface="Georgia"/>
              </a:defRPr>
            </a:pPr>
            <a:r>
              <a:t>8–12 hours</a:t>
            </a:r>
          </a:p>
        </p:txBody>
      </p:sp>
      <p:sp>
        <p:nvSpPr>
          <p:cNvPr id="14" name="shape-13">
            <a:extLst>
              <a:ext uri="{FF2B5EF4-FFF2-40B4-BE49-F238E27FC236}">
                <a16:creationId xmlns:a16="http://schemas.microsoft.com/office/drawing/2014/main" id="{B4FA13AA-A321-4217-85A4-9C8888FD8A54}"/>
              </a:ext>
            </a:extLst>
          </p:cNvPr>
          <p:cNvSpPr>
            <a:spLocks noGrp="1"/>
          </p:cNvSpPr>
          <p:nvPr/>
        </p:nvSpPr>
        <p:spPr>
          <a:xfrm>
            <a:off x="5181600" y="3114675"/>
            <a:ext cx="6172200" cy="304800"/>
          </a:xfrm>
          <a:prstGeom prst="rect">
            <a:avLst/>
          </a:prstGeom>
          <a:solidFill>
            <a:srgbClr val="B87522"/>
          </a:solidFill>
        </p:spPr>
      </p:sp>
      <p:sp>
        <p:nvSpPr>
          <p:cNvPr id="15" name="text-14">
            <a:extLst>
              <a:ext uri="{FF2B5EF4-FFF2-40B4-BE49-F238E27FC236}">
                <a16:creationId xmlns:a16="http://schemas.microsoft.com/office/drawing/2014/main" id="{A7F00052-17E4-4E8B-9E8B-D627E661C689}"/>
              </a:ext>
            </a:extLst>
          </p:cNvPr>
          <p:cNvSpPr>
            <a:spLocks noGrp="1"/>
          </p:cNvSpPr>
          <p:nvPr/>
        </p:nvSpPr>
        <p:spPr>
          <a:xfrm>
            <a:off x="5181600" y="3495675"/>
            <a:ext cx="5715000" cy="285750"/>
          </a:xfrm>
          <a:prstGeom prst="rect">
            <a:avLst/>
          </a:prstGeom>
        </p:spPr>
        <p:txBody>
          <a:bodyPr wrap="square" lIns="0" tIns="0" rIns="0" bIns="0" anchor="t"/>
          <a:lstStyle/>
          <a:p>
            <a:pPr>
              <a:defRPr sz="1425" b="0">
                <a:solidFill>
                  <a:srgbClr val="546573"/>
                </a:solidFill>
                <a:latin typeface="Arial"/>
                <a:ea typeface="Arial"/>
                <a:cs typeface="Arial"/>
              </a:defRPr>
            </a:pPr>
            <a:r>
              <a:t>Observed range in the case</a:t>
            </a:r>
          </a:p>
        </p:txBody>
      </p:sp>
      <p:sp>
        <p:nvSpPr>
          <p:cNvPr id="16" name="shape-15">
            <a:extLst>
              <a:ext uri="{FF2B5EF4-FFF2-40B4-BE49-F238E27FC236}">
                <a16:creationId xmlns:a16="http://schemas.microsoft.com/office/drawing/2014/main" id="{5ADB4C22-449F-4AB9-8A3B-37696E2874FB}"/>
              </a:ext>
            </a:extLst>
          </p:cNvPr>
          <p:cNvSpPr>
            <a:spLocks noGrp="1"/>
          </p:cNvSpPr>
          <p:nvPr/>
        </p:nvSpPr>
        <p:spPr>
          <a:xfrm>
            <a:off x="5181600" y="4010025"/>
            <a:ext cx="1028700" cy="304800"/>
          </a:xfrm>
          <a:prstGeom prst="rect">
            <a:avLst/>
          </a:prstGeom>
          <a:solidFill>
            <a:srgbClr val="00766B"/>
          </a:solidFill>
        </p:spPr>
      </p:sp>
      <p:sp>
        <p:nvSpPr>
          <p:cNvPr id="17" name="text-16">
            <a:extLst>
              <a:ext uri="{FF2B5EF4-FFF2-40B4-BE49-F238E27FC236}">
                <a16:creationId xmlns:a16="http://schemas.microsoft.com/office/drawing/2014/main" id="{71F3B45F-1F14-4923-901F-94F4DB2819D6}"/>
              </a:ext>
            </a:extLst>
          </p:cNvPr>
          <p:cNvSpPr>
            <a:spLocks noGrp="1"/>
          </p:cNvSpPr>
          <p:nvPr/>
        </p:nvSpPr>
        <p:spPr>
          <a:xfrm>
            <a:off x="6419850" y="4000500"/>
            <a:ext cx="3429000" cy="323850"/>
          </a:xfrm>
          <a:prstGeom prst="rect">
            <a:avLst/>
          </a:prstGeom>
        </p:spPr>
        <p:txBody>
          <a:bodyPr wrap="square" lIns="0" tIns="0" rIns="0" bIns="0" anchor="t"/>
          <a:lstStyle/>
          <a:p>
            <a:pPr>
              <a:defRPr sz="1800" b="0">
                <a:solidFill>
                  <a:srgbClr val="00766B"/>
                </a:solidFill>
                <a:latin typeface="Arial"/>
                <a:ea typeface="Arial"/>
                <a:cs typeface="Arial"/>
              </a:defRPr>
            </a:pPr>
            <a:r>
              <a:t>2-hour SLA</a:t>
            </a:r>
          </a:p>
        </p:txBody>
      </p:sp>
      <p:sp>
        <p:nvSpPr>
          <p:cNvPr id="18" name="shape-17">
            <a:extLst>
              <a:ext uri="{FF2B5EF4-FFF2-40B4-BE49-F238E27FC236}">
                <a16:creationId xmlns:a16="http://schemas.microsoft.com/office/drawing/2014/main" id="{1168871E-C9CA-48D8-8562-E1DDEA14C29C}"/>
              </a:ext>
            </a:extLst>
          </p:cNvPr>
          <p:cNvSpPr>
            <a:spLocks noGrp="1"/>
          </p:cNvSpPr>
          <p:nvPr/>
        </p:nvSpPr>
        <p:spPr>
          <a:xfrm>
            <a:off x="5181600" y="4638675"/>
            <a:ext cx="6172200" cy="9525"/>
          </a:xfrm>
          <a:prstGeom prst="rect">
            <a:avLst/>
          </a:prstGeom>
          <a:solidFill>
            <a:srgbClr val="CDD3D2"/>
          </a:solidFill>
        </p:spPr>
      </p:sp>
      <p:sp>
        <p:nvSpPr>
          <p:cNvPr id="19" name="text-18">
            <a:extLst>
              <a:ext uri="{FF2B5EF4-FFF2-40B4-BE49-F238E27FC236}">
                <a16:creationId xmlns:a16="http://schemas.microsoft.com/office/drawing/2014/main" id="{EB20F0BC-9D75-45B9-84F4-E6FEBB25133C}"/>
              </a:ext>
            </a:extLst>
          </p:cNvPr>
          <p:cNvSpPr>
            <a:spLocks noGrp="1"/>
          </p:cNvSpPr>
          <p:nvPr/>
        </p:nvSpPr>
        <p:spPr>
          <a:xfrm>
            <a:off x="5181600" y="4895850"/>
            <a:ext cx="2476500" cy="571500"/>
          </a:xfrm>
          <a:prstGeom prst="rect">
            <a:avLst/>
          </a:prstGeom>
        </p:spPr>
        <p:txBody>
          <a:bodyPr wrap="square" lIns="0" tIns="0" rIns="0" bIns="0" anchor="t"/>
          <a:lstStyle/>
          <a:p>
            <a:pPr>
              <a:defRPr sz="3600" b="0">
                <a:solidFill>
                  <a:srgbClr val="173047"/>
                </a:solidFill>
                <a:latin typeface="Georgia"/>
                <a:ea typeface="Georgia"/>
                <a:cs typeface="Georgia"/>
              </a:defRPr>
            </a:pPr>
            <a:r>
              <a:t>42%</a:t>
            </a:r>
          </a:p>
        </p:txBody>
      </p:sp>
      <p:sp>
        <p:nvSpPr>
          <p:cNvPr id="20" name="text-19">
            <a:extLst>
              <a:ext uri="{FF2B5EF4-FFF2-40B4-BE49-F238E27FC236}">
                <a16:creationId xmlns:a16="http://schemas.microsoft.com/office/drawing/2014/main" id="{D05243D9-AA56-4928-98E2-3AD11C2FF5A2}"/>
              </a:ext>
            </a:extLst>
          </p:cNvPr>
          <p:cNvSpPr>
            <a:spLocks noGrp="1"/>
          </p:cNvSpPr>
          <p:nvPr/>
        </p:nvSpPr>
        <p:spPr>
          <a:xfrm>
            <a:off x="5181600" y="5514975"/>
            <a:ext cx="2857500" cy="323850"/>
          </a:xfrm>
          <a:prstGeom prst="rect">
            <a:avLst/>
          </a:prstGeom>
        </p:spPr>
        <p:txBody>
          <a:bodyPr wrap="square" lIns="0" tIns="0" rIns="0" bIns="0" anchor="t"/>
          <a:lstStyle/>
          <a:p>
            <a:pPr>
              <a:defRPr sz="1350" b="0">
                <a:solidFill>
                  <a:srgbClr val="546573"/>
                </a:solidFill>
                <a:latin typeface="Arial"/>
                <a:ea typeface="Arial"/>
                <a:cs typeface="Arial"/>
              </a:defRPr>
            </a:pPr>
            <a:r>
              <a:t>first-contact resolution</a:t>
            </a:r>
          </a:p>
        </p:txBody>
      </p:sp>
      <p:sp>
        <p:nvSpPr>
          <p:cNvPr id="21" name="text-20">
            <a:extLst>
              <a:ext uri="{FF2B5EF4-FFF2-40B4-BE49-F238E27FC236}">
                <a16:creationId xmlns:a16="http://schemas.microsoft.com/office/drawing/2014/main" id="{A8F64370-7B52-4FDD-BC49-CEF00987437F}"/>
              </a:ext>
            </a:extLst>
          </p:cNvPr>
          <p:cNvSpPr>
            <a:spLocks noGrp="1"/>
          </p:cNvSpPr>
          <p:nvPr/>
        </p:nvSpPr>
        <p:spPr>
          <a:xfrm>
            <a:off x="8562975" y="4895850"/>
            <a:ext cx="2952750" cy="571500"/>
          </a:xfrm>
          <a:prstGeom prst="rect">
            <a:avLst/>
          </a:prstGeom>
        </p:spPr>
        <p:txBody>
          <a:bodyPr wrap="square" lIns="0" tIns="0" rIns="0" bIns="0" anchor="t"/>
          <a:lstStyle/>
          <a:p>
            <a:pPr>
              <a:defRPr sz="3600" b="0">
                <a:solidFill>
                  <a:srgbClr val="173047"/>
                </a:solidFill>
                <a:latin typeface="Georgia"/>
                <a:ea typeface="Georgia"/>
                <a:cs typeface="Georgia"/>
              </a:defRPr>
            </a:pPr>
            <a:r>
              <a:t>3.2 / 5</a:t>
            </a:r>
          </a:p>
        </p:txBody>
      </p:sp>
      <p:sp>
        <p:nvSpPr>
          <p:cNvPr id="22" name="text-21">
            <a:extLst>
              <a:ext uri="{FF2B5EF4-FFF2-40B4-BE49-F238E27FC236}">
                <a16:creationId xmlns:a16="http://schemas.microsoft.com/office/drawing/2014/main" id="{F59371F4-EB04-4E2B-877C-6B76DD4F8F93}"/>
              </a:ext>
            </a:extLst>
          </p:cNvPr>
          <p:cNvSpPr>
            <a:spLocks noGrp="1"/>
          </p:cNvSpPr>
          <p:nvPr/>
        </p:nvSpPr>
        <p:spPr>
          <a:xfrm>
            <a:off x="8562975" y="5514975"/>
            <a:ext cx="2857500" cy="323850"/>
          </a:xfrm>
          <a:prstGeom prst="rect">
            <a:avLst/>
          </a:prstGeom>
        </p:spPr>
        <p:txBody>
          <a:bodyPr wrap="square" lIns="0" tIns="0" rIns="0" bIns="0" anchor="t"/>
          <a:lstStyle/>
          <a:p>
            <a:pPr>
              <a:defRPr sz="1350" b="0">
                <a:solidFill>
                  <a:srgbClr val="546573"/>
                </a:solidFill>
                <a:latin typeface="Arial"/>
                <a:ea typeface="Arial"/>
                <a:cs typeface="Arial"/>
              </a:defRPr>
            </a:pPr>
            <a:r>
              <a:t>customer satisfaction</a:t>
            </a:r>
          </a:p>
        </p:txBody>
      </p:sp>
    </p:spTree>
    <p:extLst>
      <p:ext uri="{BB962C8B-B14F-4D97-AF65-F5344CB8AC3E}">
        <p14:creationId xmlns:p14="http://schemas.microsoft.com/office/powerpoint/2010/main" val="422854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1" name="kicker-marker">
            <a:extLst>
              <a:ext uri="{FF2B5EF4-FFF2-40B4-BE49-F238E27FC236}">
                <a16:creationId xmlns:a16="http://schemas.microsoft.com/office/drawing/2014/main" id="{A3DA1F77-BE0C-4032-8827-3CB5C7621D1E}"/>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A643A2DE-E2B3-4C08-9BBB-DEB0D0C49474}"/>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SUPPORT PERSPECTIVES</a:t>
            </a:r>
          </a:p>
        </p:txBody>
      </p:sp>
      <p:sp>
        <p:nvSpPr>
          <p:cNvPr id="3" name="text-2">
            <a:extLst>
              <a:ext uri="{FF2B5EF4-FFF2-40B4-BE49-F238E27FC236}">
                <a16:creationId xmlns:a16="http://schemas.microsoft.com/office/drawing/2014/main" id="{4A883032-D5A7-4DE1-8548-FFD96FC88CDC}"/>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Marcus wants resolution; Sofia</a:t>
            </a:r>
          </a:p>
          <a:p>
            <a:pPr>
              <a:defRPr sz="3150" b="0">
                <a:solidFill>
                  <a:srgbClr val="173047"/>
                </a:solidFill>
                <a:latin typeface="Georgia"/>
                <a:ea typeface="Georgia"/>
                <a:cs typeface="Georgia"/>
              </a:defRPr>
            </a:pPr>
            <a:r>
              <a:t>needs the right answer at hand</a:t>
            </a:r>
          </a:p>
        </p:txBody>
      </p:sp>
      <p:sp>
        <p:nvSpPr>
          <p:cNvPr id="4" name="shape-3">
            <a:extLst>
              <a:ext uri="{FF2B5EF4-FFF2-40B4-BE49-F238E27FC236}">
                <a16:creationId xmlns:a16="http://schemas.microsoft.com/office/drawing/2014/main" id="{7469F8E5-3559-43D9-BFB9-A4D40D7D7A49}"/>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BA700F3C-5033-48D2-B263-10374DD2B3A0}"/>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docs1/05_Datasets/Stakeholder_Interviews.docx · paraphrases of supplied interviews</a:t>
            </a:r>
          </a:p>
        </p:txBody>
      </p:sp>
      <p:sp>
        <p:nvSpPr>
          <p:cNvPr id="6" name="text-5">
            <a:extLst>
              <a:ext uri="{FF2B5EF4-FFF2-40B4-BE49-F238E27FC236}">
                <a16:creationId xmlns:a16="http://schemas.microsoft.com/office/drawing/2014/main" id="{76DA261C-11A0-4668-8A9C-96E6BF7DCEB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04</a:t>
            </a:r>
          </a:p>
        </p:txBody>
      </p:sp>
      <p:sp>
        <p:nvSpPr>
          <p:cNvPr id="7" name="text-6">
            <a:extLst>
              <a:ext uri="{FF2B5EF4-FFF2-40B4-BE49-F238E27FC236}">
                <a16:creationId xmlns:a16="http://schemas.microsoft.com/office/drawing/2014/main" id="{FE0C1541-8007-477A-BA26-506C0D7ACA20}"/>
              </a:ext>
            </a:extLst>
          </p:cNvPr>
          <p:cNvSpPr>
            <a:spLocks noGrp="1"/>
          </p:cNvSpPr>
          <p:nvPr/>
        </p:nvSpPr>
        <p:spPr>
          <a:xfrm>
            <a:off x="609600" y="2047875"/>
            <a:ext cx="5238750" cy="228600"/>
          </a:xfrm>
          <a:prstGeom prst="rect">
            <a:avLst/>
          </a:prstGeom>
        </p:spPr>
        <p:txBody>
          <a:bodyPr wrap="square" lIns="0" tIns="0" rIns="0" bIns="0" anchor="t"/>
          <a:lstStyle/>
          <a:p>
            <a:pPr>
              <a:defRPr sz="975" b="1">
                <a:solidFill>
                  <a:srgbClr val="00766B"/>
                </a:solidFill>
                <a:latin typeface="Arial"/>
                <a:ea typeface="Arial"/>
                <a:cs typeface="Arial"/>
              </a:defRPr>
            </a:pPr>
            <a:r>
              <a:t>HEAD OF CUSTOMER SUPPORT</a:t>
            </a:r>
          </a:p>
        </p:txBody>
      </p:sp>
      <p:sp>
        <p:nvSpPr>
          <p:cNvPr id="8" name="text-7">
            <a:extLst>
              <a:ext uri="{FF2B5EF4-FFF2-40B4-BE49-F238E27FC236}">
                <a16:creationId xmlns:a16="http://schemas.microsoft.com/office/drawing/2014/main" id="{E3E4D139-B7BB-49BB-9171-E9CB3DF18AE3}"/>
              </a:ext>
            </a:extLst>
          </p:cNvPr>
          <p:cNvSpPr>
            <a:spLocks noGrp="1"/>
          </p:cNvSpPr>
          <p:nvPr/>
        </p:nvSpPr>
        <p:spPr>
          <a:xfrm>
            <a:off x="609600" y="2381250"/>
            <a:ext cx="5181600" cy="495300"/>
          </a:xfrm>
          <a:prstGeom prst="rect">
            <a:avLst/>
          </a:prstGeom>
        </p:spPr>
        <p:txBody>
          <a:bodyPr wrap="square" lIns="0" tIns="0" rIns="0" bIns="0" anchor="t"/>
          <a:lstStyle/>
          <a:p>
            <a:pPr>
              <a:defRPr sz="2475" b="0">
                <a:solidFill>
                  <a:srgbClr val="173047"/>
                </a:solidFill>
                <a:latin typeface="Georgia"/>
                <a:ea typeface="Georgia"/>
                <a:cs typeface="Georgia"/>
              </a:defRPr>
            </a:pPr>
            <a:r>
              <a:t>Marcus Adeyemi</a:t>
            </a:r>
          </a:p>
        </p:txBody>
      </p:sp>
      <p:sp>
        <p:nvSpPr>
          <p:cNvPr id="9" name="text-8">
            <a:extLst>
              <a:ext uri="{FF2B5EF4-FFF2-40B4-BE49-F238E27FC236}">
                <a16:creationId xmlns:a16="http://schemas.microsoft.com/office/drawing/2014/main" id="{D239EF94-83F8-4921-B5CF-A8EC8757132E}"/>
              </a:ext>
            </a:extLst>
          </p:cNvPr>
          <p:cNvSpPr>
            <a:spLocks noGrp="1"/>
          </p:cNvSpPr>
          <p:nvPr/>
        </p:nvSpPr>
        <p:spPr>
          <a:xfrm>
            <a:off x="609600" y="3067050"/>
            <a:ext cx="4953000" cy="1047750"/>
          </a:xfrm>
          <a:prstGeom prst="rect">
            <a:avLst/>
          </a:prstGeom>
        </p:spPr>
        <p:txBody>
          <a:bodyPr wrap="square" lIns="0" tIns="0" rIns="0" bIns="0" anchor="t"/>
          <a:lstStyle/>
          <a:p>
            <a:pPr>
              <a:defRPr sz="1725" b="0">
                <a:solidFill>
                  <a:srgbClr val="173047"/>
                </a:solidFill>
                <a:latin typeface="Arial"/>
                <a:ea typeface="Arial"/>
                <a:cs typeface="Arial"/>
              </a:defRPr>
            </a:pPr>
            <a:r>
              <a:t>More than 500 tickets a week; hiring helped only briefly. First-contact resolution matters more than a fast reply.</a:t>
            </a:r>
          </a:p>
        </p:txBody>
      </p:sp>
      <p:sp>
        <p:nvSpPr>
          <p:cNvPr id="10" name="shape-9">
            <a:extLst>
              <a:ext uri="{FF2B5EF4-FFF2-40B4-BE49-F238E27FC236}">
                <a16:creationId xmlns:a16="http://schemas.microsoft.com/office/drawing/2014/main" id="{0C8904F3-204B-4123-8F20-064F92E1CB3E}"/>
              </a:ext>
            </a:extLst>
          </p:cNvPr>
          <p:cNvSpPr>
            <a:spLocks noGrp="1"/>
          </p:cNvSpPr>
          <p:nvPr/>
        </p:nvSpPr>
        <p:spPr>
          <a:xfrm>
            <a:off x="609600" y="4276725"/>
            <a:ext cx="4991100" cy="9525"/>
          </a:xfrm>
          <a:prstGeom prst="rect">
            <a:avLst/>
          </a:prstGeom>
          <a:solidFill>
            <a:srgbClr val="CDD3D2"/>
          </a:solidFill>
        </p:spPr>
      </p:sp>
      <p:sp>
        <p:nvSpPr>
          <p:cNvPr id="11" name="text-10">
            <a:extLst>
              <a:ext uri="{FF2B5EF4-FFF2-40B4-BE49-F238E27FC236}">
                <a16:creationId xmlns:a16="http://schemas.microsoft.com/office/drawing/2014/main" id="{56B80E6D-27AF-4E63-ABCB-74659551FBF4}"/>
              </a:ext>
            </a:extLst>
          </p:cNvPr>
          <p:cNvSpPr>
            <a:spLocks noGrp="1"/>
          </p:cNvSpPr>
          <p:nvPr/>
        </p:nvSpPr>
        <p:spPr>
          <a:xfrm>
            <a:off x="609600" y="4467225"/>
            <a:ext cx="4953000" cy="228600"/>
          </a:xfrm>
          <a:prstGeom prst="rect">
            <a:avLst/>
          </a:prstGeom>
        </p:spPr>
        <p:txBody>
          <a:bodyPr wrap="square" lIns="0" tIns="0" rIns="0" bIns="0" anchor="t"/>
          <a:lstStyle/>
          <a:p>
            <a:pPr>
              <a:defRPr sz="975" b="1">
                <a:solidFill>
                  <a:srgbClr val="00766B"/>
                </a:solidFill>
                <a:latin typeface="Arial"/>
                <a:ea typeface="Arial"/>
                <a:cs typeface="Arial"/>
              </a:defRPr>
            </a:pPr>
            <a:r>
              <a:t>WHAT THIS REQUIRES</a:t>
            </a:r>
          </a:p>
        </p:txBody>
      </p:sp>
      <p:sp>
        <p:nvSpPr>
          <p:cNvPr id="12" name="text-11">
            <a:extLst>
              <a:ext uri="{FF2B5EF4-FFF2-40B4-BE49-F238E27FC236}">
                <a16:creationId xmlns:a16="http://schemas.microsoft.com/office/drawing/2014/main" id="{18626F71-29E5-4922-83BA-4A3483D513D3}"/>
              </a:ext>
            </a:extLst>
          </p:cNvPr>
          <p:cNvSpPr>
            <a:spLocks noGrp="1"/>
          </p:cNvSpPr>
          <p:nvPr/>
        </p:nvSpPr>
        <p:spPr>
          <a:xfrm>
            <a:off x="609600" y="4781550"/>
            <a:ext cx="4972050" cy="647700"/>
          </a:xfrm>
          <a:prstGeom prst="rect">
            <a:avLst/>
          </a:prstGeom>
        </p:spPr>
        <p:txBody>
          <a:bodyPr wrap="square" lIns="0" tIns="0" rIns="0" bIns="0" anchor="t"/>
          <a:lstStyle/>
          <a:p>
            <a:pPr>
              <a:defRPr sz="1650" b="0">
                <a:solidFill>
                  <a:srgbClr val="00766B"/>
                </a:solidFill>
                <a:latin typeface="Arial"/>
                <a:ea typeface="Arial"/>
                <a:cs typeface="Arial"/>
              </a:defRPr>
            </a:pPr>
            <a:r>
              <a:t>Reduce avoidable escalations without creating confident mistakes.</a:t>
            </a:r>
          </a:p>
        </p:txBody>
      </p:sp>
      <p:sp>
        <p:nvSpPr>
          <p:cNvPr id="13" name="text-12">
            <a:extLst>
              <a:ext uri="{FF2B5EF4-FFF2-40B4-BE49-F238E27FC236}">
                <a16:creationId xmlns:a16="http://schemas.microsoft.com/office/drawing/2014/main" id="{47285457-583A-4A72-B23C-6392EF8B56D9}"/>
              </a:ext>
            </a:extLst>
          </p:cNvPr>
          <p:cNvSpPr>
            <a:spLocks noGrp="1"/>
          </p:cNvSpPr>
          <p:nvPr/>
        </p:nvSpPr>
        <p:spPr>
          <a:xfrm>
            <a:off x="609600" y="5543550"/>
            <a:ext cx="4972050" cy="590550"/>
          </a:xfrm>
          <a:prstGeom prst="rect">
            <a:avLst/>
          </a:prstGeom>
        </p:spPr>
        <p:txBody>
          <a:bodyPr wrap="square" lIns="0" tIns="0" rIns="0" bIns="0" anchor="t"/>
          <a:lstStyle/>
          <a:p>
            <a:pPr>
              <a:defRPr sz="1350" b="0">
                <a:solidFill>
                  <a:srgbClr val="546573"/>
                </a:solidFill>
                <a:latin typeface="Arial"/>
                <a:ea typeface="Arial"/>
                <a:cs typeface="Arial"/>
              </a:defRPr>
            </a:pPr>
            <a:r>
              <a:t>Measure outcomes separately from automation; retain a clear audit trail.</a:t>
            </a:r>
          </a:p>
        </p:txBody>
      </p:sp>
      <p:sp>
        <p:nvSpPr>
          <p:cNvPr id="14" name="text-13">
            <a:extLst>
              <a:ext uri="{FF2B5EF4-FFF2-40B4-BE49-F238E27FC236}">
                <a16:creationId xmlns:a16="http://schemas.microsoft.com/office/drawing/2014/main" id="{4014AAFF-BCD6-4E3D-BD76-6161C43108BE}"/>
              </a:ext>
            </a:extLst>
          </p:cNvPr>
          <p:cNvSpPr>
            <a:spLocks noGrp="1"/>
          </p:cNvSpPr>
          <p:nvPr/>
        </p:nvSpPr>
        <p:spPr>
          <a:xfrm>
            <a:off x="6248400" y="2047875"/>
            <a:ext cx="5238750" cy="228600"/>
          </a:xfrm>
          <a:prstGeom prst="rect">
            <a:avLst/>
          </a:prstGeom>
        </p:spPr>
        <p:txBody>
          <a:bodyPr wrap="square" lIns="0" tIns="0" rIns="0" bIns="0" anchor="t"/>
          <a:lstStyle/>
          <a:p>
            <a:pPr>
              <a:defRPr sz="975" b="1">
                <a:solidFill>
                  <a:srgbClr val="00766B"/>
                </a:solidFill>
                <a:latin typeface="Arial"/>
                <a:ea typeface="Arial"/>
                <a:cs typeface="Arial"/>
              </a:defRPr>
            </a:pPr>
            <a:r>
              <a:t>TIER ONE SUPPORT AGENT</a:t>
            </a:r>
          </a:p>
        </p:txBody>
      </p:sp>
      <p:sp>
        <p:nvSpPr>
          <p:cNvPr id="15" name="text-14">
            <a:extLst>
              <a:ext uri="{FF2B5EF4-FFF2-40B4-BE49-F238E27FC236}">
                <a16:creationId xmlns:a16="http://schemas.microsoft.com/office/drawing/2014/main" id="{39625826-7FC1-4A6F-9D15-AE41FC70F6F5}"/>
              </a:ext>
            </a:extLst>
          </p:cNvPr>
          <p:cNvSpPr>
            <a:spLocks noGrp="1"/>
          </p:cNvSpPr>
          <p:nvPr/>
        </p:nvSpPr>
        <p:spPr>
          <a:xfrm>
            <a:off x="6248400" y="2381250"/>
            <a:ext cx="5181600" cy="495300"/>
          </a:xfrm>
          <a:prstGeom prst="rect">
            <a:avLst/>
          </a:prstGeom>
        </p:spPr>
        <p:txBody>
          <a:bodyPr wrap="square" lIns="0" tIns="0" rIns="0" bIns="0" anchor="t"/>
          <a:lstStyle/>
          <a:p>
            <a:pPr>
              <a:defRPr sz="2475" b="0">
                <a:solidFill>
                  <a:srgbClr val="173047"/>
                </a:solidFill>
                <a:latin typeface="Georgia"/>
                <a:ea typeface="Georgia"/>
                <a:cs typeface="Georgia"/>
              </a:defRPr>
            </a:pPr>
            <a:r>
              <a:t>Sofia Restrepo</a:t>
            </a:r>
          </a:p>
        </p:txBody>
      </p:sp>
      <p:sp>
        <p:nvSpPr>
          <p:cNvPr id="16" name="text-15">
            <a:extLst>
              <a:ext uri="{FF2B5EF4-FFF2-40B4-BE49-F238E27FC236}">
                <a16:creationId xmlns:a16="http://schemas.microsoft.com/office/drawing/2014/main" id="{158A8AA0-7C40-4D5A-9330-E91680F744AF}"/>
              </a:ext>
            </a:extLst>
          </p:cNvPr>
          <p:cNvSpPr>
            <a:spLocks noGrp="1"/>
          </p:cNvSpPr>
          <p:nvPr/>
        </p:nvSpPr>
        <p:spPr>
          <a:xfrm>
            <a:off x="6248400" y="3067050"/>
            <a:ext cx="4953000" cy="1047750"/>
          </a:xfrm>
          <a:prstGeom prst="rect">
            <a:avLst/>
          </a:prstGeom>
        </p:spPr>
        <p:txBody>
          <a:bodyPr wrap="square" lIns="0" tIns="0" rIns="0" bIns="0" anchor="t"/>
          <a:lstStyle/>
          <a:p>
            <a:pPr>
              <a:defRPr sz="1725" b="0">
                <a:solidFill>
                  <a:srgbClr val="173047"/>
                </a:solidFill>
                <a:latin typeface="Arial"/>
                <a:ea typeface="Arial"/>
                <a:cs typeface="Arial"/>
              </a:defRPr>
            </a:pPr>
            <a:r>
              <a:t>Many tickets are familiar, but finding the right page and writing the reply take time. Uncertainty drives escalation.</a:t>
            </a:r>
          </a:p>
        </p:txBody>
      </p:sp>
      <p:sp>
        <p:nvSpPr>
          <p:cNvPr id="17" name="shape-16">
            <a:extLst>
              <a:ext uri="{FF2B5EF4-FFF2-40B4-BE49-F238E27FC236}">
                <a16:creationId xmlns:a16="http://schemas.microsoft.com/office/drawing/2014/main" id="{DC57A8B7-85E9-496B-B707-31E395A14A8C}"/>
              </a:ext>
            </a:extLst>
          </p:cNvPr>
          <p:cNvSpPr>
            <a:spLocks noGrp="1"/>
          </p:cNvSpPr>
          <p:nvPr/>
        </p:nvSpPr>
        <p:spPr>
          <a:xfrm>
            <a:off x="6248400" y="4276725"/>
            <a:ext cx="4991100" cy="9525"/>
          </a:xfrm>
          <a:prstGeom prst="rect">
            <a:avLst/>
          </a:prstGeom>
          <a:solidFill>
            <a:srgbClr val="CDD3D2"/>
          </a:solidFill>
        </p:spPr>
      </p:sp>
      <p:sp>
        <p:nvSpPr>
          <p:cNvPr id="18" name="text-17">
            <a:extLst>
              <a:ext uri="{FF2B5EF4-FFF2-40B4-BE49-F238E27FC236}">
                <a16:creationId xmlns:a16="http://schemas.microsoft.com/office/drawing/2014/main" id="{B30D2850-171B-43CC-9048-69A8336DD763}"/>
              </a:ext>
            </a:extLst>
          </p:cNvPr>
          <p:cNvSpPr>
            <a:spLocks noGrp="1"/>
          </p:cNvSpPr>
          <p:nvPr/>
        </p:nvSpPr>
        <p:spPr>
          <a:xfrm>
            <a:off x="6248400" y="4467225"/>
            <a:ext cx="4953000" cy="228600"/>
          </a:xfrm>
          <a:prstGeom prst="rect">
            <a:avLst/>
          </a:prstGeom>
        </p:spPr>
        <p:txBody>
          <a:bodyPr wrap="square" lIns="0" tIns="0" rIns="0" bIns="0" anchor="t"/>
          <a:lstStyle/>
          <a:p>
            <a:pPr>
              <a:defRPr sz="975" b="1">
                <a:solidFill>
                  <a:srgbClr val="00766B"/>
                </a:solidFill>
                <a:latin typeface="Arial"/>
                <a:ea typeface="Arial"/>
                <a:cs typeface="Arial"/>
              </a:defRPr>
            </a:pPr>
            <a:r>
              <a:t>WHAT THIS REQUIRES</a:t>
            </a:r>
          </a:p>
        </p:txBody>
      </p:sp>
      <p:sp>
        <p:nvSpPr>
          <p:cNvPr id="19" name="text-18">
            <a:extLst>
              <a:ext uri="{FF2B5EF4-FFF2-40B4-BE49-F238E27FC236}">
                <a16:creationId xmlns:a16="http://schemas.microsoft.com/office/drawing/2014/main" id="{C82776E8-96DA-4200-B9E5-1478573C3129}"/>
              </a:ext>
            </a:extLst>
          </p:cNvPr>
          <p:cNvSpPr>
            <a:spLocks noGrp="1"/>
          </p:cNvSpPr>
          <p:nvPr/>
        </p:nvSpPr>
        <p:spPr>
          <a:xfrm>
            <a:off x="6248400" y="4781550"/>
            <a:ext cx="4972050" cy="647700"/>
          </a:xfrm>
          <a:prstGeom prst="rect">
            <a:avLst/>
          </a:prstGeom>
        </p:spPr>
        <p:txBody>
          <a:bodyPr wrap="square" lIns="0" tIns="0" rIns="0" bIns="0" anchor="t"/>
          <a:lstStyle/>
          <a:p>
            <a:pPr>
              <a:defRPr sz="1650" b="0">
                <a:solidFill>
                  <a:srgbClr val="00766B"/>
                </a:solidFill>
                <a:latin typeface="Arial"/>
                <a:ea typeface="Arial"/>
                <a:cs typeface="Arial"/>
              </a:defRPr>
            </a:pPr>
            <a:r>
              <a:t>A usable draft and the relevant documentation, with permission to hand over.</a:t>
            </a:r>
          </a:p>
        </p:txBody>
      </p:sp>
      <p:sp>
        <p:nvSpPr>
          <p:cNvPr id="20" name="text-19">
            <a:extLst>
              <a:ext uri="{FF2B5EF4-FFF2-40B4-BE49-F238E27FC236}">
                <a16:creationId xmlns:a16="http://schemas.microsoft.com/office/drawing/2014/main" id="{A18C8F06-BE36-4A9E-8D83-70EF609C25A2}"/>
              </a:ext>
            </a:extLst>
          </p:cNvPr>
          <p:cNvSpPr>
            <a:spLocks noGrp="1"/>
          </p:cNvSpPr>
          <p:nvPr/>
        </p:nvSpPr>
        <p:spPr>
          <a:xfrm>
            <a:off x="6248400" y="5543550"/>
            <a:ext cx="4972050" cy="590550"/>
          </a:xfrm>
          <a:prstGeom prst="rect">
            <a:avLst/>
          </a:prstGeom>
        </p:spPr>
        <p:txBody>
          <a:bodyPr wrap="square" lIns="0" tIns="0" rIns="0" bIns="0" anchor="t"/>
          <a:lstStyle/>
          <a:p>
            <a:pPr>
              <a:defRPr sz="1350" b="0">
                <a:solidFill>
                  <a:srgbClr val="546573"/>
                </a:solidFill>
                <a:latin typeface="Arial"/>
                <a:ea typeface="Arial"/>
                <a:cs typeface="Arial"/>
              </a:defRPr>
            </a:pPr>
            <a:r>
              <a:t>Retrieve approved knowledge, cite it, and abstain when evidence is weak.</a:t>
            </a:r>
          </a:p>
        </p:txBody>
      </p:sp>
    </p:spTree>
    <p:extLst>
      <p:ext uri="{BB962C8B-B14F-4D97-AF65-F5344CB8AC3E}">
        <p14:creationId xmlns:p14="http://schemas.microsoft.com/office/powerpoint/2010/main" val="2036692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1" name="kicker-marker">
            <a:extLst>
              <a:ext uri="{FF2B5EF4-FFF2-40B4-BE49-F238E27FC236}">
                <a16:creationId xmlns:a16="http://schemas.microsoft.com/office/drawing/2014/main" id="{2978A121-7960-416A-AE43-6F9C2256DD53}"/>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02D01E20-06E0-429B-BC6C-6D0B7F84F986}"/>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SPECIALIST PERSPECTIVES</a:t>
            </a:r>
          </a:p>
        </p:txBody>
      </p:sp>
      <p:sp>
        <p:nvSpPr>
          <p:cNvPr id="3" name="text-2">
            <a:extLst>
              <a:ext uri="{FF2B5EF4-FFF2-40B4-BE49-F238E27FC236}">
                <a16:creationId xmlns:a16="http://schemas.microsoft.com/office/drawing/2014/main" id="{6929BB27-D9AE-4695-9AF4-E630514040FF}"/>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Daniel needs context; Ines needs</a:t>
            </a:r>
          </a:p>
          <a:p>
            <a:pPr>
              <a:defRPr sz="3150" b="0">
                <a:solidFill>
                  <a:srgbClr val="173047"/>
                </a:solidFill>
                <a:latin typeface="Georgia"/>
                <a:ea typeface="Georgia"/>
                <a:cs typeface="Georgia"/>
              </a:defRPr>
            </a:pPr>
            <a:r>
              <a:t>answers tied to approved knowledge</a:t>
            </a:r>
          </a:p>
        </p:txBody>
      </p:sp>
      <p:sp>
        <p:nvSpPr>
          <p:cNvPr id="4" name="shape-3">
            <a:extLst>
              <a:ext uri="{FF2B5EF4-FFF2-40B4-BE49-F238E27FC236}">
                <a16:creationId xmlns:a16="http://schemas.microsoft.com/office/drawing/2014/main" id="{573C7E49-956F-4F30-BC11-6B10BB309B0F}"/>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3104379B-ABEF-4331-B240-07E9ECFE54EB}"/>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docs1/05_Datasets/Stakeholder_Interviews.docx · interview estimates are not measured savings</a:t>
            </a:r>
          </a:p>
        </p:txBody>
      </p:sp>
      <p:sp>
        <p:nvSpPr>
          <p:cNvPr id="6" name="text-5">
            <a:extLst>
              <a:ext uri="{FF2B5EF4-FFF2-40B4-BE49-F238E27FC236}">
                <a16:creationId xmlns:a16="http://schemas.microsoft.com/office/drawing/2014/main" id="{CF0B6DCF-7AF2-4627-9EE4-C807940DA1D0}"/>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05</a:t>
            </a:r>
          </a:p>
        </p:txBody>
      </p:sp>
      <p:sp>
        <p:nvSpPr>
          <p:cNvPr id="7" name="text-6">
            <a:extLst>
              <a:ext uri="{FF2B5EF4-FFF2-40B4-BE49-F238E27FC236}">
                <a16:creationId xmlns:a16="http://schemas.microsoft.com/office/drawing/2014/main" id="{D119A4EC-7ACE-4889-8529-3DD5D43F8F1A}"/>
              </a:ext>
            </a:extLst>
          </p:cNvPr>
          <p:cNvSpPr>
            <a:spLocks noGrp="1"/>
          </p:cNvSpPr>
          <p:nvPr/>
        </p:nvSpPr>
        <p:spPr>
          <a:xfrm>
            <a:off x="609600" y="2047875"/>
            <a:ext cx="5238750" cy="228600"/>
          </a:xfrm>
          <a:prstGeom prst="rect">
            <a:avLst/>
          </a:prstGeom>
        </p:spPr>
        <p:txBody>
          <a:bodyPr wrap="square" lIns="0" tIns="0" rIns="0" bIns="0" anchor="t"/>
          <a:lstStyle/>
          <a:p>
            <a:pPr>
              <a:defRPr sz="975" b="1">
                <a:solidFill>
                  <a:srgbClr val="00766B"/>
                </a:solidFill>
                <a:latin typeface="Arial"/>
                <a:ea typeface="Arial"/>
                <a:cs typeface="Arial"/>
              </a:defRPr>
            </a:pPr>
            <a:r>
              <a:t>TIER TWO SUPPORT ENGINEER</a:t>
            </a:r>
          </a:p>
        </p:txBody>
      </p:sp>
      <p:sp>
        <p:nvSpPr>
          <p:cNvPr id="8" name="text-7">
            <a:extLst>
              <a:ext uri="{FF2B5EF4-FFF2-40B4-BE49-F238E27FC236}">
                <a16:creationId xmlns:a16="http://schemas.microsoft.com/office/drawing/2014/main" id="{BE0395D7-CBC9-4633-8C5B-88C3F60F3D59}"/>
              </a:ext>
            </a:extLst>
          </p:cNvPr>
          <p:cNvSpPr>
            <a:spLocks noGrp="1"/>
          </p:cNvSpPr>
          <p:nvPr/>
        </p:nvSpPr>
        <p:spPr>
          <a:xfrm>
            <a:off x="609600" y="2381250"/>
            <a:ext cx="5181600" cy="495300"/>
          </a:xfrm>
          <a:prstGeom prst="rect">
            <a:avLst/>
          </a:prstGeom>
        </p:spPr>
        <p:txBody>
          <a:bodyPr wrap="square" lIns="0" tIns="0" rIns="0" bIns="0" anchor="t"/>
          <a:lstStyle/>
          <a:p>
            <a:pPr>
              <a:defRPr sz="2475" b="0">
                <a:solidFill>
                  <a:srgbClr val="173047"/>
                </a:solidFill>
                <a:latin typeface="Georgia"/>
                <a:ea typeface="Georgia"/>
                <a:cs typeface="Georgia"/>
              </a:defRPr>
            </a:pPr>
            <a:r>
              <a:t>Daniel Okonkwo</a:t>
            </a:r>
          </a:p>
        </p:txBody>
      </p:sp>
      <p:sp>
        <p:nvSpPr>
          <p:cNvPr id="9" name="text-8">
            <a:extLst>
              <a:ext uri="{FF2B5EF4-FFF2-40B4-BE49-F238E27FC236}">
                <a16:creationId xmlns:a16="http://schemas.microsoft.com/office/drawing/2014/main" id="{F7F5FD90-0EB5-4BC4-8A44-9379B6735D0D}"/>
              </a:ext>
            </a:extLst>
          </p:cNvPr>
          <p:cNvSpPr>
            <a:spLocks noGrp="1"/>
          </p:cNvSpPr>
          <p:nvPr/>
        </p:nvSpPr>
        <p:spPr>
          <a:xfrm>
            <a:off x="609600" y="3067050"/>
            <a:ext cx="4953000" cy="1047750"/>
          </a:xfrm>
          <a:prstGeom prst="rect">
            <a:avLst/>
          </a:prstGeom>
        </p:spPr>
        <p:txBody>
          <a:bodyPr wrap="square" lIns="0" tIns="0" rIns="0" bIns="0" anchor="t"/>
          <a:lstStyle/>
          <a:p>
            <a:pPr>
              <a:defRPr sz="1725" b="0">
                <a:solidFill>
                  <a:srgbClr val="173047"/>
                </a:solidFill>
                <a:latin typeface="Arial"/>
                <a:ea typeface="Arial"/>
                <a:cs typeface="Arial"/>
              </a:defRPr>
            </a:pPr>
            <a:r>
              <a:t>Many escalations arrive as raw tickets. He must repeat the investigation and ask the customer for context again.</a:t>
            </a:r>
          </a:p>
        </p:txBody>
      </p:sp>
      <p:sp>
        <p:nvSpPr>
          <p:cNvPr id="10" name="shape-9">
            <a:extLst>
              <a:ext uri="{FF2B5EF4-FFF2-40B4-BE49-F238E27FC236}">
                <a16:creationId xmlns:a16="http://schemas.microsoft.com/office/drawing/2014/main" id="{135E32E6-9916-48FC-8D88-9695ABCE29B7}"/>
              </a:ext>
            </a:extLst>
          </p:cNvPr>
          <p:cNvSpPr>
            <a:spLocks noGrp="1"/>
          </p:cNvSpPr>
          <p:nvPr/>
        </p:nvSpPr>
        <p:spPr>
          <a:xfrm>
            <a:off x="609600" y="4276725"/>
            <a:ext cx="4991100" cy="9525"/>
          </a:xfrm>
          <a:prstGeom prst="rect">
            <a:avLst/>
          </a:prstGeom>
          <a:solidFill>
            <a:srgbClr val="CDD3D2"/>
          </a:solidFill>
        </p:spPr>
      </p:sp>
      <p:sp>
        <p:nvSpPr>
          <p:cNvPr id="11" name="text-10">
            <a:extLst>
              <a:ext uri="{FF2B5EF4-FFF2-40B4-BE49-F238E27FC236}">
                <a16:creationId xmlns:a16="http://schemas.microsoft.com/office/drawing/2014/main" id="{424E1A8D-8155-4E12-807C-66253D4BB573}"/>
              </a:ext>
            </a:extLst>
          </p:cNvPr>
          <p:cNvSpPr>
            <a:spLocks noGrp="1"/>
          </p:cNvSpPr>
          <p:nvPr/>
        </p:nvSpPr>
        <p:spPr>
          <a:xfrm>
            <a:off x="609600" y="4467225"/>
            <a:ext cx="4953000" cy="228600"/>
          </a:xfrm>
          <a:prstGeom prst="rect">
            <a:avLst/>
          </a:prstGeom>
        </p:spPr>
        <p:txBody>
          <a:bodyPr wrap="square" lIns="0" tIns="0" rIns="0" bIns="0" anchor="t"/>
          <a:lstStyle/>
          <a:p>
            <a:pPr>
              <a:defRPr sz="975" b="1">
                <a:solidFill>
                  <a:srgbClr val="00766B"/>
                </a:solidFill>
                <a:latin typeface="Arial"/>
                <a:ea typeface="Arial"/>
                <a:cs typeface="Arial"/>
              </a:defRPr>
            </a:pPr>
            <a:r>
              <a:t>WHAT THIS REQUIRES</a:t>
            </a:r>
          </a:p>
        </p:txBody>
      </p:sp>
      <p:sp>
        <p:nvSpPr>
          <p:cNvPr id="12" name="text-11">
            <a:extLst>
              <a:ext uri="{FF2B5EF4-FFF2-40B4-BE49-F238E27FC236}">
                <a16:creationId xmlns:a16="http://schemas.microsoft.com/office/drawing/2014/main" id="{04CF6893-3238-40EB-854B-9F1FC9A98B79}"/>
              </a:ext>
            </a:extLst>
          </p:cNvPr>
          <p:cNvSpPr>
            <a:spLocks noGrp="1"/>
          </p:cNvSpPr>
          <p:nvPr/>
        </p:nvSpPr>
        <p:spPr>
          <a:xfrm>
            <a:off x="609600" y="4781550"/>
            <a:ext cx="4972050" cy="647700"/>
          </a:xfrm>
          <a:prstGeom prst="rect">
            <a:avLst/>
          </a:prstGeom>
        </p:spPr>
        <p:txBody>
          <a:bodyPr wrap="square" lIns="0" tIns="0" rIns="0" bIns="0" anchor="t"/>
          <a:lstStyle/>
          <a:p>
            <a:pPr>
              <a:defRPr sz="1650" b="0">
                <a:solidFill>
                  <a:srgbClr val="00766B"/>
                </a:solidFill>
                <a:latin typeface="Arial"/>
                <a:ea typeface="Arial"/>
                <a:cs typeface="Arial"/>
              </a:defRPr>
            </a:pPr>
            <a:r>
              <a:t>The issue, what was found, relevant documents and the specific uncertainty.</a:t>
            </a:r>
          </a:p>
        </p:txBody>
      </p:sp>
      <p:sp>
        <p:nvSpPr>
          <p:cNvPr id="13" name="text-12">
            <a:extLst>
              <a:ext uri="{FF2B5EF4-FFF2-40B4-BE49-F238E27FC236}">
                <a16:creationId xmlns:a16="http://schemas.microsoft.com/office/drawing/2014/main" id="{E6CFA95E-1C85-4D51-B9C5-80796C3401A7}"/>
              </a:ext>
            </a:extLst>
          </p:cNvPr>
          <p:cNvSpPr>
            <a:spLocks noGrp="1"/>
          </p:cNvSpPr>
          <p:nvPr/>
        </p:nvSpPr>
        <p:spPr>
          <a:xfrm>
            <a:off x="609600" y="5543550"/>
            <a:ext cx="4972050" cy="590550"/>
          </a:xfrm>
          <a:prstGeom prst="rect">
            <a:avLst/>
          </a:prstGeom>
        </p:spPr>
        <p:txBody>
          <a:bodyPr wrap="square" lIns="0" tIns="0" rIns="0" bIns="0" anchor="t"/>
          <a:lstStyle/>
          <a:p>
            <a:pPr>
              <a:defRPr sz="1350" b="0">
                <a:solidFill>
                  <a:srgbClr val="546573"/>
                </a:solidFill>
                <a:latin typeface="Arial"/>
                <a:ea typeface="Arial"/>
                <a:cs typeface="Arial"/>
              </a:defRPr>
            </a:pPr>
            <a:r>
              <a:t>Create a structured handover; preserve human ownership of sensitive cases.</a:t>
            </a:r>
          </a:p>
        </p:txBody>
      </p:sp>
      <p:sp>
        <p:nvSpPr>
          <p:cNvPr id="14" name="text-13">
            <a:extLst>
              <a:ext uri="{FF2B5EF4-FFF2-40B4-BE49-F238E27FC236}">
                <a16:creationId xmlns:a16="http://schemas.microsoft.com/office/drawing/2014/main" id="{841ABBDB-2100-41B7-BF59-34C5C005F183}"/>
              </a:ext>
            </a:extLst>
          </p:cNvPr>
          <p:cNvSpPr>
            <a:spLocks noGrp="1"/>
          </p:cNvSpPr>
          <p:nvPr/>
        </p:nvSpPr>
        <p:spPr>
          <a:xfrm>
            <a:off x="6248400" y="2047875"/>
            <a:ext cx="5238750" cy="228600"/>
          </a:xfrm>
          <a:prstGeom prst="rect">
            <a:avLst/>
          </a:prstGeom>
        </p:spPr>
        <p:txBody>
          <a:bodyPr wrap="square" lIns="0" tIns="0" rIns="0" bIns="0" anchor="t"/>
          <a:lstStyle/>
          <a:p>
            <a:pPr>
              <a:defRPr sz="975" b="1">
                <a:solidFill>
                  <a:srgbClr val="00766B"/>
                </a:solidFill>
                <a:latin typeface="Arial"/>
                <a:ea typeface="Arial"/>
                <a:cs typeface="Arial"/>
              </a:defRPr>
            </a:pPr>
            <a:r>
              <a:t>TECHNICAL WRITER / KB OWNER</a:t>
            </a:r>
          </a:p>
        </p:txBody>
      </p:sp>
      <p:sp>
        <p:nvSpPr>
          <p:cNvPr id="15" name="text-14">
            <a:extLst>
              <a:ext uri="{FF2B5EF4-FFF2-40B4-BE49-F238E27FC236}">
                <a16:creationId xmlns:a16="http://schemas.microsoft.com/office/drawing/2014/main" id="{1E1AF46E-2946-4453-9570-6A7CAA226A1E}"/>
              </a:ext>
            </a:extLst>
          </p:cNvPr>
          <p:cNvSpPr>
            <a:spLocks noGrp="1"/>
          </p:cNvSpPr>
          <p:nvPr/>
        </p:nvSpPr>
        <p:spPr>
          <a:xfrm>
            <a:off x="6248400" y="2381250"/>
            <a:ext cx="5181600" cy="495300"/>
          </a:xfrm>
          <a:prstGeom prst="rect">
            <a:avLst/>
          </a:prstGeom>
        </p:spPr>
        <p:txBody>
          <a:bodyPr wrap="square" lIns="0" tIns="0" rIns="0" bIns="0" anchor="t"/>
          <a:lstStyle/>
          <a:p>
            <a:pPr>
              <a:defRPr sz="2475" b="0">
                <a:solidFill>
                  <a:srgbClr val="173047"/>
                </a:solidFill>
                <a:latin typeface="Georgia"/>
                <a:ea typeface="Georgia"/>
                <a:cs typeface="Georgia"/>
              </a:defRPr>
            </a:pPr>
            <a:r>
              <a:t>Ines Varga</a:t>
            </a:r>
          </a:p>
        </p:txBody>
      </p:sp>
      <p:sp>
        <p:nvSpPr>
          <p:cNvPr id="16" name="text-15">
            <a:extLst>
              <a:ext uri="{FF2B5EF4-FFF2-40B4-BE49-F238E27FC236}">
                <a16:creationId xmlns:a16="http://schemas.microsoft.com/office/drawing/2014/main" id="{3D0B5CB8-36EA-41EF-99F0-B48A71489D5F}"/>
              </a:ext>
            </a:extLst>
          </p:cNvPr>
          <p:cNvSpPr>
            <a:spLocks noGrp="1"/>
          </p:cNvSpPr>
          <p:nvPr/>
        </p:nvSpPr>
        <p:spPr>
          <a:xfrm>
            <a:off x="6248400" y="3067050"/>
            <a:ext cx="4953000" cy="1047750"/>
          </a:xfrm>
          <a:prstGeom prst="rect">
            <a:avLst/>
          </a:prstGeom>
        </p:spPr>
        <p:txBody>
          <a:bodyPr wrap="square" lIns="0" tIns="0" rIns="0" bIns="0" anchor="t"/>
          <a:lstStyle/>
          <a:p>
            <a:pPr>
              <a:defRPr sz="1725" b="0">
                <a:solidFill>
                  <a:srgbClr val="173047"/>
                </a:solidFill>
                <a:latin typeface="Arial"/>
                <a:ea typeface="Arial"/>
                <a:cs typeface="Arial"/>
              </a:defRPr>
            </a:pPr>
            <a:r>
              <a:t>The 29 maintained articles are underused. Customer wording often differs from article titles; personal snippets can be stale.</a:t>
            </a:r>
          </a:p>
        </p:txBody>
      </p:sp>
      <p:sp>
        <p:nvSpPr>
          <p:cNvPr id="17" name="shape-16">
            <a:extLst>
              <a:ext uri="{FF2B5EF4-FFF2-40B4-BE49-F238E27FC236}">
                <a16:creationId xmlns:a16="http://schemas.microsoft.com/office/drawing/2014/main" id="{71859DD8-7A52-4CFA-BFCB-6F6556792A33}"/>
              </a:ext>
            </a:extLst>
          </p:cNvPr>
          <p:cNvSpPr>
            <a:spLocks noGrp="1"/>
          </p:cNvSpPr>
          <p:nvPr/>
        </p:nvSpPr>
        <p:spPr>
          <a:xfrm>
            <a:off x="6248400" y="4276725"/>
            <a:ext cx="4991100" cy="9525"/>
          </a:xfrm>
          <a:prstGeom prst="rect">
            <a:avLst/>
          </a:prstGeom>
          <a:solidFill>
            <a:srgbClr val="CDD3D2"/>
          </a:solidFill>
        </p:spPr>
      </p:sp>
      <p:sp>
        <p:nvSpPr>
          <p:cNvPr id="18" name="text-17">
            <a:extLst>
              <a:ext uri="{FF2B5EF4-FFF2-40B4-BE49-F238E27FC236}">
                <a16:creationId xmlns:a16="http://schemas.microsoft.com/office/drawing/2014/main" id="{229942B1-9866-4A4F-946F-66D83C02A4C5}"/>
              </a:ext>
            </a:extLst>
          </p:cNvPr>
          <p:cNvSpPr>
            <a:spLocks noGrp="1"/>
          </p:cNvSpPr>
          <p:nvPr/>
        </p:nvSpPr>
        <p:spPr>
          <a:xfrm>
            <a:off x="6248400" y="4467225"/>
            <a:ext cx="4953000" cy="228600"/>
          </a:xfrm>
          <a:prstGeom prst="rect">
            <a:avLst/>
          </a:prstGeom>
        </p:spPr>
        <p:txBody>
          <a:bodyPr wrap="square" lIns="0" tIns="0" rIns="0" bIns="0" anchor="t"/>
          <a:lstStyle/>
          <a:p>
            <a:pPr>
              <a:defRPr sz="975" b="1">
                <a:solidFill>
                  <a:srgbClr val="00766B"/>
                </a:solidFill>
                <a:latin typeface="Arial"/>
                <a:ea typeface="Arial"/>
                <a:cs typeface="Arial"/>
              </a:defRPr>
            </a:pPr>
            <a:r>
              <a:t>WHAT THIS REQUIRES</a:t>
            </a:r>
          </a:p>
        </p:txBody>
      </p:sp>
      <p:sp>
        <p:nvSpPr>
          <p:cNvPr id="19" name="text-18">
            <a:extLst>
              <a:ext uri="{FF2B5EF4-FFF2-40B4-BE49-F238E27FC236}">
                <a16:creationId xmlns:a16="http://schemas.microsoft.com/office/drawing/2014/main" id="{F93F68D2-5688-44E5-A5F7-0DDCE0EFA225}"/>
              </a:ext>
            </a:extLst>
          </p:cNvPr>
          <p:cNvSpPr>
            <a:spLocks noGrp="1"/>
          </p:cNvSpPr>
          <p:nvPr/>
        </p:nvSpPr>
        <p:spPr>
          <a:xfrm>
            <a:off x="6248400" y="4781550"/>
            <a:ext cx="4972050" cy="647700"/>
          </a:xfrm>
          <a:prstGeom prst="rect">
            <a:avLst/>
          </a:prstGeom>
        </p:spPr>
        <p:txBody>
          <a:bodyPr wrap="square" lIns="0" tIns="0" rIns="0" bIns="0" anchor="t"/>
          <a:lstStyle/>
          <a:p>
            <a:pPr>
              <a:defRPr sz="1650" b="0">
                <a:solidFill>
                  <a:srgbClr val="00766B"/>
                </a:solidFill>
                <a:latin typeface="Arial"/>
                <a:ea typeface="Arial"/>
                <a:cs typeface="Arial"/>
              </a:defRPr>
            </a:pPr>
            <a:r>
              <a:t>Search by meaning and identify exactly which approved article supports a claim.</a:t>
            </a:r>
          </a:p>
        </p:txBody>
      </p:sp>
      <p:sp>
        <p:nvSpPr>
          <p:cNvPr id="20" name="text-19">
            <a:extLst>
              <a:ext uri="{FF2B5EF4-FFF2-40B4-BE49-F238E27FC236}">
                <a16:creationId xmlns:a16="http://schemas.microsoft.com/office/drawing/2014/main" id="{6C1E1FA6-0226-4B57-8803-6BC42468724D}"/>
              </a:ext>
            </a:extLst>
          </p:cNvPr>
          <p:cNvSpPr>
            <a:spLocks noGrp="1"/>
          </p:cNvSpPr>
          <p:nvPr/>
        </p:nvSpPr>
        <p:spPr>
          <a:xfrm>
            <a:off x="6248400" y="5543550"/>
            <a:ext cx="4972050" cy="590550"/>
          </a:xfrm>
          <a:prstGeom prst="rect">
            <a:avLst/>
          </a:prstGeom>
        </p:spPr>
        <p:txBody>
          <a:bodyPr wrap="square" lIns="0" tIns="0" rIns="0" bIns="0" anchor="t"/>
          <a:lstStyle/>
          <a:p>
            <a:pPr>
              <a:defRPr sz="1350" b="0">
                <a:solidFill>
                  <a:srgbClr val="546573"/>
                </a:solidFill>
                <a:latin typeface="Arial"/>
                <a:ea typeface="Arial"/>
                <a:cs typeface="Arial"/>
              </a:defRPr>
            </a:pPr>
            <a:r>
              <a:t>Use semantic retrieval and document IDs; do not invent missing policy.</a:t>
            </a:r>
          </a:p>
        </p:txBody>
      </p:sp>
    </p:spTree>
    <p:extLst>
      <p:ext uri="{BB962C8B-B14F-4D97-AF65-F5344CB8AC3E}">
        <p14:creationId xmlns:p14="http://schemas.microsoft.com/office/powerpoint/2010/main" val="1611595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1" name="kicker-marker">
            <a:extLst>
              <a:ext uri="{FF2B5EF4-FFF2-40B4-BE49-F238E27FC236}">
                <a16:creationId xmlns:a16="http://schemas.microsoft.com/office/drawing/2014/main" id="{51DAEAC8-F7E5-41E2-B511-477A2768042D}"/>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F2C8D3EA-B066-44E8-8C84-967296ADE314}"/>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CUSTOMER PERSPECTIVE</a:t>
            </a:r>
          </a:p>
        </p:txBody>
      </p:sp>
      <p:sp>
        <p:nvSpPr>
          <p:cNvPr id="3" name="text-2">
            <a:extLst>
              <a:ext uri="{FF2B5EF4-FFF2-40B4-BE49-F238E27FC236}">
                <a16:creationId xmlns:a16="http://schemas.microsoft.com/office/drawing/2014/main" id="{B5DC5120-AB60-4B0A-AAAD-96C2B1A8E4A0}"/>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Ravi values honesty and urgency</a:t>
            </a:r>
          </a:p>
          <a:p>
            <a:pPr>
              <a:defRPr sz="3150" b="0">
                <a:solidFill>
                  <a:srgbClr val="173047"/>
                </a:solidFill>
                <a:latin typeface="Georgia"/>
                <a:ea typeface="Georgia"/>
                <a:cs typeface="Georgia"/>
              </a:defRPr>
            </a:pPr>
            <a:r>
              <a:t>more than the illusion of certainty</a:t>
            </a:r>
          </a:p>
        </p:txBody>
      </p:sp>
      <p:sp>
        <p:nvSpPr>
          <p:cNvPr id="4" name="shape-3">
            <a:extLst>
              <a:ext uri="{FF2B5EF4-FFF2-40B4-BE49-F238E27FC236}">
                <a16:creationId xmlns:a16="http://schemas.microsoft.com/office/drawing/2014/main" id="{964FC4B9-59F0-4574-A12A-4E8B4FCE1838}"/>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656DFE1D-EBF7-44F3-899C-AFFA876FC230}"/>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Stakeholder_Interviews.docx · Ravi Menon is a customer, not a project team member</a:t>
            </a:r>
          </a:p>
        </p:txBody>
      </p:sp>
      <p:sp>
        <p:nvSpPr>
          <p:cNvPr id="6" name="text-5">
            <a:extLst>
              <a:ext uri="{FF2B5EF4-FFF2-40B4-BE49-F238E27FC236}">
                <a16:creationId xmlns:a16="http://schemas.microsoft.com/office/drawing/2014/main" id="{1EB09782-C1F4-4D55-B89C-B39C7BE775C6}"/>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06</a:t>
            </a:r>
          </a:p>
        </p:txBody>
      </p:sp>
      <p:sp>
        <p:nvSpPr>
          <p:cNvPr id="7" name="text-6">
            <a:extLst>
              <a:ext uri="{FF2B5EF4-FFF2-40B4-BE49-F238E27FC236}">
                <a16:creationId xmlns:a16="http://schemas.microsoft.com/office/drawing/2014/main" id="{CAD76AD6-9BD8-4AC0-BCA8-E778C54363AB}"/>
              </a:ext>
            </a:extLst>
          </p:cNvPr>
          <p:cNvSpPr>
            <a:spLocks noGrp="1"/>
          </p:cNvSpPr>
          <p:nvPr/>
        </p:nvSpPr>
        <p:spPr>
          <a:xfrm>
            <a:off x="609600" y="2314575"/>
            <a:ext cx="3429000" cy="1666875"/>
          </a:xfrm>
          <a:prstGeom prst="rect">
            <a:avLst/>
          </a:prstGeom>
        </p:spPr>
        <p:txBody>
          <a:bodyPr wrap="square" lIns="0" tIns="0" rIns="0" bIns="0" anchor="t"/>
          <a:lstStyle/>
          <a:p>
            <a:pPr>
              <a:defRPr sz="3150" b="0">
                <a:solidFill>
                  <a:srgbClr val="00766B"/>
                </a:solidFill>
                <a:latin typeface="Georgia"/>
                <a:ea typeface="Georgia"/>
                <a:cs typeface="Georgia"/>
              </a:defRPr>
            </a:pPr>
            <a:r>
              <a:t>Customer trust</a:t>
            </a:r>
          </a:p>
          <a:p>
            <a:pPr>
              <a:defRPr sz="3150" b="0">
                <a:solidFill>
                  <a:srgbClr val="00766B"/>
                </a:solidFill>
                <a:latin typeface="Georgia"/>
                <a:ea typeface="Georgia"/>
                <a:cs typeface="Georgia"/>
              </a:defRPr>
            </a:pPr>
            <a:r>
              <a:t>is a design</a:t>
            </a:r>
          </a:p>
          <a:p>
            <a:pPr>
              <a:defRPr sz="3150" b="0">
                <a:solidFill>
                  <a:srgbClr val="00766B"/>
                </a:solidFill>
                <a:latin typeface="Georgia"/>
                <a:ea typeface="Georgia"/>
                <a:cs typeface="Georgia"/>
              </a:defRPr>
            </a:pPr>
            <a:r>
              <a:t>requirement.</a:t>
            </a:r>
          </a:p>
        </p:txBody>
      </p:sp>
      <p:sp>
        <p:nvSpPr>
          <p:cNvPr id="8" name="text-7">
            <a:extLst>
              <a:ext uri="{FF2B5EF4-FFF2-40B4-BE49-F238E27FC236}">
                <a16:creationId xmlns:a16="http://schemas.microsoft.com/office/drawing/2014/main" id="{66588C8C-3CCE-4A22-869C-8ED0A3BC1B27}"/>
              </a:ext>
            </a:extLst>
          </p:cNvPr>
          <p:cNvSpPr>
            <a:spLocks noGrp="1"/>
          </p:cNvSpPr>
          <p:nvPr/>
        </p:nvSpPr>
        <p:spPr>
          <a:xfrm>
            <a:off x="609600" y="4686300"/>
            <a:ext cx="3333750" cy="857250"/>
          </a:xfrm>
          <a:prstGeom prst="rect">
            <a:avLst/>
          </a:prstGeom>
        </p:spPr>
        <p:txBody>
          <a:bodyPr wrap="square" lIns="0" tIns="0" rIns="0" bIns="0" anchor="t"/>
          <a:lstStyle/>
          <a:p>
            <a:pPr>
              <a:defRPr sz="1725" b="0">
                <a:solidFill>
                  <a:srgbClr val="546573"/>
                </a:solidFill>
                <a:latin typeface="Arial"/>
                <a:ea typeface="Arial"/>
                <a:cs typeface="Arial"/>
              </a:defRPr>
            </a:pPr>
            <a:r>
              <a:t>Ravi Menon</a:t>
            </a:r>
          </a:p>
          <a:p>
            <a:pPr>
              <a:defRPr sz="1725" b="0">
                <a:solidFill>
                  <a:srgbClr val="546573"/>
                </a:solidFill>
                <a:latin typeface="Arial"/>
                <a:ea typeface="Arial"/>
                <a:cs typeface="Arial"/>
              </a:defRPr>
            </a:pPr>
            <a:r>
              <a:t>Platform lead at a client</a:t>
            </a:r>
          </a:p>
        </p:txBody>
      </p:sp>
      <p:sp>
        <p:nvSpPr>
          <p:cNvPr id="9" name="text-8">
            <a:extLst>
              <a:ext uri="{FF2B5EF4-FFF2-40B4-BE49-F238E27FC236}">
                <a16:creationId xmlns:a16="http://schemas.microsoft.com/office/drawing/2014/main" id="{E8225F81-46CE-42E4-9CD9-62D19EFDF82F}"/>
              </a:ext>
            </a:extLst>
          </p:cNvPr>
          <p:cNvSpPr>
            <a:spLocks noGrp="1"/>
          </p:cNvSpPr>
          <p:nvPr/>
        </p:nvSpPr>
        <p:spPr>
          <a:xfrm>
            <a:off x="4600575" y="2009775"/>
            <a:ext cx="6810375" cy="228600"/>
          </a:xfrm>
          <a:prstGeom prst="rect">
            <a:avLst/>
          </a:prstGeom>
        </p:spPr>
        <p:txBody>
          <a:bodyPr wrap="square" lIns="0" tIns="0" rIns="0" bIns="0" anchor="t"/>
          <a:lstStyle/>
          <a:p>
            <a:pPr>
              <a:defRPr sz="975" b="1">
                <a:solidFill>
                  <a:srgbClr val="00766B"/>
                </a:solidFill>
                <a:latin typeface="Arial"/>
                <a:ea typeface="Arial"/>
                <a:cs typeface="Arial"/>
              </a:defRPr>
            </a:pPr>
            <a:r>
              <a:t>A BLOCKED DEPLOYMENT STOPS DELIVERY</a:t>
            </a:r>
          </a:p>
        </p:txBody>
      </p:sp>
      <p:sp>
        <p:nvSpPr>
          <p:cNvPr id="10" name="text-9">
            <a:extLst>
              <a:ext uri="{FF2B5EF4-FFF2-40B4-BE49-F238E27FC236}">
                <a16:creationId xmlns:a16="http://schemas.microsoft.com/office/drawing/2014/main" id="{E5F2F57C-BA29-4AB7-BFE0-96498982A760}"/>
              </a:ext>
            </a:extLst>
          </p:cNvPr>
          <p:cNvSpPr>
            <a:spLocks noGrp="1"/>
          </p:cNvSpPr>
          <p:nvPr/>
        </p:nvSpPr>
        <p:spPr>
          <a:xfrm>
            <a:off x="4600575" y="2333625"/>
            <a:ext cx="6905625" cy="542925"/>
          </a:xfrm>
          <a:prstGeom prst="rect">
            <a:avLst/>
          </a:prstGeom>
        </p:spPr>
        <p:txBody>
          <a:bodyPr wrap="square" lIns="0" tIns="0" rIns="0" bIns="0" anchor="t"/>
          <a:lstStyle/>
          <a:p>
            <a:pPr>
              <a:defRPr sz="1875" b="0">
                <a:solidFill>
                  <a:srgbClr val="173047"/>
                </a:solidFill>
                <a:latin typeface="Arial"/>
                <a:ea typeface="Arial"/>
                <a:cs typeface="Arial"/>
              </a:defRPr>
            </a:pPr>
            <a:r>
              <a:t>Prioritise business impact, not simply queue age.</a:t>
            </a:r>
          </a:p>
        </p:txBody>
      </p:sp>
      <p:sp>
        <p:nvSpPr>
          <p:cNvPr id="11" name="shape-10">
            <a:extLst>
              <a:ext uri="{FF2B5EF4-FFF2-40B4-BE49-F238E27FC236}">
                <a16:creationId xmlns:a16="http://schemas.microsoft.com/office/drawing/2014/main" id="{BBD64C7E-1722-462C-9C8E-DC973FC6F577}"/>
              </a:ext>
            </a:extLst>
          </p:cNvPr>
          <p:cNvSpPr>
            <a:spLocks noGrp="1"/>
          </p:cNvSpPr>
          <p:nvPr/>
        </p:nvSpPr>
        <p:spPr>
          <a:xfrm>
            <a:off x="4600575" y="2876550"/>
            <a:ext cx="6905625" cy="9525"/>
          </a:xfrm>
          <a:prstGeom prst="rect">
            <a:avLst/>
          </a:prstGeom>
          <a:solidFill>
            <a:srgbClr val="CDD3D2"/>
          </a:solidFill>
        </p:spPr>
      </p:sp>
      <p:sp>
        <p:nvSpPr>
          <p:cNvPr id="12" name="text-11">
            <a:extLst>
              <a:ext uri="{FF2B5EF4-FFF2-40B4-BE49-F238E27FC236}">
                <a16:creationId xmlns:a16="http://schemas.microsoft.com/office/drawing/2014/main" id="{6D5FB776-BCC4-4796-ACB0-AAE76E19E25B}"/>
              </a:ext>
            </a:extLst>
          </p:cNvPr>
          <p:cNvSpPr>
            <a:spLocks noGrp="1"/>
          </p:cNvSpPr>
          <p:nvPr/>
        </p:nvSpPr>
        <p:spPr>
          <a:xfrm>
            <a:off x="4600575" y="2990850"/>
            <a:ext cx="6810375" cy="228600"/>
          </a:xfrm>
          <a:prstGeom prst="rect">
            <a:avLst/>
          </a:prstGeom>
        </p:spPr>
        <p:txBody>
          <a:bodyPr wrap="square" lIns="0" tIns="0" rIns="0" bIns="0" anchor="t"/>
          <a:lstStyle/>
          <a:p>
            <a:pPr>
              <a:defRPr sz="975" b="1">
                <a:solidFill>
                  <a:srgbClr val="00766B"/>
                </a:solidFill>
                <a:latin typeface="Arial"/>
                <a:ea typeface="Arial"/>
                <a:cs typeface="Arial"/>
              </a:defRPr>
            </a:pPr>
            <a:r>
              <a:t>A SOURCED AI ANSWER CAN BE USEFUL</a:t>
            </a:r>
          </a:p>
        </p:txBody>
      </p:sp>
      <p:sp>
        <p:nvSpPr>
          <p:cNvPr id="13" name="text-12">
            <a:extLst>
              <a:ext uri="{FF2B5EF4-FFF2-40B4-BE49-F238E27FC236}">
                <a16:creationId xmlns:a16="http://schemas.microsoft.com/office/drawing/2014/main" id="{1ED83A6B-DF02-4C6B-A210-27E7FDB27CD1}"/>
              </a:ext>
            </a:extLst>
          </p:cNvPr>
          <p:cNvSpPr>
            <a:spLocks noGrp="1"/>
          </p:cNvSpPr>
          <p:nvPr/>
        </p:nvSpPr>
        <p:spPr>
          <a:xfrm>
            <a:off x="4600575" y="3314700"/>
            <a:ext cx="6905625" cy="542925"/>
          </a:xfrm>
          <a:prstGeom prst="rect">
            <a:avLst/>
          </a:prstGeom>
        </p:spPr>
        <p:txBody>
          <a:bodyPr wrap="square" lIns="0" tIns="0" rIns="0" bIns="0" anchor="t"/>
          <a:lstStyle/>
          <a:p>
            <a:pPr>
              <a:defRPr sz="1875" b="0">
                <a:solidFill>
                  <a:srgbClr val="173047"/>
                </a:solidFill>
                <a:latin typeface="Arial"/>
                <a:ea typeface="Arial"/>
                <a:cs typeface="Arial"/>
              </a:defRPr>
            </a:pPr>
            <a:r>
              <a:t>Disclose AI assistance and show relevant sources.</a:t>
            </a:r>
          </a:p>
        </p:txBody>
      </p:sp>
      <p:sp>
        <p:nvSpPr>
          <p:cNvPr id="14" name="shape-13">
            <a:extLst>
              <a:ext uri="{FF2B5EF4-FFF2-40B4-BE49-F238E27FC236}">
                <a16:creationId xmlns:a16="http://schemas.microsoft.com/office/drawing/2014/main" id="{D3576159-7F18-4914-8495-DD0B366C8484}"/>
              </a:ext>
            </a:extLst>
          </p:cNvPr>
          <p:cNvSpPr>
            <a:spLocks noGrp="1"/>
          </p:cNvSpPr>
          <p:nvPr/>
        </p:nvSpPr>
        <p:spPr>
          <a:xfrm>
            <a:off x="4600575" y="3857625"/>
            <a:ext cx="6905625" cy="9525"/>
          </a:xfrm>
          <a:prstGeom prst="rect">
            <a:avLst/>
          </a:prstGeom>
          <a:solidFill>
            <a:srgbClr val="CDD3D2"/>
          </a:solidFill>
        </p:spPr>
      </p:sp>
      <p:sp>
        <p:nvSpPr>
          <p:cNvPr id="15" name="text-14">
            <a:extLst>
              <a:ext uri="{FF2B5EF4-FFF2-40B4-BE49-F238E27FC236}">
                <a16:creationId xmlns:a16="http://schemas.microsoft.com/office/drawing/2014/main" id="{8893A503-50C0-4BBC-9150-E5562E34B48C}"/>
              </a:ext>
            </a:extLst>
          </p:cNvPr>
          <p:cNvSpPr>
            <a:spLocks noGrp="1"/>
          </p:cNvSpPr>
          <p:nvPr/>
        </p:nvSpPr>
        <p:spPr>
          <a:xfrm>
            <a:off x="4600575" y="3971925"/>
            <a:ext cx="6810375" cy="228600"/>
          </a:xfrm>
          <a:prstGeom prst="rect">
            <a:avLst/>
          </a:prstGeom>
        </p:spPr>
        <p:txBody>
          <a:bodyPr wrap="square" lIns="0" tIns="0" rIns="0" bIns="0" anchor="t"/>
          <a:lstStyle/>
          <a:p>
            <a:pPr>
              <a:defRPr sz="975" b="1">
                <a:solidFill>
                  <a:srgbClr val="00766B"/>
                </a:solidFill>
                <a:latin typeface="Arial"/>
                <a:ea typeface="Arial"/>
                <a:cs typeface="Arial"/>
              </a:defRPr>
            </a:pPr>
            <a:r>
              <a:t>WRONG CERTAINTY DAMAGES TRUST</a:t>
            </a:r>
          </a:p>
        </p:txBody>
      </p:sp>
      <p:sp>
        <p:nvSpPr>
          <p:cNvPr id="16" name="text-15">
            <a:extLst>
              <a:ext uri="{FF2B5EF4-FFF2-40B4-BE49-F238E27FC236}">
                <a16:creationId xmlns:a16="http://schemas.microsoft.com/office/drawing/2014/main" id="{0DA24876-07F2-405D-943C-5722E49DC6E3}"/>
              </a:ext>
            </a:extLst>
          </p:cNvPr>
          <p:cNvSpPr>
            <a:spLocks noGrp="1"/>
          </p:cNvSpPr>
          <p:nvPr/>
        </p:nvSpPr>
        <p:spPr>
          <a:xfrm>
            <a:off x="4600575" y="4295775"/>
            <a:ext cx="6905625" cy="542925"/>
          </a:xfrm>
          <a:prstGeom prst="rect">
            <a:avLst/>
          </a:prstGeom>
        </p:spPr>
        <p:txBody>
          <a:bodyPr wrap="square" lIns="0" tIns="0" rIns="0" bIns="0" anchor="t"/>
          <a:lstStyle/>
          <a:p>
            <a:pPr>
              <a:defRPr sz="1875" b="0">
                <a:solidFill>
                  <a:srgbClr val="173047"/>
                </a:solidFill>
                <a:latin typeface="Arial"/>
                <a:ea typeface="Arial"/>
                <a:cs typeface="Arial"/>
              </a:defRPr>
            </a:pPr>
            <a:r>
              <a:t>Offer an explicit route to a human.</a:t>
            </a:r>
          </a:p>
        </p:txBody>
      </p:sp>
      <p:sp>
        <p:nvSpPr>
          <p:cNvPr id="17" name="shape-16">
            <a:extLst>
              <a:ext uri="{FF2B5EF4-FFF2-40B4-BE49-F238E27FC236}">
                <a16:creationId xmlns:a16="http://schemas.microsoft.com/office/drawing/2014/main" id="{06458F30-B4DB-4A93-B421-B3E87E428ACA}"/>
              </a:ext>
            </a:extLst>
          </p:cNvPr>
          <p:cNvSpPr>
            <a:spLocks noGrp="1"/>
          </p:cNvSpPr>
          <p:nvPr/>
        </p:nvSpPr>
        <p:spPr>
          <a:xfrm>
            <a:off x="4600575" y="4838700"/>
            <a:ext cx="6905625" cy="9525"/>
          </a:xfrm>
          <a:prstGeom prst="rect">
            <a:avLst/>
          </a:prstGeom>
          <a:solidFill>
            <a:srgbClr val="CDD3D2"/>
          </a:solidFill>
        </p:spPr>
      </p:sp>
      <p:sp>
        <p:nvSpPr>
          <p:cNvPr id="18" name="text-17">
            <a:extLst>
              <a:ext uri="{FF2B5EF4-FFF2-40B4-BE49-F238E27FC236}">
                <a16:creationId xmlns:a16="http://schemas.microsoft.com/office/drawing/2014/main" id="{DD2846E0-A366-46EF-BB12-0C1DD6C769BB}"/>
              </a:ext>
            </a:extLst>
          </p:cNvPr>
          <p:cNvSpPr>
            <a:spLocks noGrp="1"/>
          </p:cNvSpPr>
          <p:nvPr/>
        </p:nvSpPr>
        <p:spPr>
          <a:xfrm>
            <a:off x="4600575" y="4953000"/>
            <a:ext cx="6810375" cy="228600"/>
          </a:xfrm>
          <a:prstGeom prst="rect">
            <a:avLst/>
          </a:prstGeom>
        </p:spPr>
        <p:txBody>
          <a:bodyPr wrap="square" lIns="0" tIns="0" rIns="0" bIns="0" anchor="t"/>
          <a:lstStyle/>
          <a:p>
            <a:pPr>
              <a:defRPr sz="975" b="1">
                <a:solidFill>
                  <a:srgbClr val="00766B"/>
                </a:solidFill>
                <a:latin typeface="Arial"/>
                <a:ea typeface="Arial"/>
                <a:cs typeface="Arial"/>
              </a:defRPr>
            </a:pPr>
            <a:r>
              <a:t>SERVICE TIERS ALREADY FEEL UNEQUAL</a:t>
            </a:r>
          </a:p>
        </p:txBody>
      </p:sp>
      <p:sp>
        <p:nvSpPr>
          <p:cNvPr id="19" name="text-18">
            <a:extLst>
              <a:ext uri="{FF2B5EF4-FFF2-40B4-BE49-F238E27FC236}">
                <a16:creationId xmlns:a16="http://schemas.microsoft.com/office/drawing/2014/main" id="{2EDC91D7-B82F-411B-AC36-66A34D6FCD74}"/>
              </a:ext>
            </a:extLst>
          </p:cNvPr>
          <p:cNvSpPr>
            <a:spLocks noGrp="1"/>
          </p:cNvSpPr>
          <p:nvPr/>
        </p:nvSpPr>
        <p:spPr>
          <a:xfrm>
            <a:off x="4600575" y="5276850"/>
            <a:ext cx="6905625" cy="542925"/>
          </a:xfrm>
          <a:prstGeom prst="rect">
            <a:avLst/>
          </a:prstGeom>
        </p:spPr>
        <p:txBody>
          <a:bodyPr wrap="square" lIns="0" tIns="0" rIns="0" bIns="0" anchor="t"/>
          <a:lstStyle/>
          <a:p>
            <a:pPr>
              <a:defRPr sz="1875" b="0">
                <a:solidFill>
                  <a:srgbClr val="173047"/>
                </a:solidFill>
                <a:latin typeface="Arial"/>
                <a:ea typeface="Arial"/>
                <a:cs typeface="Arial"/>
              </a:defRPr>
            </a:pPr>
            <a:r>
              <a:t>Review quality across tiers and language fluency.</a:t>
            </a:r>
          </a:p>
        </p:txBody>
      </p:sp>
      <p:sp>
        <p:nvSpPr>
          <p:cNvPr id="20" name="shape-19">
            <a:extLst>
              <a:ext uri="{FF2B5EF4-FFF2-40B4-BE49-F238E27FC236}">
                <a16:creationId xmlns:a16="http://schemas.microsoft.com/office/drawing/2014/main" id="{31D4FEB7-7A3E-4C02-8044-CE4861125BB7}"/>
              </a:ext>
            </a:extLst>
          </p:cNvPr>
          <p:cNvSpPr>
            <a:spLocks noGrp="1"/>
          </p:cNvSpPr>
          <p:nvPr/>
        </p:nvSpPr>
        <p:spPr>
          <a:xfrm>
            <a:off x="4600575" y="5819775"/>
            <a:ext cx="6905625" cy="9525"/>
          </a:xfrm>
          <a:prstGeom prst="rect">
            <a:avLst/>
          </a:prstGeom>
          <a:solidFill>
            <a:srgbClr val="CDD3D2"/>
          </a:solidFill>
        </p:spPr>
      </p:sp>
    </p:spTree>
    <p:extLst>
      <p:ext uri="{BB962C8B-B14F-4D97-AF65-F5344CB8AC3E}">
        <p14:creationId xmlns:p14="http://schemas.microsoft.com/office/powerpoint/2010/main" val="1538145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8" name="kicker-marker">
            <a:extLst>
              <a:ext uri="{FF2B5EF4-FFF2-40B4-BE49-F238E27FC236}">
                <a16:creationId xmlns:a16="http://schemas.microsoft.com/office/drawing/2014/main" id="{9DD81E16-3D52-4C41-9D17-801F74BF5E39}"/>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788FF5D3-95D5-4966-B812-C53A527EE788}"/>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DISCOVERY EVIDENCE</a:t>
            </a:r>
          </a:p>
        </p:txBody>
      </p:sp>
      <p:sp>
        <p:nvSpPr>
          <p:cNvPr id="3" name="text-2">
            <a:extLst>
              <a:ext uri="{FF2B5EF4-FFF2-40B4-BE49-F238E27FC236}">
                <a16:creationId xmlns:a16="http://schemas.microsoft.com/office/drawing/2014/main" id="{190A61EE-CF3F-4AB1-A341-726FCD9CBCA1}"/>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Knowledge coverage is larger than</a:t>
            </a:r>
          </a:p>
          <a:p>
            <a:pPr>
              <a:defRPr sz="3150" b="0">
                <a:solidFill>
                  <a:srgbClr val="173047"/>
                </a:solidFill>
                <a:latin typeface="Georgia"/>
                <a:ea typeface="Georgia"/>
                <a:cs typeface="Georgia"/>
              </a:defRPr>
            </a:pPr>
            <a:r>
              <a:t>the safe automation opportunity</a:t>
            </a:r>
          </a:p>
        </p:txBody>
      </p:sp>
      <p:sp>
        <p:nvSpPr>
          <p:cNvPr id="4" name="shape-3">
            <a:extLst>
              <a:ext uri="{FF2B5EF4-FFF2-40B4-BE49-F238E27FC236}">
                <a16:creationId xmlns:a16="http://schemas.microsoft.com/office/drawing/2014/main" id="{46BE31A4-2F2D-436A-9DD4-039289099E9D}"/>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0EDDD645-AE87-4534-BD8D-BABE45A50E6A}"/>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data/development_tickets.json · 500 supplied development records; labels are evaluation evidence only</a:t>
            </a:r>
          </a:p>
        </p:txBody>
      </p:sp>
      <p:sp>
        <p:nvSpPr>
          <p:cNvPr id="6" name="text-5">
            <a:extLst>
              <a:ext uri="{FF2B5EF4-FFF2-40B4-BE49-F238E27FC236}">
                <a16:creationId xmlns:a16="http://schemas.microsoft.com/office/drawing/2014/main" id="{E436EA26-2534-4E22-831E-ED5959EFF05B}"/>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07</a:t>
            </a:r>
          </a:p>
        </p:txBody>
      </p:sp>
      <p:sp>
        <p:nvSpPr>
          <p:cNvPr id="7" name="text-6">
            <a:extLst>
              <a:ext uri="{FF2B5EF4-FFF2-40B4-BE49-F238E27FC236}">
                <a16:creationId xmlns:a16="http://schemas.microsoft.com/office/drawing/2014/main" id="{E4746502-CB50-487F-AFB9-396E2DFBBAAA}"/>
              </a:ext>
            </a:extLst>
          </p:cNvPr>
          <p:cNvSpPr>
            <a:spLocks noGrp="1"/>
          </p:cNvSpPr>
          <p:nvPr/>
        </p:nvSpPr>
        <p:spPr>
          <a:xfrm>
            <a:off x="609600" y="2076450"/>
            <a:ext cx="3276600" cy="533400"/>
          </a:xfrm>
          <a:prstGeom prst="rect">
            <a:avLst/>
          </a:prstGeom>
        </p:spPr>
        <p:txBody>
          <a:bodyPr wrap="square" lIns="0" tIns="0" rIns="0" bIns="0" anchor="t"/>
          <a:lstStyle/>
          <a:p>
            <a:pPr>
              <a:defRPr sz="1725" b="0">
                <a:solidFill>
                  <a:srgbClr val="173047"/>
                </a:solidFill>
                <a:latin typeface="Arial"/>
                <a:ea typeface="Arial"/>
                <a:cs typeface="Arial"/>
              </a:defRPr>
            </a:pPr>
            <a:r>
              <a:t>Answerable from the KB</a:t>
            </a:r>
          </a:p>
        </p:txBody>
      </p:sp>
      <p:sp>
        <p:nvSpPr>
          <p:cNvPr id="8" name="shape-7">
            <a:extLst>
              <a:ext uri="{FF2B5EF4-FFF2-40B4-BE49-F238E27FC236}">
                <a16:creationId xmlns:a16="http://schemas.microsoft.com/office/drawing/2014/main" id="{BD0162FC-C5FC-449F-B419-F12D4A346567}"/>
              </a:ext>
            </a:extLst>
          </p:cNvPr>
          <p:cNvSpPr>
            <a:spLocks noGrp="1"/>
          </p:cNvSpPr>
          <p:nvPr/>
        </p:nvSpPr>
        <p:spPr>
          <a:xfrm>
            <a:off x="4038600" y="2105025"/>
            <a:ext cx="5905500" cy="276225"/>
          </a:xfrm>
          <a:prstGeom prst="rect">
            <a:avLst/>
          </a:prstGeom>
          <a:solidFill>
            <a:srgbClr val="E3ECE8"/>
          </a:solidFill>
        </p:spPr>
      </p:sp>
      <p:sp>
        <p:nvSpPr>
          <p:cNvPr id="9" name="shape-8">
            <a:extLst>
              <a:ext uri="{FF2B5EF4-FFF2-40B4-BE49-F238E27FC236}">
                <a16:creationId xmlns:a16="http://schemas.microsoft.com/office/drawing/2014/main" id="{82F97143-ACFD-482F-9009-9D2AC51569E0}"/>
              </a:ext>
            </a:extLst>
          </p:cNvPr>
          <p:cNvSpPr>
            <a:spLocks noGrp="1"/>
          </p:cNvSpPr>
          <p:nvPr/>
        </p:nvSpPr>
        <p:spPr>
          <a:xfrm>
            <a:off x="4038600" y="2105025"/>
            <a:ext cx="4216527" cy="276225"/>
          </a:xfrm>
          <a:prstGeom prst="rect">
            <a:avLst/>
          </a:prstGeom>
          <a:solidFill>
            <a:srgbClr val="00766B"/>
          </a:solidFill>
        </p:spPr>
      </p:sp>
      <p:sp>
        <p:nvSpPr>
          <p:cNvPr id="10" name="text-9">
            <a:extLst>
              <a:ext uri="{FF2B5EF4-FFF2-40B4-BE49-F238E27FC236}">
                <a16:creationId xmlns:a16="http://schemas.microsoft.com/office/drawing/2014/main" id="{FED2B79B-107B-4056-A5CC-2043C7E8A3FD}"/>
              </a:ext>
            </a:extLst>
          </p:cNvPr>
          <p:cNvSpPr>
            <a:spLocks noGrp="1"/>
          </p:cNvSpPr>
          <p:nvPr/>
        </p:nvSpPr>
        <p:spPr>
          <a:xfrm>
            <a:off x="10125075" y="2000250"/>
            <a:ext cx="1428750" cy="447675"/>
          </a:xfrm>
          <a:prstGeom prst="rect">
            <a:avLst/>
          </a:prstGeom>
        </p:spPr>
        <p:txBody>
          <a:bodyPr wrap="square" lIns="0" tIns="0" rIns="0" bIns="0" anchor="t"/>
          <a:lstStyle/>
          <a:p>
            <a:pPr>
              <a:defRPr sz="2325" b="0">
                <a:solidFill>
                  <a:srgbClr val="173047"/>
                </a:solidFill>
                <a:latin typeface="Georgia"/>
                <a:ea typeface="Georgia"/>
                <a:cs typeface="Georgia"/>
              </a:defRPr>
            </a:pPr>
            <a:r>
              <a:t>71.4%</a:t>
            </a:r>
          </a:p>
        </p:txBody>
      </p:sp>
      <p:sp>
        <p:nvSpPr>
          <p:cNvPr id="11" name="text-10">
            <a:extLst>
              <a:ext uri="{FF2B5EF4-FFF2-40B4-BE49-F238E27FC236}">
                <a16:creationId xmlns:a16="http://schemas.microsoft.com/office/drawing/2014/main" id="{465F7A03-E267-406D-9208-008512B15674}"/>
              </a:ext>
            </a:extLst>
          </p:cNvPr>
          <p:cNvSpPr>
            <a:spLocks noGrp="1"/>
          </p:cNvSpPr>
          <p:nvPr/>
        </p:nvSpPr>
        <p:spPr>
          <a:xfrm>
            <a:off x="4038600" y="2457450"/>
            <a:ext cx="3810000" cy="247650"/>
          </a:xfrm>
          <a:prstGeom prst="rect">
            <a:avLst/>
          </a:prstGeom>
        </p:spPr>
        <p:txBody>
          <a:bodyPr wrap="square" lIns="0" tIns="0" rIns="0" bIns="0" anchor="t"/>
          <a:lstStyle/>
          <a:p>
            <a:pPr>
              <a:defRPr sz="1275" b="0">
                <a:solidFill>
                  <a:srgbClr val="546573"/>
                </a:solidFill>
                <a:latin typeface="Arial"/>
                <a:ea typeface="Arial"/>
                <a:cs typeface="Arial"/>
              </a:defRPr>
            </a:pPr>
            <a:r>
              <a:t>357 / 500</a:t>
            </a:r>
          </a:p>
        </p:txBody>
      </p:sp>
      <p:sp>
        <p:nvSpPr>
          <p:cNvPr id="12" name="text-11">
            <a:extLst>
              <a:ext uri="{FF2B5EF4-FFF2-40B4-BE49-F238E27FC236}">
                <a16:creationId xmlns:a16="http://schemas.microsoft.com/office/drawing/2014/main" id="{15EDAD77-9868-4D30-9406-1EA8ED81B1D6}"/>
              </a:ext>
            </a:extLst>
          </p:cNvPr>
          <p:cNvSpPr>
            <a:spLocks noGrp="1"/>
          </p:cNvSpPr>
          <p:nvPr/>
        </p:nvSpPr>
        <p:spPr>
          <a:xfrm>
            <a:off x="609600" y="2952750"/>
            <a:ext cx="3276600" cy="533400"/>
          </a:xfrm>
          <a:prstGeom prst="rect">
            <a:avLst/>
          </a:prstGeom>
        </p:spPr>
        <p:txBody>
          <a:bodyPr wrap="square" lIns="0" tIns="0" rIns="0" bIns="0" anchor="t"/>
          <a:lstStyle/>
          <a:p>
            <a:pPr>
              <a:defRPr sz="1725" b="0">
                <a:solidFill>
                  <a:srgbClr val="173047"/>
                </a:solidFill>
                <a:latin typeface="Arial"/>
                <a:ea typeface="Arial"/>
                <a:cs typeface="Arial"/>
              </a:defRPr>
            </a:pPr>
            <a:r>
              <a:t>Expected auto-response</a:t>
            </a:r>
          </a:p>
        </p:txBody>
      </p:sp>
      <p:sp>
        <p:nvSpPr>
          <p:cNvPr id="13" name="shape-12">
            <a:extLst>
              <a:ext uri="{FF2B5EF4-FFF2-40B4-BE49-F238E27FC236}">
                <a16:creationId xmlns:a16="http://schemas.microsoft.com/office/drawing/2014/main" id="{B0383B2E-A990-4193-BDFA-54BAD004B990}"/>
              </a:ext>
            </a:extLst>
          </p:cNvPr>
          <p:cNvSpPr>
            <a:spLocks noGrp="1"/>
          </p:cNvSpPr>
          <p:nvPr/>
        </p:nvSpPr>
        <p:spPr>
          <a:xfrm>
            <a:off x="4038600" y="2981325"/>
            <a:ext cx="5905500" cy="276225"/>
          </a:xfrm>
          <a:prstGeom prst="rect">
            <a:avLst/>
          </a:prstGeom>
          <a:solidFill>
            <a:srgbClr val="E3ECE8"/>
          </a:solidFill>
        </p:spPr>
      </p:sp>
      <p:sp>
        <p:nvSpPr>
          <p:cNvPr id="14" name="shape-13">
            <a:extLst>
              <a:ext uri="{FF2B5EF4-FFF2-40B4-BE49-F238E27FC236}">
                <a16:creationId xmlns:a16="http://schemas.microsoft.com/office/drawing/2014/main" id="{E4BFE45A-8E35-4AF5-A58C-97A15E347F53}"/>
              </a:ext>
            </a:extLst>
          </p:cNvPr>
          <p:cNvSpPr>
            <a:spLocks noGrp="1"/>
          </p:cNvSpPr>
          <p:nvPr/>
        </p:nvSpPr>
        <p:spPr>
          <a:xfrm>
            <a:off x="4038600" y="2981325"/>
            <a:ext cx="3673221" cy="276225"/>
          </a:xfrm>
          <a:prstGeom prst="rect">
            <a:avLst/>
          </a:prstGeom>
          <a:solidFill>
            <a:srgbClr val="00766B"/>
          </a:solidFill>
        </p:spPr>
      </p:sp>
      <p:sp>
        <p:nvSpPr>
          <p:cNvPr id="15" name="text-14">
            <a:extLst>
              <a:ext uri="{FF2B5EF4-FFF2-40B4-BE49-F238E27FC236}">
                <a16:creationId xmlns:a16="http://schemas.microsoft.com/office/drawing/2014/main" id="{8D56442A-DF59-4C28-8D11-F9BCBFFE5636}"/>
              </a:ext>
            </a:extLst>
          </p:cNvPr>
          <p:cNvSpPr>
            <a:spLocks noGrp="1"/>
          </p:cNvSpPr>
          <p:nvPr/>
        </p:nvSpPr>
        <p:spPr>
          <a:xfrm>
            <a:off x="10125075" y="2876550"/>
            <a:ext cx="1428750" cy="447675"/>
          </a:xfrm>
          <a:prstGeom prst="rect">
            <a:avLst/>
          </a:prstGeom>
        </p:spPr>
        <p:txBody>
          <a:bodyPr wrap="square" lIns="0" tIns="0" rIns="0" bIns="0" anchor="t"/>
          <a:lstStyle/>
          <a:p>
            <a:pPr>
              <a:defRPr sz="2325" b="0">
                <a:solidFill>
                  <a:srgbClr val="173047"/>
                </a:solidFill>
                <a:latin typeface="Georgia"/>
                <a:ea typeface="Georgia"/>
                <a:cs typeface="Georgia"/>
              </a:defRPr>
            </a:pPr>
            <a:r>
              <a:t>62.2%</a:t>
            </a:r>
          </a:p>
        </p:txBody>
      </p:sp>
      <p:sp>
        <p:nvSpPr>
          <p:cNvPr id="16" name="text-15">
            <a:extLst>
              <a:ext uri="{FF2B5EF4-FFF2-40B4-BE49-F238E27FC236}">
                <a16:creationId xmlns:a16="http://schemas.microsoft.com/office/drawing/2014/main" id="{0E797D1B-BD40-4E3A-83FD-2C3DE70E6715}"/>
              </a:ext>
            </a:extLst>
          </p:cNvPr>
          <p:cNvSpPr>
            <a:spLocks noGrp="1"/>
          </p:cNvSpPr>
          <p:nvPr/>
        </p:nvSpPr>
        <p:spPr>
          <a:xfrm>
            <a:off x="4038600" y="3333750"/>
            <a:ext cx="3810000" cy="247650"/>
          </a:xfrm>
          <a:prstGeom prst="rect">
            <a:avLst/>
          </a:prstGeom>
        </p:spPr>
        <p:txBody>
          <a:bodyPr wrap="square" lIns="0" tIns="0" rIns="0" bIns="0" anchor="t"/>
          <a:lstStyle/>
          <a:p>
            <a:pPr>
              <a:defRPr sz="1275" b="0">
                <a:solidFill>
                  <a:srgbClr val="546573"/>
                </a:solidFill>
                <a:latin typeface="Arial"/>
                <a:ea typeface="Arial"/>
                <a:cs typeface="Arial"/>
              </a:defRPr>
            </a:pPr>
            <a:r>
              <a:t>311 / 500</a:t>
            </a:r>
          </a:p>
        </p:txBody>
      </p:sp>
      <p:sp>
        <p:nvSpPr>
          <p:cNvPr id="17" name="text-16">
            <a:extLst>
              <a:ext uri="{FF2B5EF4-FFF2-40B4-BE49-F238E27FC236}">
                <a16:creationId xmlns:a16="http://schemas.microsoft.com/office/drawing/2014/main" id="{75F4A1D2-D596-41D9-80B7-DAD074AB9ACC}"/>
              </a:ext>
            </a:extLst>
          </p:cNvPr>
          <p:cNvSpPr>
            <a:spLocks noGrp="1"/>
          </p:cNvSpPr>
          <p:nvPr/>
        </p:nvSpPr>
        <p:spPr>
          <a:xfrm>
            <a:off x="609600" y="3829050"/>
            <a:ext cx="3276600" cy="533400"/>
          </a:xfrm>
          <a:prstGeom prst="rect">
            <a:avLst/>
          </a:prstGeom>
        </p:spPr>
        <p:txBody>
          <a:bodyPr wrap="square" lIns="0" tIns="0" rIns="0" bIns="0" anchor="t"/>
          <a:lstStyle/>
          <a:p>
            <a:pPr>
              <a:defRPr sz="1725" b="0">
                <a:solidFill>
                  <a:srgbClr val="173047"/>
                </a:solidFill>
                <a:latin typeface="Arial"/>
                <a:ea typeface="Arial"/>
                <a:cs typeface="Arial"/>
              </a:defRPr>
            </a:pPr>
            <a:r>
              <a:t>Expected escalation</a:t>
            </a:r>
          </a:p>
        </p:txBody>
      </p:sp>
      <p:sp>
        <p:nvSpPr>
          <p:cNvPr id="18" name="shape-17">
            <a:extLst>
              <a:ext uri="{FF2B5EF4-FFF2-40B4-BE49-F238E27FC236}">
                <a16:creationId xmlns:a16="http://schemas.microsoft.com/office/drawing/2014/main" id="{A46B68E5-D671-49B1-8154-13CEC934CB01}"/>
              </a:ext>
            </a:extLst>
          </p:cNvPr>
          <p:cNvSpPr>
            <a:spLocks noGrp="1"/>
          </p:cNvSpPr>
          <p:nvPr/>
        </p:nvSpPr>
        <p:spPr>
          <a:xfrm>
            <a:off x="4038600" y="3857625"/>
            <a:ext cx="5905500" cy="276225"/>
          </a:xfrm>
          <a:prstGeom prst="rect">
            <a:avLst/>
          </a:prstGeom>
          <a:solidFill>
            <a:srgbClr val="E3ECE8"/>
          </a:solidFill>
        </p:spPr>
      </p:sp>
      <p:sp>
        <p:nvSpPr>
          <p:cNvPr id="19" name="shape-18">
            <a:extLst>
              <a:ext uri="{FF2B5EF4-FFF2-40B4-BE49-F238E27FC236}">
                <a16:creationId xmlns:a16="http://schemas.microsoft.com/office/drawing/2014/main" id="{139FEDFC-3D62-4127-83B3-6F9FB2C078FC}"/>
              </a:ext>
            </a:extLst>
          </p:cNvPr>
          <p:cNvSpPr>
            <a:spLocks noGrp="1"/>
          </p:cNvSpPr>
          <p:nvPr/>
        </p:nvSpPr>
        <p:spPr>
          <a:xfrm>
            <a:off x="4038600" y="3857625"/>
            <a:ext cx="2232279" cy="276225"/>
          </a:xfrm>
          <a:prstGeom prst="rect">
            <a:avLst/>
          </a:prstGeom>
          <a:solidFill>
            <a:srgbClr val="B87522"/>
          </a:solidFill>
        </p:spPr>
      </p:sp>
      <p:sp>
        <p:nvSpPr>
          <p:cNvPr id="20" name="text-19">
            <a:extLst>
              <a:ext uri="{FF2B5EF4-FFF2-40B4-BE49-F238E27FC236}">
                <a16:creationId xmlns:a16="http://schemas.microsoft.com/office/drawing/2014/main" id="{3897AFC0-1246-4FD0-A1EF-F5693EF6683D}"/>
              </a:ext>
            </a:extLst>
          </p:cNvPr>
          <p:cNvSpPr>
            <a:spLocks noGrp="1"/>
          </p:cNvSpPr>
          <p:nvPr/>
        </p:nvSpPr>
        <p:spPr>
          <a:xfrm>
            <a:off x="10125075" y="3752850"/>
            <a:ext cx="1428750" cy="447675"/>
          </a:xfrm>
          <a:prstGeom prst="rect">
            <a:avLst/>
          </a:prstGeom>
        </p:spPr>
        <p:txBody>
          <a:bodyPr wrap="square" lIns="0" tIns="0" rIns="0" bIns="0" anchor="t"/>
          <a:lstStyle/>
          <a:p>
            <a:pPr>
              <a:defRPr sz="2325" b="0">
                <a:solidFill>
                  <a:srgbClr val="173047"/>
                </a:solidFill>
                <a:latin typeface="Georgia"/>
                <a:ea typeface="Georgia"/>
                <a:cs typeface="Georgia"/>
              </a:defRPr>
            </a:pPr>
            <a:r>
              <a:t>37.8%</a:t>
            </a:r>
          </a:p>
        </p:txBody>
      </p:sp>
      <p:sp>
        <p:nvSpPr>
          <p:cNvPr id="21" name="text-20">
            <a:extLst>
              <a:ext uri="{FF2B5EF4-FFF2-40B4-BE49-F238E27FC236}">
                <a16:creationId xmlns:a16="http://schemas.microsoft.com/office/drawing/2014/main" id="{3B5EF586-0443-42D6-B7D1-977ECE9D3BAF}"/>
              </a:ext>
            </a:extLst>
          </p:cNvPr>
          <p:cNvSpPr>
            <a:spLocks noGrp="1"/>
          </p:cNvSpPr>
          <p:nvPr/>
        </p:nvSpPr>
        <p:spPr>
          <a:xfrm>
            <a:off x="4038600" y="4210050"/>
            <a:ext cx="3810000" cy="247650"/>
          </a:xfrm>
          <a:prstGeom prst="rect">
            <a:avLst/>
          </a:prstGeom>
        </p:spPr>
        <p:txBody>
          <a:bodyPr wrap="square" lIns="0" tIns="0" rIns="0" bIns="0" anchor="t"/>
          <a:lstStyle/>
          <a:p>
            <a:pPr>
              <a:defRPr sz="1275" b="0">
                <a:solidFill>
                  <a:srgbClr val="546573"/>
                </a:solidFill>
                <a:latin typeface="Arial"/>
                <a:ea typeface="Arial"/>
                <a:cs typeface="Arial"/>
              </a:defRPr>
            </a:pPr>
            <a:r>
              <a:t>189 / 500</a:t>
            </a:r>
          </a:p>
        </p:txBody>
      </p:sp>
      <p:sp>
        <p:nvSpPr>
          <p:cNvPr id="22" name="text-21">
            <a:extLst>
              <a:ext uri="{FF2B5EF4-FFF2-40B4-BE49-F238E27FC236}">
                <a16:creationId xmlns:a16="http://schemas.microsoft.com/office/drawing/2014/main" id="{FF7B7828-5A2C-4566-B06E-F275D7FDCB5A}"/>
              </a:ext>
            </a:extLst>
          </p:cNvPr>
          <p:cNvSpPr>
            <a:spLocks noGrp="1"/>
          </p:cNvSpPr>
          <p:nvPr/>
        </p:nvSpPr>
        <p:spPr>
          <a:xfrm>
            <a:off x="609600" y="4705350"/>
            <a:ext cx="3276600" cy="533400"/>
          </a:xfrm>
          <a:prstGeom prst="rect">
            <a:avLst/>
          </a:prstGeom>
        </p:spPr>
        <p:txBody>
          <a:bodyPr wrap="square" lIns="0" tIns="0" rIns="0" bIns="0" anchor="t"/>
          <a:lstStyle/>
          <a:p>
            <a:pPr>
              <a:defRPr sz="1725" b="0">
                <a:solidFill>
                  <a:srgbClr val="173047"/>
                </a:solidFill>
                <a:latin typeface="Arial"/>
                <a:ea typeface="Arial"/>
                <a:cs typeface="Arial"/>
              </a:defRPr>
            </a:pPr>
            <a:r>
              <a:t>Must not auto-respond</a:t>
            </a:r>
          </a:p>
        </p:txBody>
      </p:sp>
      <p:sp>
        <p:nvSpPr>
          <p:cNvPr id="23" name="shape-22">
            <a:extLst>
              <a:ext uri="{FF2B5EF4-FFF2-40B4-BE49-F238E27FC236}">
                <a16:creationId xmlns:a16="http://schemas.microsoft.com/office/drawing/2014/main" id="{B5453620-0E14-46AF-8C52-0929FADB4BC8}"/>
              </a:ext>
            </a:extLst>
          </p:cNvPr>
          <p:cNvSpPr>
            <a:spLocks noGrp="1"/>
          </p:cNvSpPr>
          <p:nvPr/>
        </p:nvSpPr>
        <p:spPr>
          <a:xfrm>
            <a:off x="4038600" y="4733925"/>
            <a:ext cx="5905500" cy="276225"/>
          </a:xfrm>
          <a:prstGeom prst="rect">
            <a:avLst/>
          </a:prstGeom>
          <a:solidFill>
            <a:srgbClr val="E3ECE8"/>
          </a:solidFill>
        </p:spPr>
      </p:sp>
      <p:sp>
        <p:nvSpPr>
          <p:cNvPr id="24" name="shape-23">
            <a:extLst>
              <a:ext uri="{FF2B5EF4-FFF2-40B4-BE49-F238E27FC236}">
                <a16:creationId xmlns:a16="http://schemas.microsoft.com/office/drawing/2014/main" id="{40715804-1217-4CD9-B24F-9CE4DE268745}"/>
              </a:ext>
            </a:extLst>
          </p:cNvPr>
          <p:cNvSpPr>
            <a:spLocks noGrp="1"/>
          </p:cNvSpPr>
          <p:nvPr/>
        </p:nvSpPr>
        <p:spPr>
          <a:xfrm>
            <a:off x="4038600" y="4733925"/>
            <a:ext cx="1027557" cy="276225"/>
          </a:xfrm>
          <a:prstGeom prst="rect">
            <a:avLst/>
          </a:prstGeom>
          <a:solidFill>
            <a:srgbClr val="B87522"/>
          </a:solidFill>
        </p:spPr>
      </p:sp>
      <p:sp>
        <p:nvSpPr>
          <p:cNvPr id="25" name="text-24">
            <a:extLst>
              <a:ext uri="{FF2B5EF4-FFF2-40B4-BE49-F238E27FC236}">
                <a16:creationId xmlns:a16="http://schemas.microsoft.com/office/drawing/2014/main" id="{0B9A2DDC-B468-431E-9D43-CA405699B937}"/>
              </a:ext>
            </a:extLst>
          </p:cNvPr>
          <p:cNvSpPr>
            <a:spLocks noGrp="1"/>
          </p:cNvSpPr>
          <p:nvPr/>
        </p:nvSpPr>
        <p:spPr>
          <a:xfrm>
            <a:off x="10125075" y="4629150"/>
            <a:ext cx="1428750" cy="447675"/>
          </a:xfrm>
          <a:prstGeom prst="rect">
            <a:avLst/>
          </a:prstGeom>
        </p:spPr>
        <p:txBody>
          <a:bodyPr wrap="square" lIns="0" tIns="0" rIns="0" bIns="0" anchor="t"/>
          <a:lstStyle/>
          <a:p>
            <a:pPr>
              <a:defRPr sz="2325" b="0">
                <a:solidFill>
                  <a:srgbClr val="173047"/>
                </a:solidFill>
                <a:latin typeface="Georgia"/>
                <a:ea typeface="Georgia"/>
                <a:cs typeface="Georgia"/>
              </a:defRPr>
            </a:pPr>
            <a:r>
              <a:t>17.4%</a:t>
            </a:r>
          </a:p>
        </p:txBody>
      </p:sp>
      <p:sp>
        <p:nvSpPr>
          <p:cNvPr id="26" name="text-25">
            <a:extLst>
              <a:ext uri="{FF2B5EF4-FFF2-40B4-BE49-F238E27FC236}">
                <a16:creationId xmlns:a16="http://schemas.microsoft.com/office/drawing/2014/main" id="{0123ADBF-3496-4816-8136-A851346F4B94}"/>
              </a:ext>
            </a:extLst>
          </p:cNvPr>
          <p:cNvSpPr>
            <a:spLocks noGrp="1"/>
          </p:cNvSpPr>
          <p:nvPr/>
        </p:nvSpPr>
        <p:spPr>
          <a:xfrm>
            <a:off x="4038600" y="5086350"/>
            <a:ext cx="3810000" cy="247650"/>
          </a:xfrm>
          <a:prstGeom prst="rect">
            <a:avLst/>
          </a:prstGeom>
        </p:spPr>
        <p:txBody>
          <a:bodyPr wrap="square" lIns="0" tIns="0" rIns="0" bIns="0" anchor="t"/>
          <a:lstStyle/>
          <a:p>
            <a:pPr>
              <a:defRPr sz="1275" b="0">
                <a:solidFill>
                  <a:srgbClr val="546573"/>
                </a:solidFill>
                <a:latin typeface="Arial"/>
                <a:ea typeface="Arial"/>
                <a:cs typeface="Arial"/>
              </a:defRPr>
            </a:pPr>
            <a:r>
              <a:t>87 / 500</a:t>
            </a:r>
          </a:p>
        </p:txBody>
      </p:sp>
      <p:sp>
        <p:nvSpPr>
          <p:cNvPr id="27" name="text-26">
            <a:extLst>
              <a:ext uri="{FF2B5EF4-FFF2-40B4-BE49-F238E27FC236}">
                <a16:creationId xmlns:a16="http://schemas.microsoft.com/office/drawing/2014/main" id="{A3D78F4A-3E0C-4BCE-9FF1-7C7168A6955C}"/>
              </a:ext>
            </a:extLst>
          </p:cNvPr>
          <p:cNvSpPr>
            <a:spLocks noGrp="1"/>
          </p:cNvSpPr>
          <p:nvPr/>
        </p:nvSpPr>
        <p:spPr>
          <a:xfrm>
            <a:off x="609600" y="5743575"/>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These groups overlap. “Answerable” does not override a risk or policy restriction.</a:t>
            </a:r>
          </a:p>
        </p:txBody>
      </p:sp>
    </p:spTree>
    <p:extLst>
      <p:ext uri="{BB962C8B-B14F-4D97-AF65-F5344CB8AC3E}">
        <p14:creationId xmlns:p14="http://schemas.microsoft.com/office/powerpoint/2010/main" val="732558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3047"/>
        </a:solidFill>
        <a:effectLst/>
      </p:bgPr>
    </p:bg>
    <p:spTree>
      <p:nvGrpSpPr>
        <p:cNvPr id="1" name=""/>
        <p:cNvGrpSpPr/>
        <p:nvPr/>
      </p:nvGrpSpPr>
      <p:grpSpPr>
        <a:xfrm>
          <a:off x="0" y="0"/>
          <a:ext cx="0" cy="0"/>
          <a:chOff x="0" y="0"/>
          <a:chExt cx="0" cy="0"/>
        </a:xfrm>
      </p:grpSpPr>
      <p:sp>
        <p:nvSpPr>
          <p:cNvPr id="21" name="kicker-marker">
            <a:extLst>
              <a:ext uri="{FF2B5EF4-FFF2-40B4-BE49-F238E27FC236}">
                <a16:creationId xmlns:a16="http://schemas.microsoft.com/office/drawing/2014/main" id="{50653268-0AC4-411D-80B9-C0577CB68D7F}"/>
              </a:ext>
            </a:extLst>
          </p:cNvPr>
          <p:cNvSpPr>
            <a:spLocks noGrp="1"/>
          </p:cNvSpPr>
          <p:nvPr/>
        </p:nvSpPr>
        <p:spPr>
          <a:xfrm>
            <a:off x="609600" y="419100"/>
            <a:ext cx="76200" cy="76200"/>
          </a:xfrm>
          <a:prstGeom prst="rect">
            <a:avLst/>
          </a:prstGeom>
          <a:solidFill>
            <a:srgbClr val="D7E6E4"/>
          </a:solidFill>
        </p:spPr>
      </p:sp>
      <p:sp>
        <p:nvSpPr>
          <p:cNvPr id="2" name="kicker-label">
            <a:extLst>
              <a:ext uri="{FF2B5EF4-FFF2-40B4-BE49-F238E27FC236}">
                <a16:creationId xmlns:a16="http://schemas.microsoft.com/office/drawing/2014/main" id="{1B6994C5-E47E-4F14-B38A-4EFC2DBBDC3D}"/>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D7E6E4"/>
                </a:solidFill>
                <a:latin typeface="Arial"/>
                <a:ea typeface="Arial"/>
                <a:cs typeface="Arial"/>
              </a:defRPr>
            </a:pPr>
            <a:r>
              <a:t>PROBLEM REFRAMING</a:t>
            </a:r>
          </a:p>
        </p:txBody>
      </p:sp>
      <p:sp>
        <p:nvSpPr>
          <p:cNvPr id="3" name="text-2">
            <a:extLst>
              <a:ext uri="{FF2B5EF4-FFF2-40B4-BE49-F238E27FC236}">
                <a16:creationId xmlns:a16="http://schemas.microsoft.com/office/drawing/2014/main" id="{06757923-44A3-4168-AC40-8FF99BEB04FA}"/>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FFFFFF"/>
                </a:solidFill>
                <a:latin typeface="Georgia"/>
                <a:ea typeface="Georgia"/>
                <a:cs typeface="Georgia"/>
              </a:defRPr>
            </a:pPr>
            <a:r>
              <a:t>A chatbot is an interface.</a:t>
            </a:r>
          </a:p>
          <a:p>
            <a:pPr>
              <a:defRPr sz="3150" b="0">
                <a:solidFill>
                  <a:srgbClr val="FFFFFF"/>
                </a:solidFill>
                <a:latin typeface="Georgia"/>
                <a:ea typeface="Georgia"/>
                <a:cs typeface="Georgia"/>
              </a:defRPr>
            </a:pPr>
            <a:r>
              <a:t>The requirement is dependable support.</a:t>
            </a:r>
          </a:p>
        </p:txBody>
      </p:sp>
      <p:sp>
        <p:nvSpPr>
          <p:cNvPr id="4" name="shape-3">
            <a:extLst>
              <a:ext uri="{FF2B5EF4-FFF2-40B4-BE49-F238E27FC236}">
                <a16:creationId xmlns:a16="http://schemas.microsoft.com/office/drawing/2014/main" id="{913CCEB9-8BB8-4943-9FD7-D48F5D8E249D}"/>
              </a:ext>
            </a:extLst>
          </p:cNvPr>
          <p:cNvSpPr>
            <a:spLocks noGrp="1"/>
          </p:cNvSpPr>
          <p:nvPr/>
        </p:nvSpPr>
        <p:spPr>
          <a:xfrm>
            <a:off x="609600" y="6305550"/>
            <a:ext cx="10972800" cy="9525"/>
          </a:xfrm>
          <a:prstGeom prst="rect">
            <a:avLst/>
          </a:prstGeom>
          <a:solidFill>
            <a:srgbClr val="406071"/>
          </a:solidFill>
        </p:spPr>
      </p:sp>
      <p:sp>
        <p:nvSpPr>
          <p:cNvPr id="5" name="text-4">
            <a:extLst>
              <a:ext uri="{FF2B5EF4-FFF2-40B4-BE49-F238E27FC236}">
                <a16:creationId xmlns:a16="http://schemas.microsoft.com/office/drawing/2014/main" id="{3BFAD7E2-23AD-470B-946A-790CA6CAF5EC}"/>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D7E6E4"/>
                </a:solidFill>
                <a:latin typeface="Arial"/>
                <a:ea typeface="Arial"/>
                <a:cs typeface="Arial"/>
              </a:defRPr>
            </a:pPr>
            <a:r>
              <a:t>Synthesis of the supplied interviews, development data and PRD</a:t>
            </a:r>
          </a:p>
        </p:txBody>
      </p:sp>
      <p:sp>
        <p:nvSpPr>
          <p:cNvPr id="6" name="text-5">
            <a:extLst>
              <a:ext uri="{FF2B5EF4-FFF2-40B4-BE49-F238E27FC236}">
                <a16:creationId xmlns:a16="http://schemas.microsoft.com/office/drawing/2014/main" id="{7A7F1D23-3160-406F-85F4-34A79782A7F3}"/>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FFFFFF"/>
                </a:solidFill>
                <a:latin typeface="Arial"/>
                <a:ea typeface="Arial"/>
                <a:cs typeface="Arial"/>
              </a:defRPr>
            </a:pPr>
            <a:r>
              <a:t>08</a:t>
            </a:r>
          </a:p>
        </p:txBody>
      </p:sp>
      <p:sp>
        <p:nvSpPr>
          <p:cNvPr id="7" name="text-6">
            <a:extLst>
              <a:ext uri="{FF2B5EF4-FFF2-40B4-BE49-F238E27FC236}">
                <a16:creationId xmlns:a16="http://schemas.microsoft.com/office/drawing/2014/main" id="{E8638727-E60B-4BC0-AC0D-C63E94977361}"/>
              </a:ext>
            </a:extLst>
          </p:cNvPr>
          <p:cNvSpPr>
            <a:spLocks noGrp="1"/>
          </p:cNvSpPr>
          <p:nvPr/>
        </p:nvSpPr>
        <p:spPr>
          <a:xfrm>
            <a:off x="609600" y="2286000"/>
            <a:ext cx="4667250" cy="228600"/>
          </a:xfrm>
          <a:prstGeom prst="rect">
            <a:avLst/>
          </a:prstGeom>
        </p:spPr>
        <p:txBody>
          <a:bodyPr wrap="square" lIns="0" tIns="0" rIns="0" bIns="0" anchor="t"/>
          <a:lstStyle/>
          <a:p>
            <a:pPr>
              <a:defRPr sz="975" b="1">
                <a:solidFill>
                  <a:srgbClr val="D7E6E4"/>
                </a:solidFill>
                <a:latin typeface="Arial"/>
                <a:ea typeface="Arial"/>
                <a:cs typeface="Arial"/>
              </a:defRPr>
            </a:pPr>
            <a:r>
              <a:t>THE REQUEST</a:t>
            </a:r>
          </a:p>
        </p:txBody>
      </p:sp>
      <p:sp>
        <p:nvSpPr>
          <p:cNvPr id="8" name="text-7">
            <a:extLst>
              <a:ext uri="{FF2B5EF4-FFF2-40B4-BE49-F238E27FC236}">
                <a16:creationId xmlns:a16="http://schemas.microsoft.com/office/drawing/2014/main" id="{270E0853-7E4D-40FC-847C-722B992768C7}"/>
              </a:ext>
            </a:extLst>
          </p:cNvPr>
          <p:cNvSpPr>
            <a:spLocks noGrp="1"/>
          </p:cNvSpPr>
          <p:nvPr/>
        </p:nvSpPr>
        <p:spPr>
          <a:xfrm>
            <a:off x="609600" y="2676525"/>
            <a:ext cx="4667250" cy="723900"/>
          </a:xfrm>
          <a:prstGeom prst="rect">
            <a:avLst/>
          </a:prstGeom>
        </p:spPr>
        <p:txBody>
          <a:bodyPr wrap="square" lIns="0" tIns="0" rIns="0" bIns="0" anchor="t"/>
          <a:lstStyle/>
          <a:p>
            <a:pPr>
              <a:defRPr sz="3225" b="0">
                <a:solidFill>
                  <a:srgbClr val="FFFFFF"/>
                </a:solidFill>
                <a:latin typeface="Georgia"/>
                <a:ea typeface="Georgia"/>
                <a:cs typeface="Georgia"/>
              </a:defRPr>
            </a:pPr>
            <a:r>
              <a:t>“Build a chatbot”</a:t>
            </a:r>
          </a:p>
        </p:txBody>
      </p:sp>
      <p:sp>
        <p:nvSpPr>
          <p:cNvPr id="9" name="text-8">
            <a:extLst>
              <a:ext uri="{FF2B5EF4-FFF2-40B4-BE49-F238E27FC236}">
                <a16:creationId xmlns:a16="http://schemas.microsoft.com/office/drawing/2014/main" id="{873C4161-3499-4652-84FB-A43EE4BBE325}"/>
              </a:ext>
            </a:extLst>
          </p:cNvPr>
          <p:cNvSpPr>
            <a:spLocks noGrp="1"/>
          </p:cNvSpPr>
          <p:nvPr/>
        </p:nvSpPr>
        <p:spPr>
          <a:xfrm>
            <a:off x="609600" y="3752850"/>
            <a:ext cx="4524375" cy="447675"/>
          </a:xfrm>
          <a:prstGeom prst="rect">
            <a:avLst/>
          </a:prstGeom>
        </p:spPr>
        <p:txBody>
          <a:bodyPr wrap="square" lIns="0" tIns="0" rIns="0" bIns="0" anchor="t"/>
          <a:lstStyle/>
          <a:p>
            <a:pPr>
              <a:defRPr sz="1800" b="0">
                <a:solidFill>
                  <a:srgbClr val="D7E6E4"/>
                </a:solidFill>
                <a:latin typeface="Arial"/>
                <a:ea typeface="Arial"/>
                <a:cs typeface="Arial"/>
              </a:defRPr>
            </a:pPr>
            <a:r>
              <a:t>Receive a customer message</a:t>
            </a:r>
          </a:p>
        </p:txBody>
      </p:sp>
      <p:sp>
        <p:nvSpPr>
          <p:cNvPr id="10" name="text-9">
            <a:extLst>
              <a:ext uri="{FF2B5EF4-FFF2-40B4-BE49-F238E27FC236}">
                <a16:creationId xmlns:a16="http://schemas.microsoft.com/office/drawing/2014/main" id="{1C68DF16-6ADA-4544-B405-ED8A075D60A0}"/>
              </a:ext>
            </a:extLst>
          </p:cNvPr>
          <p:cNvSpPr>
            <a:spLocks noGrp="1"/>
          </p:cNvSpPr>
          <p:nvPr/>
        </p:nvSpPr>
        <p:spPr>
          <a:xfrm>
            <a:off x="609600" y="4324350"/>
            <a:ext cx="4524375" cy="447675"/>
          </a:xfrm>
          <a:prstGeom prst="rect">
            <a:avLst/>
          </a:prstGeom>
        </p:spPr>
        <p:txBody>
          <a:bodyPr wrap="square" lIns="0" tIns="0" rIns="0" bIns="0" anchor="t"/>
          <a:lstStyle/>
          <a:p>
            <a:pPr>
              <a:defRPr sz="1800" b="0">
                <a:solidFill>
                  <a:srgbClr val="D7E6E4"/>
                </a:solidFill>
                <a:latin typeface="Arial"/>
                <a:ea typeface="Arial"/>
                <a:cs typeface="Arial"/>
              </a:defRPr>
            </a:pPr>
            <a:r>
              <a:t>Return a conversational reply</a:t>
            </a:r>
          </a:p>
        </p:txBody>
      </p:sp>
      <p:sp>
        <p:nvSpPr>
          <p:cNvPr id="11" name="shape-10">
            <a:extLst>
              <a:ext uri="{FF2B5EF4-FFF2-40B4-BE49-F238E27FC236}">
                <a16:creationId xmlns:a16="http://schemas.microsoft.com/office/drawing/2014/main" id="{263CCFFF-43EC-4BB7-8F2F-81BCF9BBBAE6}"/>
              </a:ext>
            </a:extLst>
          </p:cNvPr>
          <p:cNvSpPr>
            <a:spLocks noGrp="1"/>
          </p:cNvSpPr>
          <p:nvPr/>
        </p:nvSpPr>
        <p:spPr>
          <a:xfrm>
            <a:off x="5734050" y="2171700"/>
            <a:ext cx="19050" cy="3505200"/>
          </a:xfrm>
          <a:prstGeom prst="rect">
            <a:avLst/>
          </a:prstGeom>
          <a:solidFill>
            <a:srgbClr val="406071"/>
          </a:solidFill>
        </p:spPr>
      </p:sp>
      <p:sp>
        <p:nvSpPr>
          <p:cNvPr id="12" name="text-11">
            <a:extLst>
              <a:ext uri="{FF2B5EF4-FFF2-40B4-BE49-F238E27FC236}">
                <a16:creationId xmlns:a16="http://schemas.microsoft.com/office/drawing/2014/main" id="{7E8D9A32-A37C-4128-89CD-3ED77BAD3B66}"/>
              </a:ext>
            </a:extLst>
          </p:cNvPr>
          <p:cNvSpPr>
            <a:spLocks noGrp="1"/>
          </p:cNvSpPr>
          <p:nvPr/>
        </p:nvSpPr>
        <p:spPr>
          <a:xfrm>
            <a:off x="6305550" y="2286000"/>
            <a:ext cx="5238750" cy="228600"/>
          </a:xfrm>
          <a:prstGeom prst="rect">
            <a:avLst/>
          </a:prstGeom>
        </p:spPr>
        <p:txBody>
          <a:bodyPr wrap="square" lIns="0" tIns="0" rIns="0" bIns="0" anchor="t"/>
          <a:lstStyle/>
          <a:p>
            <a:pPr>
              <a:defRPr sz="975" b="1">
                <a:solidFill>
                  <a:srgbClr val="E7BD80"/>
                </a:solidFill>
                <a:latin typeface="Arial"/>
                <a:ea typeface="Arial"/>
                <a:cs typeface="Arial"/>
              </a:defRPr>
            </a:pPr>
            <a:r>
              <a:t>THE UNDERLYING REQUIREMENT</a:t>
            </a:r>
          </a:p>
        </p:txBody>
      </p:sp>
      <p:sp>
        <p:nvSpPr>
          <p:cNvPr id="13" name="text-12">
            <a:extLst>
              <a:ext uri="{FF2B5EF4-FFF2-40B4-BE49-F238E27FC236}">
                <a16:creationId xmlns:a16="http://schemas.microsoft.com/office/drawing/2014/main" id="{90EAB6C4-C173-4C60-8C48-A8E7F47FF687}"/>
              </a:ext>
            </a:extLst>
          </p:cNvPr>
          <p:cNvSpPr>
            <a:spLocks noGrp="1"/>
          </p:cNvSpPr>
          <p:nvPr/>
        </p:nvSpPr>
        <p:spPr>
          <a:xfrm>
            <a:off x="6305550" y="2838450"/>
            <a:ext cx="485775" cy="371475"/>
          </a:xfrm>
          <a:prstGeom prst="rect">
            <a:avLst/>
          </a:prstGeom>
        </p:spPr>
        <p:txBody>
          <a:bodyPr wrap="square" lIns="0" tIns="0" rIns="0" bIns="0" anchor="t"/>
          <a:lstStyle/>
          <a:p>
            <a:pPr>
              <a:defRPr sz="1725" b="0">
                <a:solidFill>
                  <a:srgbClr val="E7BD80"/>
                </a:solidFill>
                <a:latin typeface="Arial"/>
                <a:ea typeface="Arial"/>
                <a:cs typeface="Arial"/>
              </a:defRPr>
            </a:pPr>
            <a:r>
              <a:t>01</a:t>
            </a:r>
          </a:p>
        </p:txBody>
      </p:sp>
      <p:sp>
        <p:nvSpPr>
          <p:cNvPr id="14" name="text-13">
            <a:extLst>
              <a:ext uri="{FF2B5EF4-FFF2-40B4-BE49-F238E27FC236}">
                <a16:creationId xmlns:a16="http://schemas.microsoft.com/office/drawing/2014/main" id="{10970A49-EE75-46D6-A01E-FB1978D43C2E}"/>
              </a:ext>
            </a:extLst>
          </p:cNvPr>
          <p:cNvSpPr>
            <a:spLocks noGrp="1"/>
          </p:cNvSpPr>
          <p:nvPr/>
        </p:nvSpPr>
        <p:spPr>
          <a:xfrm>
            <a:off x="6905625" y="2819400"/>
            <a:ext cx="4476750" cy="638175"/>
          </a:xfrm>
          <a:prstGeom prst="rect">
            <a:avLst/>
          </a:prstGeom>
        </p:spPr>
        <p:txBody>
          <a:bodyPr wrap="square" lIns="0" tIns="0" rIns="0" bIns="0" anchor="t"/>
          <a:lstStyle/>
          <a:p>
            <a:pPr>
              <a:defRPr sz="1875" b="0">
                <a:solidFill>
                  <a:srgbClr val="FFFFFF"/>
                </a:solidFill>
                <a:latin typeface="Arial"/>
                <a:ea typeface="Arial"/>
                <a:cs typeface="Arial"/>
              </a:defRPr>
            </a:pPr>
            <a:r>
              <a:t>Find approved, relevant knowledge</a:t>
            </a:r>
          </a:p>
        </p:txBody>
      </p:sp>
      <p:sp>
        <p:nvSpPr>
          <p:cNvPr id="15" name="text-14">
            <a:extLst>
              <a:ext uri="{FF2B5EF4-FFF2-40B4-BE49-F238E27FC236}">
                <a16:creationId xmlns:a16="http://schemas.microsoft.com/office/drawing/2014/main" id="{DDB08FF4-71FA-4404-A0C4-EE28351D25FD}"/>
              </a:ext>
            </a:extLst>
          </p:cNvPr>
          <p:cNvSpPr>
            <a:spLocks noGrp="1"/>
          </p:cNvSpPr>
          <p:nvPr/>
        </p:nvSpPr>
        <p:spPr>
          <a:xfrm>
            <a:off x="6305550" y="3562350"/>
            <a:ext cx="485775" cy="371475"/>
          </a:xfrm>
          <a:prstGeom prst="rect">
            <a:avLst/>
          </a:prstGeom>
        </p:spPr>
        <p:txBody>
          <a:bodyPr wrap="square" lIns="0" tIns="0" rIns="0" bIns="0" anchor="t"/>
          <a:lstStyle/>
          <a:p>
            <a:pPr>
              <a:defRPr sz="1725" b="0">
                <a:solidFill>
                  <a:srgbClr val="E7BD80"/>
                </a:solidFill>
                <a:latin typeface="Arial"/>
                <a:ea typeface="Arial"/>
                <a:cs typeface="Arial"/>
              </a:defRPr>
            </a:pPr>
            <a:r>
              <a:t>02</a:t>
            </a:r>
          </a:p>
        </p:txBody>
      </p:sp>
      <p:sp>
        <p:nvSpPr>
          <p:cNvPr id="16" name="text-15">
            <a:extLst>
              <a:ext uri="{FF2B5EF4-FFF2-40B4-BE49-F238E27FC236}">
                <a16:creationId xmlns:a16="http://schemas.microsoft.com/office/drawing/2014/main" id="{E09A3556-E6D3-4100-9CE2-6A79346053DD}"/>
              </a:ext>
            </a:extLst>
          </p:cNvPr>
          <p:cNvSpPr>
            <a:spLocks noGrp="1"/>
          </p:cNvSpPr>
          <p:nvPr/>
        </p:nvSpPr>
        <p:spPr>
          <a:xfrm>
            <a:off x="6905625" y="3543300"/>
            <a:ext cx="4476750" cy="638175"/>
          </a:xfrm>
          <a:prstGeom prst="rect">
            <a:avLst/>
          </a:prstGeom>
        </p:spPr>
        <p:txBody>
          <a:bodyPr wrap="square" lIns="0" tIns="0" rIns="0" bIns="0" anchor="t"/>
          <a:lstStyle/>
          <a:p>
            <a:pPr>
              <a:defRPr sz="1875" b="0">
                <a:solidFill>
                  <a:srgbClr val="FFFFFF"/>
                </a:solidFill>
                <a:latin typeface="Arial"/>
                <a:ea typeface="Arial"/>
                <a:cs typeface="Arial"/>
              </a:defRPr>
            </a:pPr>
            <a:r>
              <a:t>Decide whether automation is appropriate</a:t>
            </a:r>
          </a:p>
        </p:txBody>
      </p:sp>
      <p:sp>
        <p:nvSpPr>
          <p:cNvPr id="17" name="text-16">
            <a:extLst>
              <a:ext uri="{FF2B5EF4-FFF2-40B4-BE49-F238E27FC236}">
                <a16:creationId xmlns:a16="http://schemas.microsoft.com/office/drawing/2014/main" id="{07AB8183-EDC9-404C-B427-E2469E0649F6}"/>
              </a:ext>
            </a:extLst>
          </p:cNvPr>
          <p:cNvSpPr>
            <a:spLocks noGrp="1"/>
          </p:cNvSpPr>
          <p:nvPr/>
        </p:nvSpPr>
        <p:spPr>
          <a:xfrm>
            <a:off x="6305550" y="4286250"/>
            <a:ext cx="485775" cy="371475"/>
          </a:xfrm>
          <a:prstGeom prst="rect">
            <a:avLst/>
          </a:prstGeom>
        </p:spPr>
        <p:txBody>
          <a:bodyPr wrap="square" lIns="0" tIns="0" rIns="0" bIns="0" anchor="t"/>
          <a:lstStyle/>
          <a:p>
            <a:pPr>
              <a:defRPr sz="1725" b="0">
                <a:solidFill>
                  <a:srgbClr val="E7BD80"/>
                </a:solidFill>
                <a:latin typeface="Arial"/>
                <a:ea typeface="Arial"/>
                <a:cs typeface="Arial"/>
              </a:defRPr>
            </a:pPr>
            <a:r>
              <a:t>03</a:t>
            </a:r>
          </a:p>
        </p:txBody>
      </p:sp>
      <p:sp>
        <p:nvSpPr>
          <p:cNvPr id="18" name="text-17">
            <a:extLst>
              <a:ext uri="{FF2B5EF4-FFF2-40B4-BE49-F238E27FC236}">
                <a16:creationId xmlns:a16="http://schemas.microsoft.com/office/drawing/2014/main" id="{5E0FA233-2CD8-4B62-9566-36E99AB2D610}"/>
              </a:ext>
            </a:extLst>
          </p:cNvPr>
          <p:cNvSpPr>
            <a:spLocks noGrp="1"/>
          </p:cNvSpPr>
          <p:nvPr/>
        </p:nvSpPr>
        <p:spPr>
          <a:xfrm>
            <a:off x="6905625" y="4267200"/>
            <a:ext cx="4476750" cy="638175"/>
          </a:xfrm>
          <a:prstGeom prst="rect">
            <a:avLst/>
          </a:prstGeom>
        </p:spPr>
        <p:txBody>
          <a:bodyPr wrap="square" lIns="0" tIns="0" rIns="0" bIns="0" anchor="t"/>
          <a:lstStyle/>
          <a:p>
            <a:pPr>
              <a:defRPr sz="1875" b="0">
                <a:solidFill>
                  <a:srgbClr val="FFFFFF"/>
                </a:solidFill>
                <a:latin typeface="Arial"/>
                <a:ea typeface="Arial"/>
                <a:cs typeface="Arial"/>
              </a:defRPr>
            </a:pPr>
            <a:r>
              <a:t>Draft with sources or hand over with context</a:t>
            </a:r>
          </a:p>
        </p:txBody>
      </p:sp>
      <p:sp>
        <p:nvSpPr>
          <p:cNvPr id="19" name="text-18">
            <a:extLst>
              <a:ext uri="{FF2B5EF4-FFF2-40B4-BE49-F238E27FC236}">
                <a16:creationId xmlns:a16="http://schemas.microsoft.com/office/drawing/2014/main" id="{221BA1F1-0364-47A9-AFF0-D55A70700F30}"/>
              </a:ext>
            </a:extLst>
          </p:cNvPr>
          <p:cNvSpPr>
            <a:spLocks noGrp="1"/>
          </p:cNvSpPr>
          <p:nvPr/>
        </p:nvSpPr>
        <p:spPr>
          <a:xfrm>
            <a:off x="6305550" y="5010150"/>
            <a:ext cx="485775" cy="371475"/>
          </a:xfrm>
          <a:prstGeom prst="rect">
            <a:avLst/>
          </a:prstGeom>
        </p:spPr>
        <p:txBody>
          <a:bodyPr wrap="square" lIns="0" tIns="0" rIns="0" bIns="0" anchor="t"/>
          <a:lstStyle/>
          <a:p>
            <a:pPr>
              <a:defRPr sz="1725" b="0">
                <a:solidFill>
                  <a:srgbClr val="E7BD80"/>
                </a:solidFill>
                <a:latin typeface="Arial"/>
                <a:ea typeface="Arial"/>
                <a:cs typeface="Arial"/>
              </a:defRPr>
            </a:pPr>
            <a:r>
              <a:t>04</a:t>
            </a:r>
          </a:p>
        </p:txBody>
      </p:sp>
      <p:sp>
        <p:nvSpPr>
          <p:cNvPr id="20" name="text-19">
            <a:extLst>
              <a:ext uri="{FF2B5EF4-FFF2-40B4-BE49-F238E27FC236}">
                <a16:creationId xmlns:a16="http://schemas.microsoft.com/office/drawing/2014/main" id="{26B73FFC-012E-4192-9716-A6CE16D78675}"/>
              </a:ext>
            </a:extLst>
          </p:cNvPr>
          <p:cNvSpPr>
            <a:spLocks noGrp="1"/>
          </p:cNvSpPr>
          <p:nvPr/>
        </p:nvSpPr>
        <p:spPr>
          <a:xfrm>
            <a:off x="6905625" y="4991100"/>
            <a:ext cx="4476750" cy="638175"/>
          </a:xfrm>
          <a:prstGeom prst="rect">
            <a:avLst/>
          </a:prstGeom>
        </p:spPr>
        <p:txBody>
          <a:bodyPr wrap="square" lIns="0" tIns="0" rIns="0" bIns="0" anchor="t"/>
          <a:lstStyle/>
          <a:p>
            <a:pPr>
              <a:defRPr sz="1875" b="0">
                <a:solidFill>
                  <a:srgbClr val="FFFFFF"/>
                </a:solidFill>
                <a:latin typeface="Arial"/>
                <a:ea typeface="Arial"/>
                <a:cs typeface="Arial"/>
              </a:defRPr>
            </a:pPr>
            <a:r>
              <a:t>Record the decision and evaluate its quality</a:t>
            </a:r>
          </a:p>
        </p:txBody>
      </p:sp>
    </p:spTree>
    <p:extLst>
      <p:ext uri="{BB962C8B-B14F-4D97-AF65-F5344CB8AC3E}">
        <p14:creationId xmlns:p14="http://schemas.microsoft.com/office/powerpoint/2010/main" val="165764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5" name="kicker-marker">
            <a:extLst>
              <a:ext uri="{FF2B5EF4-FFF2-40B4-BE49-F238E27FC236}">
                <a16:creationId xmlns:a16="http://schemas.microsoft.com/office/drawing/2014/main" id="{71E0E5DD-63F4-42B2-A6DF-F022BADBEB66}"/>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3A2342B9-0692-4E12-ADC8-8D3593D2D003}"/>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PRD · FUNCTIONAL</a:t>
            </a:r>
          </a:p>
        </p:txBody>
      </p:sp>
      <p:sp>
        <p:nvSpPr>
          <p:cNvPr id="3" name="text-2">
            <a:extLst>
              <a:ext uri="{FF2B5EF4-FFF2-40B4-BE49-F238E27FC236}">
                <a16:creationId xmlns:a16="http://schemas.microsoft.com/office/drawing/2014/main" id="{AB12AB28-B610-403B-AAFC-C4299F89293C}"/>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Twelve functional requirements</a:t>
            </a:r>
          </a:p>
          <a:p>
            <a:pPr>
              <a:defRPr sz="3150" b="0">
                <a:solidFill>
                  <a:srgbClr val="173047"/>
                </a:solidFill>
                <a:latin typeface="Georgia"/>
                <a:ea typeface="Georgia"/>
                <a:cs typeface="Georgia"/>
              </a:defRPr>
            </a:pPr>
            <a:r>
              <a:t>cover the complete ticket journey</a:t>
            </a:r>
          </a:p>
        </p:txBody>
      </p:sp>
      <p:sp>
        <p:nvSpPr>
          <p:cNvPr id="4" name="shape-3">
            <a:extLst>
              <a:ext uri="{FF2B5EF4-FFF2-40B4-BE49-F238E27FC236}">
                <a16:creationId xmlns:a16="http://schemas.microsoft.com/office/drawing/2014/main" id="{DDD4CBA1-7931-4BBB-9FA9-6C9570C638AD}"/>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BAFD13FD-B6B0-4723-B88E-F8DEB2202E1D}"/>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docs/Stage_2_PRD_Filled.docx · abbreviated requirements; implementation limits discussed later</a:t>
            </a:r>
          </a:p>
        </p:txBody>
      </p:sp>
      <p:sp>
        <p:nvSpPr>
          <p:cNvPr id="6" name="text-5">
            <a:extLst>
              <a:ext uri="{FF2B5EF4-FFF2-40B4-BE49-F238E27FC236}">
                <a16:creationId xmlns:a16="http://schemas.microsoft.com/office/drawing/2014/main" id="{C1F5F9FC-6BB3-4612-AC28-BBC37D76A7C9}"/>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09</a:t>
            </a:r>
          </a:p>
        </p:txBody>
      </p:sp>
      <p:sp>
        <p:nvSpPr>
          <p:cNvPr id="7" name="text-6">
            <a:extLst>
              <a:ext uri="{FF2B5EF4-FFF2-40B4-BE49-F238E27FC236}">
                <a16:creationId xmlns:a16="http://schemas.microsoft.com/office/drawing/2014/main" id="{D6403300-B787-436B-8CC0-6D4868945C48}"/>
              </a:ext>
            </a:extLst>
          </p:cNvPr>
          <p:cNvSpPr>
            <a:spLocks noGrp="1"/>
          </p:cNvSpPr>
          <p:nvPr/>
        </p:nvSpPr>
        <p:spPr>
          <a:xfrm>
            <a:off x="609600" y="2219325"/>
            <a:ext cx="3524250" cy="228600"/>
          </a:xfrm>
          <a:prstGeom prst="rect">
            <a:avLst/>
          </a:prstGeom>
        </p:spPr>
        <p:txBody>
          <a:bodyPr wrap="square" lIns="0" tIns="0" rIns="0" bIns="0" anchor="t"/>
          <a:lstStyle/>
          <a:p>
            <a:pPr>
              <a:defRPr sz="975" b="1">
                <a:solidFill>
                  <a:srgbClr val="00766B"/>
                </a:solidFill>
                <a:latin typeface="Arial"/>
                <a:ea typeface="Arial"/>
                <a:cs typeface="Arial"/>
              </a:defRPr>
            </a:pPr>
            <a:r>
              <a:t>UNDERSTAND</a:t>
            </a:r>
          </a:p>
        </p:txBody>
      </p:sp>
      <p:sp>
        <p:nvSpPr>
          <p:cNvPr id="8" name="shape-7">
            <a:extLst>
              <a:ext uri="{FF2B5EF4-FFF2-40B4-BE49-F238E27FC236}">
                <a16:creationId xmlns:a16="http://schemas.microsoft.com/office/drawing/2014/main" id="{79FAEEA0-3A58-4447-938C-B50E175134FB}"/>
              </a:ext>
            </a:extLst>
          </p:cNvPr>
          <p:cNvSpPr>
            <a:spLocks noGrp="1"/>
          </p:cNvSpPr>
          <p:nvPr/>
        </p:nvSpPr>
        <p:spPr>
          <a:xfrm>
            <a:off x="609600" y="2609850"/>
            <a:ext cx="3505200" cy="9525"/>
          </a:xfrm>
          <a:prstGeom prst="rect">
            <a:avLst/>
          </a:prstGeom>
          <a:solidFill>
            <a:srgbClr val="CDD3D2"/>
          </a:solidFill>
        </p:spPr>
      </p:sp>
      <p:sp>
        <p:nvSpPr>
          <p:cNvPr id="9" name="text-8">
            <a:extLst>
              <a:ext uri="{FF2B5EF4-FFF2-40B4-BE49-F238E27FC236}">
                <a16:creationId xmlns:a16="http://schemas.microsoft.com/office/drawing/2014/main" id="{60A3F06B-9C09-4EAF-8A94-A2BBF1C9BC3C}"/>
              </a:ext>
            </a:extLst>
          </p:cNvPr>
          <p:cNvSpPr>
            <a:spLocks noGrp="1"/>
          </p:cNvSpPr>
          <p:nvPr/>
        </p:nvSpPr>
        <p:spPr>
          <a:xfrm>
            <a:off x="609600" y="2924175"/>
            <a:ext cx="3400425" cy="581025"/>
          </a:xfrm>
          <a:prstGeom prst="rect">
            <a:avLst/>
          </a:prstGeom>
        </p:spPr>
        <p:txBody>
          <a:bodyPr wrap="square" lIns="0" tIns="0" rIns="0" bIns="0" anchor="t"/>
          <a:lstStyle/>
          <a:p>
            <a:pPr>
              <a:defRPr sz="1725" b="0">
                <a:solidFill>
                  <a:srgbClr val="00766B"/>
                </a:solidFill>
                <a:latin typeface="Arial"/>
                <a:ea typeface="Arial"/>
                <a:cs typeface="Arial"/>
              </a:defRPr>
            </a:pPr>
            <a:r>
              <a:t>FR-01  Normalise four input formats</a:t>
            </a:r>
          </a:p>
        </p:txBody>
      </p:sp>
      <p:sp>
        <p:nvSpPr>
          <p:cNvPr id="10" name="text-9">
            <a:extLst>
              <a:ext uri="{FF2B5EF4-FFF2-40B4-BE49-F238E27FC236}">
                <a16:creationId xmlns:a16="http://schemas.microsoft.com/office/drawing/2014/main" id="{65DBD1B6-C722-499C-AA47-2208A204080F}"/>
              </a:ext>
            </a:extLst>
          </p:cNvPr>
          <p:cNvSpPr>
            <a:spLocks noGrp="1"/>
          </p:cNvSpPr>
          <p:nvPr/>
        </p:nvSpPr>
        <p:spPr>
          <a:xfrm>
            <a:off x="609600" y="36480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FR-02  Classify intent, urgency, confidence</a:t>
            </a:r>
          </a:p>
        </p:txBody>
      </p:sp>
      <p:sp>
        <p:nvSpPr>
          <p:cNvPr id="11" name="text-10">
            <a:extLst>
              <a:ext uri="{FF2B5EF4-FFF2-40B4-BE49-F238E27FC236}">
                <a16:creationId xmlns:a16="http://schemas.microsoft.com/office/drawing/2014/main" id="{866AB399-2674-4B4B-9FD0-EF1D555CFECD}"/>
              </a:ext>
            </a:extLst>
          </p:cNvPr>
          <p:cNvSpPr>
            <a:spLocks noGrp="1"/>
          </p:cNvSpPr>
          <p:nvPr/>
        </p:nvSpPr>
        <p:spPr>
          <a:xfrm>
            <a:off x="609600" y="43719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FR-03  Retrieve ranked KB evidence</a:t>
            </a:r>
          </a:p>
        </p:txBody>
      </p:sp>
      <p:sp>
        <p:nvSpPr>
          <p:cNvPr id="12" name="text-11">
            <a:extLst>
              <a:ext uri="{FF2B5EF4-FFF2-40B4-BE49-F238E27FC236}">
                <a16:creationId xmlns:a16="http://schemas.microsoft.com/office/drawing/2014/main" id="{A24046A4-66F3-4B59-8219-C8775F8867DB}"/>
              </a:ext>
            </a:extLst>
          </p:cNvPr>
          <p:cNvSpPr>
            <a:spLocks noGrp="1"/>
          </p:cNvSpPr>
          <p:nvPr/>
        </p:nvSpPr>
        <p:spPr>
          <a:xfrm>
            <a:off x="609600" y="50958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FR-04  Route by policy and confidence</a:t>
            </a:r>
          </a:p>
        </p:txBody>
      </p:sp>
      <p:sp>
        <p:nvSpPr>
          <p:cNvPr id="13" name="text-12">
            <a:extLst>
              <a:ext uri="{FF2B5EF4-FFF2-40B4-BE49-F238E27FC236}">
                <a16:creationId xmlns:a16="http://schemas.microsoft.com/office/drawing/2014/main" id="{EDF99180-25A6-4048-B277-68B673F752F0}"/>
              </a:ext>
            </a:extLst>
          </p:cNvPr>
          <p:cNvSpPr>
            <a:spLocks noGrp="1"/>
          </p:cNvSpPr>
          <p:nvPr/>
        </p:nvSpPr>
        <p:spPr>
          <a:xfrm>
            <a:off x="4343400" y="2219325"/>
            <a:ext cx="3524250" cy="228600"/>
          </a:xfrm>
          <a:prstGeom prst="rect">
            <a:avLst/>
          </a:prstGeom>
        </p:spPr>
        <p:txBody>
          <a:bodyPr wrap="square" lIns="0" tIns="0" rIns="0" bIns="0" anchor="t"/>
          <a:lstStyle/>
          <a:p>
            <a:pPr>
              <a:defRPr sz="975" b="1">
                <a:solidFill>
                  <a:srgbClr val="00766B"/>
                </a:solidFill>
                <a:latin typeface="Arial"/>
                <a:ea typeface="Arial"/>
                <a:cs typeface="Arial"/>
              </a:defRPr>
            </a:pPr>
            <a:r>
              <a:t>ACT SAFELY</a:t>
            </a:r>
          </a:p>
        </p:txBody>
      </p:sp>
      <p:sp>
        <p:nvSpPr>
          <p:cNvPr id="14" name="shape-13">
            <a:extLst>
              <a:ext uri="{FF2B5EF4-FFF2-40B4-BE49-F238E27FC236}">
                <a16:creationId xmlns:a16="http://schemas.microsoft.com/office/drawing/2014/main" id="{AA1886E4-E68F-493D-8883-54E06FDE6499}"/>
              </a:ext>
            </a:extLst>
          </p:cNvPr>
          <p:cNvSpPr>
            <a:spLocks noGrp="1"/>
          </p:cNvSpPr>
          <p:nvPr/>
        </p:nvSpPr>
        <p:spPr>
          <a:xfrm>
            <a:off x="4343400" y="2609850"/>
            <a:ext cx="3505200" cy="9525"/>
          </a:xfrm>
          <a:prstGeom prst="rect">
            <a:avLst/>
          </a:prstGeom>
          <a:solidFill>
            <a:srgbClr val="CDD3D2"/>
          </a:solidFill>
        </p:spPr>
      </p:sp>
      <p:sp>
        <p:nvSpPr>
          <p:cNvPr id="15" name="text-14">
            <a:extLst>
              <a:ext uri="{FF2B5EF4-FFF2-40B4-BE49-F238E27FC236}">
                <a16:creationId xmlns:a16="http://schemas.microsoft.com/office/drawing/2014/main" id="{55C5812C-FFC7-4E94-A7AA-C035BFC33573}"/>
              </a:ext>
            </a:extLst>
          </p:cNvPr>
          <p:cNvSpPr>
            <a:spLocks noGrp="1"/>
          </p:cNvSpPr>
          <p:nvPr/>
        </p:nvSpPr>
        <p:spPr>
          <a:xfrm>
            <a:off x="4343400" y="2924175"/>
            <a:ext cx="3400425" cy="581025"/>
          </a:xfrm>
          <a:prstGeom prst="rect">
            <a:avLst/>
          </a:prstGeom>
        </p:spPr>
        <p:txBody>
          <a:bodyPr wrap="square" lIns="0" tIns="0" rIns="0" bIns="0" anchor="t"/>
          <a:lstStyle/>
          <a:p>
            <a:pPr>
              <a:defRPr sz="1725" b="0">
                <a:solidFill>
                  <a:srgbClr val="00766B"/>
                </a:solidFill>
                <a:latin typeface="Arial"/>
                <a:ea typeface="Arial"/>
                <a:cs typeface="Arial"/>
              </a:defRPr>
            </a:pPr>
            <a:r>
              <a:t>FR-05  Override high-risk automation</a:t>
            </a:r>
          </a:p>
        </p:txBody>
      </p:sp>
      <p:sp>
        <p:nvSpPr>
          <p:cNvPr id="16" name="text-15">
            <a:extLst>
              <a:ext uri="{FF2B5EF4-FFF2-40B4-BE49-F238E27FC236}">
                <a16:creationId xmlns:a16="http://schemas.microsoft.com/office/drawing/2014/main" id="{E7237783-612E-4BA3-B96F-7E6B2FF8236C}"/>
              </a:ext>
            </a:extLst>
          </p:cNvPr>
          <p:cNvSpPr>
            <a:spLocks noGrp="1"/>
          </p:cNvSpPr>
          <p:nvPr/>
        </p:nvSpPr>
        <p:spPr>
          <a:xfrm>
            <a:off x="4343400" y="36480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FR-06  Build a useful handover packet</a:t>
            </a:r>
          </a:p>
        </p:txBody>
      </p:sp>
      <p:sp>
        <p:nvSpPr>
          <p:cNvPr id="17" name="text-16">
            <a:extLst>
              <a:ext uri="{FF2B5EF4-FFF2-40B4-BE49-F238E27FC236}">
                <a16:creationId xmlns:a16="http://schemas.microsoft.com/office/drawing/2014/main" id="{37736597-9EE6-4413-BEC6-CF45E8C0A36D}"/>
              </a:ext>
            </a:extLst>
          </p:cNvPr>
          <p:cNvSpPr>
            <a:spLocks noGrp="1"/>
          </p:cNvSpPr>
          <p:nvPr/>
        </p:nvSpPr>
        <p:spPr>
          <a:xfrm>
            <a:off x="4343400" y="43719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FR-07  Draft with traceable citations</a:t>
            </a:r>
          </a:p>
        </p:txBody>
      </p:sp>
      <p:sp>
        <p:nvSpPr>
          <p:cNvPr id="18" name="text-17">
            <a:extLst>
              <a:ext uri="{FF2B5EF4-FFF2-40B4-BE49-F238E27FC236}">
                <a16:creationId xmlns:a16="http://schemas.microsoft.com/office/drawing/2014/main" id="{4AABE583-A428-4700-B0E3-92DD44D0DE95}"/>
              </a:ext>
            </a:extLst>
          </p:cNvPr>
          <p:cNvSpPr>
            <a:spLocks noGrp="1"/>
          </p:cNvSpPr>
          <p:nvPr/>
        </p:nvSpPr>
        <p:spPr>
          <a:xfrm>
            <a:off x="4343400" y="50958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FR-08  Check output guardrails</a:t>
            </a:r>
          </a:p>
        </p:txBody>
      </p:sp>
      <p:sp>
        <p:nvSpPr>
          <p:cNvPr id="19" name="text-18">
            <a:extLst>
              <a:ext uri="{FF2B5EF4-FFF2-40B4-BE49-F238E27FC236}">
                <a16:creationId xmlns:a16="http://schemas.microsoft.com/office/drawing/2014/main" id="{47E9263C-A391-435E-B431-3C33729E9A31}"/>
              </a:ext>
            </a:extLst>
          </p:cNvPr>
          <p:cNvSpPr>
            <a:spLocks noGrp="1"/>
          </p:cNvSpPr>
          <p:nvPr/>
        </p:nvSpPr>
        <p:spPr>
          <a:xfrm>
            <a:off x="8077200" y="2219325"/>
            <a:ext cx="3524250" cy="228600"/>
          </a:xfrm>
          <a:prstGeom prst="rect">
            <a:avLst/>
          </a:prstGeom>
        </p:spPr>
        <p:txBody>
          <a:bodyPr wrap="square" lIns="0" tIns="0" rIns="0" bIns="0" anchor="t"/>
          <a:lstStyle/>
          <a:p>
            <a:pPr>
              <a:defRPr sz="975" b="1">
                <a:solidFill>
                  <a:srgbClr val="00766B"/>
                </a:solidFill>
                <a:latin typeface="Arial"/>
                <a:ea typeface="Arial"/>
                <a:cs typeface="Arial"/>
              </a:defRPr>
            </a:pPr>
            <a:r>
              <a:t>PROVE &amp; OPERATE</a:t>
            </a:r>
          </a:p>
        </p:txBody>
      </p:sp>
      <p:sp>
        <p:nvSpPr>
          <p:cNvPr id="20" name="shape-19">
            <a:extLst>
              <a:ext uri="{FF2B5EF4-FFF2-40B4-BE49-F238E27FC236}">
                <a16:creationId xmlns:a16="http://schemas.microsoft.com/office/drawing/2014/main" id="{F18AE66B-8AFC-483C-8739-42B5E05C0D77}"/>
              </a:ext>
            </a:extLst>
          </p:cNvPr>
          <p:cNvSpPr>
            <a:spLocks noGrp="1"/>
          </p:cNvSpPr>
          <p:nvPr/>
        </p:nvSpPr>
        <p:spPr>
          <a:xfrm>
            <a:off x="8077200" y="2609850"/>
            <a:ext cx="3505200" cy="9525"/>
          </a:xfrm>
          <a:prstGeom prst="rect">
            <a:avLst/>
          </a:prstGeom>
          <a:solidFill>
            <a:srgbClr val="CDD3D2"/>
          </a:solidFill>
        </p:spPr>
      </p:sp>
      <p:sp>
        <p:nvSpPr>
          <p:cNvPr id="21" name="text-20">
            <a:extLst>
              <a:ext uri="{FF2B5EF4-FFF2-40B4-BE49-F238E27FC236}">
                <a16:creationId xmlns:a16="http://schemas.microsoft.com/office/drawing/2014/main" id="{833DB058-52D6-4889-A3E9-E439948340E7}"/>
              </a:ext>
            </a:extLst>
          </p:cNvPr>
          <p:cNvSpPr>
            <a:spLocks noGrp="1"/>
          </p:cNvSpPr>
          <p:nvPr/>
        </p:nvSpPr>
        <p:spPr>
          <a:xfrm>
            <a:off x="8077200" y="2924175"/>
            <a:ext cx="3400425" cy="581025"/>
          </a:xfrm>
          <a:prstGeom prst="rect">
            <a:avLst/>
          </a:prstGeom>
        </p:spPr>
        <p:txBody>
          <a:bodyPr wrap="square" lIns="0" tIns="0" rIns="0" bIns="0" anchor="t"/>
          <a:lstStyle/>
          <a:p>
            <a:pPr>
              <a:defRPr sz="1725" b="0">
                <a:solidFill>
                  <a:srgbClr val="00766B"/>
                </a:solidFill>
                <a:latin typeface="Arial"/>
                <a:ea typeface="Arial"/>
                <a:cs typeface="Arial"/>
              </a:defRPr>
            </a:pPr>
            <a:r>
              <a:t>FR-09  Persist structured audit events</a:t>
            </a:r>
          </a:p>
        </p:txBody>
      </p:sp>
      <p:sp>
        <p:nvSpPr>
          <p:cNvPr id="22" name="text-21">
            <a:extLst>
              <a:ext uri="{FF2B5EF4-FFF2-40B4-BE49-F238E27FC236}">
                <a16:creationId xmlns:a16="http://schemas.microsoft.com/office/drawing/2014/main" id="{02525103-1E48-401C-8600-8179B6ECE534}"/>
              </a:ext>
            </a:extLst>
          </p:cNvPr>
          <p:cNvSpPr>
            <a:spLocks noGrp="1"/>
          </p:cNvSpPr>
          <p:nvPr/>
        </p:nvSpPr>
        <p:spPr>
          <a:xfrm>
            <a:off x="8077200" y="36480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FR-10  Run a standalone batch harness</a:t>
            </a:r>
          </a:p>
        </p:txBody>
      </p:sp>
      <p:sp>
        <p:nvSpPr>
          <p:cNvPr id="23" name="text-22">
            <a:extLst>
              <a:ext uri="{FF2B5EF4-FFF2-40B4-BE49-F238E27FC236}">
                <a16:creationId xmlns:a16="http://schemas.microsoft.com/office/drawing/2014/main" id="{F4BD90FD-1EA9-45B7-9979-9F4298955D30}"/>
              </a:ext>
            </a:extLst>
          </p:cNvPr>
          <p:cNvSpPr>
            <a:spLocks noGrp="1"/>
          </p:cNvSpPr>
          <p:nvPr/>
        </p:nvSpPr>
        <p:spPr>
          <a:xfrm>
            <a:off x="8077200" y="43719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FR-11  Handle failures and fallbacks</a:t>
            </a:r>
          </a:p>
        </p:txBody>
      </p:sp>
      <p:sp>
        <p:nvSpPr>
          <p:cNvPr id="24" name="text-23">
            <a:extLst>
              <a:ext uri="{FF2B5EF4-FFF2-40B4-BE49-F238E27FC236}">
                <a16:creationId xmlns:a16="http://schemas.microsoft.com/office/drawing/2014/main" id="{CB2AB537-F249-4282-AF16-5B7A0E6614AB}"/>
              </a:ext>
            </a:extLst>
          </p:cNvPr>
          <p:cNvSpPr>
            <a:spLocks noGrp="1"/>
          </p:cNvSpPr>
          <p:nvPr/>
        </p:nvSpPr>
        <p:spPr>
          <a:xfrm>
            <a:off x="8077200" y="5095875"/>
            <a:ext cx="3400425" cy="581025"/>
          </a:xfrm>
          <a:prstGeom prst="rect">
            <a:avLst/>
          </a:prstGeom>
        </p:spPr>
        <p:txBody>
          <a:bodyPr wrap="square" lIns="0" tIns="0" rIns="0" bIns="0" anchor="t"/>
          <a:lstStyle/>
          <a:p>
            <a:pPr>
              <a:defRPr sz="1725" b="0">
                <a:solidFill>
                  <a:srgbClr val="173047"/>
                </a:solidFill>
                <a:latin typeface="Arial"/>
                <a:ea typeface="Arial"/>
                <a:cs typeface="Arial"/>
              </a:defRPr>
            </a:pPr>
            <a:r>
              <a:t>FR-12  Provide a kill switch</a:t>
            </a:r>
          </a:p>
        </p:txBody>
      </p:sp>
    </p:spTree>
    <p:extLst>
      <p:ext uri="{BB962C8B-B14F-4D97-AF65-F5344CB8AC3E}">
        <p14:creationId xmlns:p14="http://schemas.microsoft.com/office/powerpoint/2010/main" val="149400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5" name="kicker-marker">
            <a:extLst>
              <a:ext uri="{FF2B5EF4-FFF2-40B4-BE49-F238E27FC236}">
                <a16:creationId xmlns:a16="http://schemas.microsoft.com/office/drawing/2014/main" id="{7994C90F-2670-42FB-A29F-F5D09819B467}"/>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9B1B75B2-F9C4-439F-8F8A-BE4ACE01E82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PRD · NONFUNCTIONAL</a:t>
            </a:r>
          </a:p>
        </p:txBody>
      </p:sp>
      <p:sp>
        <p:nvSpPr>
          <p:cNvPr id="3" name="text-2">
            <a:extLst>
              <a:ext uri="{FF2B5EF4-FFF2-40B4-BE49-F238E27FC236}">
                <a16:creationId xmlns:a16="http://schemas.microsoft.com/office/drawing/2014/main" id="{B33CC10E-4DD8-4720-8A0D-ED9B90546C1D}"/>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The PRD sets a broader quality bar</a:t>
            </a:r>
          </a:p>
          <a:p>
            <a:pPr>
              <a:defRPr sz="3150" b="0">
                <a:solidFill>
                  <a:srgbClr val="173047"/>
                </a:solidFill>
                <a:latin typeface="Georgia"/>
                <a:ea typeface="Georgia"/>
                <a:cs typeface="Georgia"/>
              </a:defRPr>
            </a:pPr>
            <a:r>
              <a:t>than the seven console KPIs</a:t>
            </a:r>
          </a:p>
        </p:txBody>
      </p:sp>
      <p:sp>
        <p:nvSpPr>
          <p:cNvPr id="4" name="shape-3">
            <a:extLst>
              <a:ext uri="{FF2B5EF4-FFF2-40B4-BE49-F238E27FC236}">
                <a16:creationId xmlns:a16="http://schemas.microsoft.com/office/drawing/2014/main" id="{F85A59B3-CE92-45E3-ADD4-D16E552C12DF}"/>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2DE11772-21EC-40AF-9DDA-E5C289B64D16}"/>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Stage_2_PRD_Filled.docx; docs1/03_Reference/Evaluation_Framework.docx; current code and saved results</a:t>
            </a:r>
          </a:p>
        </p:txBody>
      </p:sp>
      <p:sp>
        <p:nvSpPr>
          <p:cNvPr id="6" name="text-5">
            <a:extLst>
              <a:ext uri="{FF2B5EF4-FFF2-40B4-BE49-F238E27FC236}">
                <a16:creationId xmlns:a16="http://schemas.microsoft.com/office/drawing/2014/main" id="{934AE9AC-976B-41D6-A431-9B619327567C}"/>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10</a:t>
            </a:r>
          </a:p>
        </p:txBody>
      </p:sp>
      <p:sp>
        <p:nvSpPr>
          <p:cNvPr id="7" name="shape-6">
            <a:extLst>
              <a:ext uri="{FF2B5EF4-FFF2-40B4-BE49-F238E27FC236}">
                <a16:creationId xmlns:a16="http://schemas.microsoft.com/office/drawing/2014/main" id="{1AEC6810-6018-49EC-9A62-F816206D601A}"/>
              </a:ext>
            </a:extLst>
          </p:cNvPr>
          <p:cNvSpPr>
            <a:spLocks noGrp="1"/>
          </p:cNvSpPr>
          <p:nvPr/>
        </p:nvSpPr>
        <p:spPr>
          <a:xfrm>
            <a:off x="609600" y="2028825"/>
            <a:ext cx="10972800" cy="381000"/>
          </a:xfrm>
          <a:prstGeom prst="rect">
            <a:avLst/>
          </a:prstGeom>
          <a:solidFill>
            <a:srgbClr val="E3ECE8"/>
          </a:solidFill>
        </p:spPr>
      </p:sp>
      <p:sp>
        <p:nvSpPr>
          <p:cNvPr id="8" name="text-7">
            <a:extLst>
              <a:ext uri="{FF2B5EF4-FFF2-40B4-BE49-F238E27FC236}">
                <a16:creationId xmlns:a16="http://schemas.microsoft.com/office/drawing/2014/main" id="{3C281BF8-428C-4930-9861-1F4A7DFACF82}"/>
              </a:ext>
            </a:extLst>
          </p:cNvPr>
          <p:cNvSpPr>
            <a:spLocks noGrp="1"/>
          </p:cNvSpPr>
          <p:nvPr/>
        </p:nvSpPr>
        <p:spPr>
          <a:xfrm>
            <a:off x="723900" y="2143125"/>
            <a:ext cx="2076450" cy="152400"/>
          </a:xfrm>
          <a:prstGeom prst="rect">
            <a:avLst/>
          </a:prstGeom>
        </p:spPr>
        <p:txBody>
          <a:bodyPr wrap="square" lIns="0" tIns="0" rIns="0" bIns="0" anchor="t"/>
          <a:lstStyle/>
          <a:p>
            <a:pPr>
              <a:defRPr sz="975" b="1">
                <a:solidFill>
                  <a:srgbClr val="00766B"/>
                </a:solidFill>
                <a:latin typeface="Arial"/>
                <a:ea typeface="Arial"/>
                <a:cs typeface="Arial"/>
              </a:defRPr>
            </a:pPr>
            <a:r>
              <a:t>REQUIREMENT</a:t>
            </a:r>
          </a:p>
        </p:txBody>
      </p:sp>
      <p:sp>
        <p:nvSpPr>
          <p:cNvPr id="9" name="text-8">
            <a:extLst>
              <a:ext uri="{FF2B5EF4-FFF2-40B4-BE49-F238E27FC236}">
                <a16:creationId xmlns:a16="http://schemas.microsoft.com/office/drawing/2014/main" id="{91FB497B-5357-4935-BF42-05C24AE6BF78}"/>
              </a:ext>
            </a:extLst>
          </p:cNvPr>
          <p:cNvSpPr>
            <a:spLocks noGrp="1"/>
          </p:cNvSpPr>
          <p:nvPr/>
        </p:nvSpPr>
        <p:spPr>
          <a:xfrm>
            <a:off x="3028950" y="2143125"/>
            <a:ext cx="3286125" cy="152400"/>
          </a:xfrm>
          <a:prstGeom prst="rect">
            <a:avLst/>
          </a:prstGeom>
        </p:spPr>
        <p:txBody>
          <a:bodyPr wrap="square" lIns="0" tIns="0" rIns="0" bIns="0" anchor="t"/>
          <a:lstStyle/>
          <a:p>
            <a:pPr>
              <a:defRPr sz="975" b="1">
                <a:solidFill>
                  <a:srgbClr val="00766B"/>
                </a:solidFill>
                <a:latin typeface="Arial"/>
                <a:ea typeface="Arial"/>
                <a:cs typeface="Arial"/>
              </a:defRPr>
            </a:pPr>
            <a:r>
              <a:t>ORIGINAL EXPECTATION</a:t>
            </a:r>
          </a:p>
        </p:txBody>
      </p:sp>
      <p:sp>
        <p:nvSpPr>
          <p:cNvPr id="10" name="text-9">
            <a:extLst>
              <a:ext uri="{FF2B5EF4-FFF2-40B4-BE49-F238E27FC236}">
                <a16:creationId xmlns:a16="http://schemas.microsoft.com/office/drawing/2014/main" id="{2A3B55DA-6F54-4FCB-8EE6-B877C0359ECE}"/>
              </a:ext>
            </a:extLst>
          </p:cNvPr>
          <p:cNvSpPr>
            <a:spLocks noGrp="1"/>
          </p:cNvSpPr>
          <p:nvPr/>
        </p:nvSpPr>
        <p:spPr>
          <a:xfrm>
            <a:off x="6543675" y="2143125"/>
            <a:ext cx="4924425" cy="152400"/>
          </a:xfrm>
          <a:prstGeom prst="rect">
            <a:avLst/>
          </a:prstGeom>
        </p:spPr>
        <p:txBody>
          <a:bodyPr wrap="square" lIns="0" tIns="0" rIns="0" bIns="0" anchor="t"/>
          <a:lstStyle/>
          <a:p>
            <a:pPr>
              <a:defRPr sz="975" b="1">
                <a:solidFill>
                  <a:srgbClr val="00766B"/>
                </a:solidFill>
                <a:latin typeface="Arial"/>
                <a:ea typeface="Arial"/>
                <a:cs typeface="Arial"/>
              </a:defRPr>
            </a:pPr>
            <a:r>
              <a:t>CURRENT EVIDENCE / LIMIT</a:t>
            </a:r>
          </a:p>
        </p:txBody>
      </p:sp>
      <p:sp>
        <p:nvSpPr>
          <p:cNvPr id="11" name="text-10">
            <a:extLst>
              <a:ext uri="{FF2B5EF4-FFF2-40B4-BE49-F238E27FC236}">
                <a16:creationId xmlns:a16="http://schemas.microsoft.com/office/drawing/2014/main" id="{606502EB-6D49-4512-A3CC-BF4A6DC463F5}"/>
              </a:ext>
            </a:extLst>
          </p:cNvPr>
          <p:cNvSpPr>
            <a:spLocks noGrp="1"/>
          </p:cNvSpPr>
          <p:nvPr/>
        </p:nvSpPr>
        <p:spPr>
          <a:xfrm>
            <a:off x="723900" y="2524125"/>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01 · Latency</a:t>
            </a:r>
          </a:p>
        </p:txBody>
      </p:sp>
      <p:sp>
        <p:nvSpPr>
          <p:cNvPr id="12" name="text-11">
            <a:extLst>
              <a:ext uri="{FF2B5EF4-FFF2-40B4-BE49-F238E27FC236}">
                <a16:creationId xmlns:a16="http://schemas.microsoft.com/office/drawing/2014/main" id="{192F959C-957C-404C-83EC-2F18BC23E840}"/>
              </a:ext>
            </a:extLst>
          </p:cNvPr>
          <p:cNvSpPr>
            <a:spLocks noGrp="1"/>
          </p:cNvSpPr>
          <p:nvPr/>
        </p:nvSpPr>
        <p:spPr>
          <a:xfrm>
            <a:off x="3028950" y="2524125"/>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P95 &lt; 3 s for auto-responses</a:t>
            </a:r>
          </a:p>
        </p:txBody>
      </p:sp>
      <p:sp>
        <p:nvSpPr>
          <p:cNvPr id="13" name="text-12">
            <a:extLst>
              <a:ext uri="{FF2B5EF4-FFF2-40B4-BE49-F238E27FC236}">
                <a16:creationId xmlns:a16="http://schemas.microsoft.com/office/drawing/2014/main" id="{E97C5802-FFEB-4FC7-8411-BF203F63FB15}"/>
              </a:ext>
            </a:extLst>
          </p:cNvPr>
          <p:cNvSpPr>
            <a:spLocks noGrp="1"/>
          </p:cNvSpPr>
          <p:nvPr/>
        </p:nvSpPr>
        <p:spPr>
          <a:xfrm>
            <a:off x="6543675" y="2524125"/>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Saved all-ticket P95: 12.287 s; narrower scope needs reporting.</a:t>
            </a:r>
          </a:p>
        </p:txBody>
      </p:sp>
      <p:sp>
        <p:nvSpPr>
          <p:cNvPr id="14" name="shape-13">
            <a:extLst>
              <a:ext uri="{FF2B5EF4-FFF2-40B4-BE49-F238E27FC236}">
                <a16:creationId xmlns:a16="http://schemas.microsoft.com/office/drawing/2014/main" id="{60C78E06-1C71-4333-B550-9BF76966877F}"/>
              </a:ext>
            </a:extLst>
          </p:cNvPr>
          <p:cNvSpPr>
            <a:spLocks noGrp="1"/>
          </p:cNvSpPr>
          <p:nvPr/>
        </p:nvSpPr>
        <p:spPr>
          <a:xfrm>
            <a:off x="609600" y="2990850"/>
            <a:ext cx="10972800" cy="9525"/>
          </a:xfrm>
          <a:prstGeom prst="rect">
            <a:avLst/>
          </a:prstGeom>
          <a:solidFill>
            <a:srgbClr val="CDD3D2"/>
          </a:solidFill>
        </p:spPr>
      </p:sp>
      <p:sp>
        <p:nvSpPr>
          <p:cNvPr id="15" name="text-14">
            <a:extLst>
              <a:ext uri="{FF2B5EF4-FFF2-40B4-BE49-F238E27FC236}">
                <a16:creationId xmlns:a16="http://schemas.microsoft.com/office/drawing/2014/main" id="{BB7DE57A-B7BE-4927-9D32-D8A2C3969718}"/>
              </a:ext>
            </a:extLst>
          </p:cNvPr>
          <p:cNvSpPr>
            <a:spLocks noGrp="1"/>
          </p:cNvSpPr>
          <p:nvPr/>
        </p:nvSpPr>
        <p:spPr>
          <a:xfrm>
            <a:off x="723900" y="3105150"/>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02 · Availability</a:t>
            </a:r>
          </a:p>
        </p:txBody>
      </p:sp>
      <p:sp>
        <p:nvSpPr>
          <p:cNvPr id="16" name="text-15">
            <a:extLst>
              <a:ext uri="{FF2B5EF4-FFF2-40B4-BE49-F238E27FC236}">
                <a16:creationId xmlns:a16="http://schemas.microsoft.com/office/drawing/2014/main" id="{5ADB218C-6C50-4ABC-B7DB-556ADB2A92F7}"/>
              </a:ext>
            </a:extLst>
          </p:cNvPr>
          <p:cNvSpPr>
            <a:spLocks noGrp="1"/>
          </p:cNvSpPr>
          <p:nvPr/>
        </p:nvSpPr>
        <p:spPr>
          <a:xfrm>
            <a:off x="3028950" y="3105150"/>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≥99.5%</a:t>
            </a:r>
          </a:p>
        </p:txBody>
      </p:sp>
      <p:sp>
        <p:nvSpPr>
          <p:cNvPr id="17" name="text-16">
            <a:extLst>
              <a:ext uri="{FF2B5EF4-FFF2-40B4-BE49-F238E27FC236}">
                <a16:creationId xmlns:a16="http://schemas.microsoft.com/office/drawing/2014/main" id="{1EA0E4FB-3C4E-4F43-98C0-A783F24FA6F8}"/>
              </a:ext>
            </a:extLst>
          </p:cNvPr>
          <p:cNvSpPr>
            <a:spLocks noGrp="1"/>
          </p:cNvSpPr>
          <p:nvPr/>
        </p:nvSpPr>
        <p:spPr>
          <a:xfrm>
            <a:off x="6543675" y="3105150"/>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No production uptime evidence.</a:t>
            </a:r>
          </a:p>
        </p:txBody>
      </p:sp>
      <p:sp>
        <p:nvSpPr>
          <p:cNvPr id="18" name="shape-17">
            <a:extLst>
              <a:ext uri="{FF2B5EF4-FFF2-40B4-BE49-F238E27FC236}">
                <a16:creationId xmlns:a16="http://schemas.microsoft.com/office/drawing/2014/main" id="{0AC67B5D-E1E7-49E7-B560-9CFFA38354EE}"/>
              </a:ext>
            </a:extLst>
          </p:cNvPr>
          <p:cNvSpPr>
            <a:spLocks noGrp="1"/>
          </p:cNvSpPr>
          <p:nvPr/>
        </p:nvSpPr>
        <p:spPr>
          <a:xfrm>
            <a:off x="609600" y="3571875"/>
            <a:ext cx="10972800" cy="9525"/>
          </a:xfrm>
          <a:prstGeom prst="rect">
            <a:avLst/>
          </a:prstGeom>
          <a:solidFill>
            <a:srgbClr val="CDD3D2"/>
          </a:solidFill>
        </p:spPr>
      </p:sp>
      <p:sp>
        <p:nvSpPr>
          <p:cNvPr id="19" name="text-18">
            <a:extLst>
              <a:ext uri="{FF2B5EF4-FFF2-40B4-BE49-F238E27FC236}">
                <a16:creationId xmlns:a16="http://schemas.microsoft.com/office/drawing/2014/main" id="{FF9F8D6C-6710-43EF-A84F-99E5D70828F3}"/>
              </a:ext>
            </a:extLst>
          </p:cNvPr>
          <p:cNvSpPr>
            <a:spLocks noGrp="1"/>
          </p:cNvSpPr>
          <p:nvPr/>
        </p:nvSpPr>
        <p:spPr>
          <a:xfrm>
            <a:off x="723900" y="3686175"/>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03 · Quality</a:t>
            </a:r>
          </a:p>
        </p:txBody>
      </p:sp>
      <p:sp>
        <p:nvSpPr>
          <p:cNvPr id="20" name="text-19">
            <a:extLst>
              <a:ext uri="{FF2B5EF4-FFF2-40B4-BE49-F238E27FC236}">
                <a16:creationId xmlns:a16="http://schemas.microsoft.com/office/drawing/2014/main" id="{8677D75A-CD9A-46D3-A23B-C57A31E2ED4A}"/>
              </a:ext>
            </a:extLst>
          </p:cNvPr>
          <p:cNvSpPr>
            <a:spLocks noGrp="1"/>
          </p:cNvSpPr>
          <p:nvPr/>
        </p:nvSpPr>
        <p:spPr>
          <a:xfrm>
            <a:off x="3028950" y="3686175"/>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Per-class precision ≥85%; faithful ≥95%; hallucination ≤5%</a:t>
            </a:r>
          </a:p>
        </p:txBody>
      </p:sp>
      <p:sp>
        <p:nvSpPr>
          <p:cNvPr id="21" name="text-20">
            <a:extLst>
              <a:ext uri="{FF2B5EF4-FFF2-40B4-BE49-F238E27FC236}">
                <a16:creationId xmlns:a16="http://schemas.microsoft.com/office/drawing/2014/main" id="{46C24AAE-FB52-4092-B963-077112B722D2}"/>
              </a:ext>
            </a:extLst>
          </p:cNvPr>
          <p:cNvSpPr>
            <a:spLocks noGrp="1"/>
          </p:cNvSpPr>
          <p:nvPr/>
        </p:nvSpPr>
        <p:spPr>
          <a:xfrm>
            <a:off x="6543675" y="3686175"/>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Weighted precision and ID validity are narrower proxies.</a:t>
            </a:r>
          </a:p>
        </p:txBody>
      </p:sp>
      <p:sp>
        <p:nvSpPr>
          <p:cNvPr id="22" name="shape-21">
            <a:extLst>
              <a:ext uri="{FF2B5EF4-FFF2-40B4-BE49-F238E27FC236}">
                <a16:creationId xmlns:a16="http://schemas.microsoft.com/office/drawing/2014/main" id="{DCC8C3E7-53B4-4661-9B89-922E8F56192F}"/>
              </a:ext>
            </a:extLst>
          </p:cNvPr>
          <p:cNvSpPr>
            <a:spLocks noGrp="1"/>
          </p:cNvSpPr>
          <p:nvPr/>
        </p:nvSpPr>
        <p:spPr>
          <a:xfrm>
            <a:off x="609600" y="4152900"/>
            <a:ext cx="10972800" cy="9525"/>
          </a:xfrm>
          <a:prstGeom prst="rect">
            <a:avLst/>
          </a:prstGeom>
          <a:solidFill>
            <a:srgbClr val="CDD3D2"/>
          </a:solidFill>
        </p:spPr>
      </p:sp>
      <p:sp>
        <p:nvSpPr>
          <p:cNvPr id="23" name="text-22">
            <a:extLst>
              <a:ext uri="{FF2B5EF4-FFF2-40B4-BE49-F238E27FC236}">
                <a16:creationId xmlns:a16="http://schemas.microsoft.com/office/drawing/2014/main" id="{67F50D15-6DFE-48D2-92D3-2289540FEBA6}"/>
              </a:ext>
            </a:extLst>
          </p:cNvPr>
          <p:cNvSpPr>
            <a:spLocks noGrp="1"/>
          </p:cNvSpPr>
          <p:nvPr/>
        </p:nvSpPr>
        <p:spPr>
          <a:xfrm>
            <a:off x="723900" y="4267200"/>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04 / 05 · Trust</a:t>
            </a:r>
          </a:p>
        </p:txBody>
      </p:sp>
      <p:sp>
        <p:nvSpPr>
          <p:cNvPr id="24" name="text-23">
            <a:extLst>
              <a:ext uri="{FF2B5EF4-FFF2-40B4-BE49-F238E27FC236}">
                <a16:creationId xmlns:a16="http://schemas.microsoft.com/office/drawing/2014/main" id="{0D692D47-2E76-4F01-BB0E-9F866AC2E22D}"/>
              </a:ext>
            </a:extLst>
          </p:cNvPr>
          <p:cNvSpPr>
            <a:spLocks noGrp="1"/>
          </p:cNvSpPr>
          <p:nvPr/>
        </p:nvSpPr>
        <p:spPr>
          <a:xfrm>
            <a:off x="3028950" y="4267200"/>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No private-data leakage; exact audit</a:t>
            </a:r>
          </a:p>
        </p:txBody>
      </p:sp>
      <p:sp>
        <p:nvSpPr>
          <p:cNvPr id="25" name="text-24">
            <a:extLst>
              <a:ext uri="{FF2B5EF4-FFF2-40B4-BE49-F238E27FC236}">
                <a16:creationId xmlns:a16="http://schemas.microsoft.com/office/drawing/2014/main" id="{E6A9CE54-3138-467F-991C-0933071CC03C}"/>
              </a:ext>
            </a:extLst>
          </p:cNvPr>
          <p:cNvSpPr>
            <a:spLocks noGrp="1"/>
          </p:cNvSpPr>
          <p:nvPr/>
        </p:nvSpPr>
        <p:spPr>
          <a:xfrm>
            <a:off x="6543675" y="4267200"/>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Regex subset checked; 80/80 run records reconcile.</a:t>
            </a:r>
          </a:p>
        </p:txBody>
      </p:sp>
      <p:sp>
        <p:nvSpPr>
          <p:cNvPr id="26" name="shape-25">
            <a:extLst>
              <a:ext uri="{FF2B5EF4-FFF2-40B4-BE49-F238E27FC236}">
                <a16:creationId xmlns:a16="http://schemas.microsoft.com/office/drawing/2014/main" id="{7BA86D43-900E-4198-833C-0A888B5F35AE}"/>
              </a:ext>
            </a:extLst>
          </p:cNvPr>
          <p:cNvSpPr>
            <a:spLocks noGrp="1"/>
          </p:cNvSpPr>
          <p:nvPr/>
        </p:nvSpPr>
        <p:spPr>
          <a:xfrm>
            <a:off x="609600" y="4733925"/>
            <a:ext cx="10972800" cy="9525"/>
          </a:xfrm>
          <a:prstGeom prst="rect">
            <a:avLst/>
          </a:prstGeom>
          <a:solidFill>
            <a:srgbClr val="CDD3D2"/>
          </a:solidFill>
        </p:spPr>
      </p:sp>
      <p:sp>
        <p:nvSpPr>
          <p:cNvPr id="27" name="text-26">
            <a:extLst>
              <a:ext uri="{FF2B5EF4-FFF2-40B4-BE49-F238E27FC236}">
                <a16:creationId xmlns:a16="http://schemas.microsoft.com/office/drawing/2014/main" id="{AFA6A2C1-4303-4846-9364-1BAC185071D6}"/>
              </a:ext>
            </a:extLst>
          </p:cNvPr>
          <p:cNvSpPr>
            <a:spLocks noGrp="1"/>
          </p:cNvSpPr>
          <p:nvPr/>
        </p:nvSpPr>
        <p:spPr>
          <a:xfrm>
            <a:off x="723900" y="4848225"/>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06 / 08 · Reliability</a:t>
            </a:r>
          </a:p>
        </p:txBody>
      </p:sp>
      <p:sp>
        <p:nvSpPr>
          <p:cNvPr id="28" name="text-27">
            <a:extLst>
              <a:ext uri="{FF2B5EF4-FFF2-40B4-BE49-F238E27FC236}">
                <a16:creationId xmlns:a16="http://schemas.microsoft.com/office/drawing/2014/main" id="{F958B9F2-F723-4102-8C5C-B85B4BBE0DD8}"/>
              </a:ext>
            </a:extLst>
          </p:cNvPr>
          <p:cNvSpPr>
            <a:spLocks noGrp="1"/>
          </p:cNvSpPr>
          <p:nvPr/>
        </p:nvSpPr>
        <p:spPr>
          <a:xfrm>
            <a:off x="3028950" y="4848225"/>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Group gap &lt;5 pp; calibration gap ≤5 pp</a:t>
            </a:r>
          </a:p>
        </p:txBody>
      </p:sp>
      <p:sp>
        <p:nvSpPr>
          <p:cNvPr id="29" name="text-28">
            <a:extLst>
              <a:ext uri="{FF2B5EF4-FFF2-40B4-BE49-F238E27FC236}">
                <a16:creationId xmlns:a16="http://schemas.microsoft.com/office/drawing/2014/main" id="{AD11E82B-6C6E-4394-B6FD-CB965BFA7EA5}"/>
              </a:ext>
            </a:extLst>
          </p:cNvPr>
          <p:cNvSpPr>
            <a:spLocks noGrp="1"/>
          </p:cNvSpPr>
          <p:nvPr/>
        </p:nvSpPr>
        <p:spPr>
          <a:xfrm>
            <a:off x="6543675" y="4848225"/>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Accuracy-group and calibration diagnostics expose gaps.</a:t>
            </a:r>
          </a:p>
        </p:txBody>
      </p:sp>
      <p:sp>
        <p:nvSpPr>
          <p:cNvPr id="30" name="shape-29">
            <a:extLst>
              <a:ext uri="{FF2B5EF4-FFF2-40B4-BE49-F238E27FC236}">
                <a16:creationId xmlns:a16="http://schemas.microsoft.com/office/drawing/2014/main" id="{09EC72D4-E253-438B-A485-898FCE347D07}"/>
              </a:ext>
            </a:extLst>
          </p:cNvPr>
          <p:cNvSpPr>
            <a:spLocks noGrp="1"/>
          </p:cNvSpPr>
          <p:nvPr/>
        </p:nvSpPr>
        <p:spPr>
          <a:xfrm>
            <a:off x="609600" y="5314950"/>
            <a:ext cx="10972800" cy="9525"/>
          </a:xfrm>
          <a:prstGeom prst="rect">
            <a:avLst/>
          </a:prstGeom>
          <a:solidFill>
            <a:srgbClr val="CDD3D2"/>
          </a:solidFill>
        </p:spPr>
      </p:sp>
      <p:sp>
        <p:nvSpPr>
          <p:cNvPr id="31" name="text-30">
            <a:extLst>
              <a:ext uri="{FF2B5EF4-FFF2-40B4-BE49-F238E27FC236}">
                <a16:creationId xmlns:a16="http://schemas.microsoft.com/office/drawing/2014/main" id="{03F260A1-4E5A-4381-B510-5C1783C9A3FE}"/>
              </a:ext>
            </a:extLst>
          </p:cNvPr>
          <p:cNvSpPr>
            <a:spLocks noGrp="1"/>
          </p:cNvSpPr>
          <p:nvPr/>
        </p:nvSpPr>
        <p:spPr>
          <a:xfrm>
            <a:off x="723900" y="5429250"/>
            <a:ext cx="2076450" cy="428625"/>
          </a:xfrm>
          <a:prstGeom prst="rect">
            <a:avLst/>
          </a:prstGeom>
        </p:spPr>
        <p:txBody>
          <a:bodyPr wrap="square" lIns="0" tIns="0" rIns="0" bIns="0" anchor="t"/>
          <a:lstStyle/>
          <a:p>
            <a:pPr>
              <a:defRPr sz="1350" b="1">
                <a:solidFill>
                  <a:srgbClr val="173047"/>
                </a:solidFill>
                <a:latin typeface="Arial"/>
                <a:ea typeface="Arial"/>
                <a:cs typeface="Arial"/>
              </a:defRPr>
            </a:pPr>
            <a:r>
              <a:t>07 / 09 / 10 · Delivery</a:t>
            </a:r>
          </a:p>
        </p:txBody>
      </p:sp>
      <p:sp>
        <p:nvSpPr>
          <p:cNvPr id="32" name="text-31">
            <a:extLst>
              <a:ext uri="{FF2B5EF4-FFF2-40B4-BE49-F238E27FC236}">
                <a16:creationId xmlns:a16="http://schemas.microsoft.com/office/drawing/2014/main" id="{D7F428C8-3768-4EB8-A2B9-0C9B44C9AEA3}"/>
              </a:ext>
            </a:extLst>
          </p:cNvPr>
          <p:cNvSpPr>
            <a:spLocks noGrp="1"/>
          </p:cNvSpPr>
          <p:nvPr/>
        </p:nvSpPr>
        <p:spPr>
          <a:xfrm>
            <a:off x="3028950" y="5429250"/>
            <a:ext cx="3286125" cy="428625"/>
          </a:xfrm>
          <a:prstGeom prst="rect">
            <a:avLst/>
          </a:prstGeom>
        </p:spPr>
        <p:txBody>
          <a:bodyPr wrap="square" lIns="0" tIns="0" rIns="0" bIns="0" anchor="t"/>
          <a:lstStyle/>
          <a:p>
            <a:pPr>
              <a:defRPr sz="1350" b="0">
                <a:solidFill>
                  <a:srgbClr val="546573"/>
                </a:solidFill>
                <a:latin typeface="Arial"/>
                <a:ea typeface="Arial"/>
                <a:cs typeface="Arial"/>
              </a:defRPr>
            </a:pPr>
            <a:r>
              <a:t>Cost limits; reproducible setup; tests</a:t>
            </a:r>
          </a:p>
        </p:txBody>
      </p:sp>
      <p:sp>
        <p:nvSpPr>
          <p:cNvPr id="33" name="text-32">
            <a:extLst>
              <a:ext uri="{FF2B5EF4-FFF2-40B4-BE49-F238E27FC236}">
                <a16:creationId xmlns:a16="http://schemas.microsoft.com/office/drawing/2014/main" id="{2AC8D97A-A707-4228-84C0-3324319B1EFB}"/>
              </a:ext>
            </a:extLst>
          </p:cNvPr>
          <p:cNvSpPr>
            <a:spLocks noGrp="1"/>
          </p:cNvSpPr>
          <p:nvPr/>
        </p:nvSpPr>
        <p:spPr>
          <a:xfrm>
            <a:off x="6543675" y="5429250"/>
            <a:ext cx="4924425" cy="428625"/>
          </a:xfrm>
          <a:prstGeom prst="rect">
            <a:avLst/>
          </a:prstGeom>
        </p:spPr>
        <p:txBody>
          <a:bodyPr wrap="square" lIns="0" tIns="0" rIns="0" bIns="0" anchor="t"/>
          <a:lstStyle/>
          <a:p>
            <a:pPr>
              <a:defRPr sz="1350" b="0">
                <a:solidFill>
                  <a:srgbClr val="546573"/>
                </a:solidFill>
                <a:latin typeface="Arial"/>
                <a:ea typeface="Arial"/>
                <a:cs typeface="Arial"/>
              </a:defRPr>
            </a:pPr>
            <a:r>
              <a:t>Setup and tests exist; cost/caching claims need proof.</a:t>
            </a:r>
          </a:p>
        </p:txBody>
      </p:sp>
      <p:sp>
        <p:nvSpPr>
          <p:cNvPr id="34" name="shape-33">
            <a:extLst>
              <a:ext uri="{FF2B5EF4-FFF2-40B4-BE49-F238E27FC236}">
                <a16:creationId xmlns:a16="http://schemas.microsoft.com/office/drawing/2014/main" id="{8A6E9216-0046-49DB-B814-B1160589AA25}"/>
              </a:ext>
            </a:extLst>
          </p:cNvPr>
          <p:cNvSpPr>
            <a:spLocks noGrp="1"/>
          </p:cNvSpPr>
          <p:nvPr/>
        </p:nvSpPr>
        <p:spPr>
          <a:xfrm>
            <a:off x="609600" y="5895975"/>
            <a:ext cx="10972800" cy="9525"/>
          </a:xfrm>
          <a:prstGeom prst="rect">
            <a:avLst/>
          </a:prstGeom>
          <a:solidFill>
            <a:srgbClr val="CDD3D2"/>
          </a:solidFill>
        </p:spPr>
      </p:sp>
    </p:spTree>
    <p:extLst>
      <p:ext uri="{BB962C8B-B14F-4D97-AF65-F5344CB8AC3E}">
        <p14:creationId xmlns:p14="http://schemas.microsoft.com/office/powerpoint/2010/main" val="1651704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0" name="kicker-marker">
            <a:extLst>
              <a:ext uri="{FF2B5EF4-FFF2-40B4-BE49-F238E27FC236}">
                <a16:creationId xmlns:a16="http://schemas.microsoft.com/office/drawing/2014/main" id="{24574B09-34BF-4449-9E84-9EE8D733365F}"/>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B6F7307C-8587-41D7-88A1-EDC1E3D16264}"/>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SPRINT PLAN</a:t>
            </a:r>
          </a:p>
        </p:txBody>
      </p:sp>
      <p:sp>
        <p:nvSpPr>
          <p:cNvPr id="3" name="text-2">
            <a:extLst>
              <a:ext uri="{FF2B5EF4-FFF2-40B4-BE49-F238E27FC236}">
                <a16:creationId xmlns:a16="http://schemas.microsoft.com/office/drawing/2014/main" id="{152765D4-B917-466E-97A0-0C1A8CECDB6C}"/>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Build the evaluable core first,</a:t>
            </a:r>
          </a:p>
          <a:p>
            <a:pPr>
              <a:defRPr sz="3150" b="0">
                <a:solidFill>
                  <a:srgbClr val="173047"/>
                </a:solidFill>
                <a:latin typeface="Georgia"/>
                <a:ea typeface="Georgia"/>
                <a:cs typeface="Georgia"/>
              </a:defRPr>
            </a:pPr>
            <a:r>
              <a:t>then harden and explain it</a:t>
            </a:r>
          </a:p>
        </p:txBody>
      </p:sp>
      <p:sp>
        <p:nvSpPr>
          <p:cNvPr id="4" name="shape-3">
            <a:extLst>
              <a:ext uri="{FF2B5EF4-FFF2-40B4-BE49-F238E27FC236}">
                <a16:creationId xmlns:a16="http://schemas.microsoft.com/office/drawing/2014/main" id="{F3593F9F-5219-4BAA-BF7A-4F8E27ECF825}"/>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F3726321-04C2-40F2-BB77-C92DA4BC72F8}"/>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docs/Stage_4_Sprint_Plan_Filled.docx · planned sequence; individual implementation by Mouli Sai</a:t>
            </a:r>
          </a:p>
        </p:txBody>
      </p:sp>
      <p:sp>
        <p:nvSpPr>
          <p:cNvPr id="6" name="text-5">
            <a:extLst>
              <a:ext uri="{FF2B5EF4-FFF2-40B4-BE49-F238E27FC236}">
                <a16:creationId xmlns:a16="http://schemas.microsoft.com/office/drawing/2014/main" id="{AA6BAD9F-C24F-4691-9946-751F8BE66D2E}"/>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11</a:t>
            </a:r>
          </a:p>
        </p:txBody>
      </p:sp>
      <p:sp>
        <p:nvSpPr>
          <p:cNvPr id="7" name="text-6">
            <a:extLst>
              <a:ext uri="{FF2B5EF4-FFF2-40B4-BE49-F238E27FC236}">
                <a16:creationId xmlns:a16="http://schemas.microsoft.com/office/drawing/2014/main" id="{FD56A562-2C5B-4B89-9B8A-F03989E79DCB}"/>
              </a:ext>
            </a:extLst>
          </p:cNvPr>
          <p:cNvSpPr>
            <a:spLocks noGrp="1"/>
          </p:cNvSpPr>
          <p:nvPr/>
        </p:nvSpPr>
        <p:spPr>
          <a:xfrm>
            <a:off x="609600" y="2133600"/>
            <a:ext cx="3429000" cy="228600"/>
          </a:xfrm>
          <a:prstGeom prst="rect">
            <a:avLst/>
          </a:prstGeom>
        </p:spPr>
        <p:txBody>
          <a:bodyPr wrap="square" lIns="0" tIns="0" rIns="0" bIns="0" anchor="t"/>
          <a:lstStyle/>
          <a:p>
            <a:pPr>
              <a:defRPr sz="975" b="1">
                <a:solidFill>
                  <a:srgbClr val="00766B"/>
                </a:solidFill>
                <a:latin typeface="Arial"/>
                <a:ea typeface="Arial"/>
                <a:cs typeface="Arial"/>
              </a:defRPr>
            </a:pPr>
            <a:r>
              <a:t>WEEK 1</a:t>
            </a:r>
          </a:p>
        </p:txBody>
      </p:sp>
      <p:sp>
        <p:nvSpPr>
          <p:cNvPr id="8" name="shape-7">
            <a:extLst>
              <a:ext uri="{FF2B5EF4-FFF2-40B4-BE49-F238E27FC236}">
                <a16:creationId xmlns:a16="http://schemas.microsoft.com/office/drawing/2014/main" id="{0526621A-AADD-4D72-A17D-F6187CEDCE4A}"/>
              </a:ext>
            </a:extLst>
          </p:cNvPr>
          <p:cNvSpPr>
            <a:spLocks noGrp="1"/>
          </p:cNvSpPr>
          <p:nvPr/>
        </p:nvSpPr>
        <p:spPr>
          <a:xfrm>
            <a:off x="609600" y="2552700"/>
            <a:ext cx="3371850" cy="76200"/>
          </a:xfrm>
          <a:prstGeom prst="rect">
            <a:avLst/>
          </a:prstGeom>
          <a:solidFill>
            <a:srgbClr val="00766B"/>
          </a:solidFill>
        </p:spPr>
      </p:sp>
      <p:sp>
        <p:nvSpPr>
          <p:cNvPr id="9" name="text-8">
            <a:extLst>
              <a:ext uri="{FF2B5EF4-FFF2-40B4-BE49-F238E27FC236}">
                <a16:creationId xmlns:a16="http://schemas.microsoft.com/office/drawing/2014/main" id="{6B0EF3E2-5271-4C70-A661-F2BCC40115ED}"/>
              </a:ext>
            </a:extLst>
          </p:cNvPr>
          <p:cNvSpPr>
            <a:spLocks noGrp="1"/>
          </p:cNvSpPr>
          <p:nvPr/>
        </p:nvSpPr>
        <p:spPr>
          <a:xfrm>
            <a:off x="609600" y="2886075"/>
            <a:ext cx="3333750" cy="762000"/>
          </a:xfrm>
          <a:prstGeom prst="rect">
            <a:avLst/>
          </a:prstGeom>
        </p:spPr>
        <p:txBody>
          <a:bodyPr wrap="square" lIns="0" tIns="0" rIns="0" bIns="0" anchor="t"/>
          <a:lstStyle/>
          <a:p>
            <a:pPr>
              <a:defRPr sz="2250" b="0">
                <a:solidFill>
                  <a:srgbClr val="173047"/>
                </a:solidFill>
                <a:latin typeface="Georgia"/>
                <a:ea typeface="Georgia"/>
                <a:cs typeface="Georgia"/>
              </a:defRPr>
            </a:pPr>
            <a:r>
              <a:t>Discover and specify</a:t>
            </a:r>
          </a:p>
        </p:txBody>
      </p:sp>
      <p:sp>
        <p:nvSpPr>
          <p:cNvPr id="10" name="text-9">
            <a:extLst>
              <a:ext uri="{FF2B5EF4-FFF2-40B4-BE49-F238E27FC236}">
                <a16:creationId xmlns:a16="http://schemas.microsoft.com/office/drawing/2014/main" id="{48321F70-7AAA-4F87-9281-07A4FEF04427}"/>
              </a:ext>
            </a:extLst>
          </p:cNvPr>
          <p:cNvSpPr>
            <a:spLocks noGrp="1"/>
          </p:cNvSpPr>
          <p:nvPr/>
        </p:nvSpPr>
        <p:spPr>
          <a:xfrm>
            <a:off x="609600" y="3905250"/>
            <a:ext cx="3333750" cy="1323975"/>
          </a:xfrm>
          <a:prstGeom prst="rect">
            <a:avLst/>
          </a:prstGeom>
        </p:spPr>
        <p:txBody>
          <a:bodyPr wrap="square" lIns="0" tIns="0" rIns="0" bIns="0" anchor="t"/>
          <a:lstStyle/>
          <a:p>
            <a:pPr>
              <a:defRPr sz="1725" b="0">
                <a:solidFill>
                  <a:srgbClr val="546573"/>
                </a:solidFill>
                <a:latin typeface="Arial"/>
                <a:ea typeface="Arial"/>
                <a:cs typeface="Arial"/>
              </a:defRPr>
            </a:pPr>
            <a:r>
              <a:t>Interviews + dataset profiling</a:t>
            </a:r>
          </a:p>
          <a:p>
            <a:pPr>
              <a:defRPr sz="1725" b="0">
                <a:solidFill>
                  <a:srgbClr val="546573"/>
                </a:solidFill>
                <a:latin typeface="Arial"/>
                <a:ea typeface="Arial"/>
                <a:cs typeface="Arial"/>
              </a:defRPr>
            </a:pPr>
            <a:r>
              <a:t>FR / NFR + risk boundaries</a:t>
            </a:r>
          </a:p>
          <a:p>
            <a:pPr>
              <a:defRPr sz="1725" b="0">
                <a:solidFill>
                  <a:srgbClr val="546573"/>
                </a:solidFill>
                <a:latin typeface="Arial"/>
                <a:ea typeface="Arial"/>
                <a:cs typeface="Arial"/>
              </a:defRPr>
            </a:pPr>
            <a:r>
              <a:t>Prompt and acceptance design</a:t>
            </a:r>
          </a:p>
        </p:txBody>
      </p:sp>
      <p:sp>
        <p:nvSpPr>
          <p:cNvPr id="11" name="text-10">
            <a:extLst>
              <a:ext uri="{FF2B5EF4-FFF2-40B4-BE49-F238E27FC236}">
                <a16:creationId xmlns:a16="http://schemas.microsoft.com/office/drawing/2014/main" id="{622566AC-8AE2-4D96-A9B1-EE38DEEBBB7D}"/>
              </a:ext>
            </a:extLst>
          </p:cNvPr>
          <p:cNvSpPr>
            <a:spLocks noGrp="1"/>
          </p:cNvSpPr>
          <p:nvPr/>
        </p:nvSpPr>
        <p:spPr>
          <a:xfrm>
            <a:off x="4352925" y="2133600"/>
            <a:ext cx="3429000" cy="228600"/>
          </a:xfrm>
          <a:prstGeom prst="rect">
            <a:avLst/>
          </a:prstGeom>
        </p:spPr>
        <p:txBody>
          <a:bodyPr wrap="square" lIns="0" tIns="0" rIns="0" bIns="0" anchor="t"/>
          <a:lstStyle/>
          <a:p>
            <a:pPr>
              <a:defRPr sz="975" b="1">
                <a:solidFill>
                  <a:srgbClr val="00766B"/>
                </a:solidFill>
                <a:latin typeface="Arial"/>
                <a:ea typeface="Arial"/>
                <a:cs typeface="Arial"/>
              </a:defRPr>
            </a:pPr>
            <a:r>
              <a:t>WEEK 2</a:t>
            </a:r>
          </a:p>
        </p:txBody>
      </p:sp>
      <p:sp>
        <p:nvSpPr>
          <p:cNvPr id="12" name="shape-11">
            <a:extLst>
              <a:ext uri="{FF2B5EF4-FFF2-40B4-BE49-F238E27FC236}">
                <a16:creationId xmlns:a16="http://schemas.microsoft.com/office/drawing/2014/main" id="{1E442E24-E687-4B14-B09B-8FE120671266}"/>
              </a:ext>
            </a:extLst>
          </p:cNvPr>
          <p:cNvSpPr>
            <a:spLocks noGrp="1"/>
          </p:cNvSpPr>
          <p:nvPr/>
        </p:nvSpPr>
        <p:spPr>
          <a:xfrm>
            <a:off x="4352925" y="2552700"/>
            <a:ext cx="3371850" cy="76200"/>
          </a:xfrm>
          <a:prstGeom prst="rect">
            <a:avLst/>
          </a:prstGeom>
          <a:solidFill>
            <a:srgbClr val="B87522"/>
          </a:solidFill>
        </p:spPr>
      </p:sp>
      <p:sp>
        <p:nvSpPr>
          <p:cNvPr id="13" name="text-12">
            <a:extLst>
              <a:ext uri="{FF2B5EF4-FFF2-40B4-BE49-F238E27FC236}">
                <a16:creationId xmlns:a16="http://schemas.microsoft.com/office/drawing/2014/main" id="{75998868-DCAD-4937-A5FC-7F17865E3A2E}"/>
              </a:ext>
            </a:extLst>
          </p:cNvPr>
          <p:cNvSpPr>
            <a:spLocks noGrp="1"/>
          </p:cNvSpPr>
          <p:nvPr/>
        </p:nvSpPr>
        <p:spPr>
          <a:xfrm>
            <a:off x="4352925" y="2886075"/>
            <a:ext cx="3333750" cy="762000"/>
          </a:xfrm>
          <a:prstGeom prst="rect">
            <a:avLst/>
          </a:prstGeom>
        </p:spPr>
        <p:txBody>
          <a:bodyPr wrap="square" lIns="0" tIns="0" rIns="0" bIns="0" anchor="t"/>
          <a:lstStyle/>
          <a:p>
            <a:pPr>
              <a:defRPr sz="2250" b="0">
                <a:solidFill>
                  <a:srgbClr val="173047"/>
                </a:solidFill>
                <a:latin typeface="Georgia"/>
                <a:ea typeface="Georgia"/>
                <a:cs typeface="Georgia"/>
              </a:defRPr>
            </a:pPr>
            <a:r>
              <a:t>Build the core pipeline</a:t>
            </a:r>
          </a:p>
        </p:txBody>
      </p:sp>
      <p:sp>
        <p:nvSpPr>
          <p:cNvPr id="14" name="text-13">
            <a:extLst>
              <a:ext uri="{FF2B5EF4-FFF2-40B4-BE49-F238E27FC236}">
                <a16:creationId xmlns:a16="http://schemas.microsoft.com/office/drawing/2014/main" id="{6DFC28E5-7F76-4B70-858E-CB62B16D6BDE}"/>
              </a:ext>
            </a:extLst>
          </p:cNvPr>
          <p:cNvSpPr>
            <a:spLocks noGrp="1"/>
          </p:cNvSpPr>
          <p:nvPr/>
        </p:nvSpPr>
        <p:spPr>
          <a:xfrm>
            <a:off x="4352925" y="3905250"/>
            <a:ext cx="3333750" cy="1323975"/>
          </a:xfrm>
          <a:prstGeom prst="rect">
            <a:avLst/>
          </a:prstGeom>
        </p:spPr>
        <p:txBody>
          <a:bodyPr wrap="square" lIns="0" tIns="0" rIns="0" bIns="0" anchor="t"/>
          <a:lstStyle/>
          <a:p>
            <a:pPr>
              <a:defRPr sz="1725" b="0">
                <a:solidFill>
                  <a:srgbClr val="546573"/>
                </a:solidFill>
                <a:latin typeface="Arial"/>
                <a:ea typeface="Arial"/>
                <a:cs typeface="Arial"/>
              </a:defRPr>
            </a:pPr>
            <a:r>
              <a:t>Normalise → index → retrieve</a:t>
            </a:r>
          </a:p>
          <a:p>
            <a:pPr>
              <a:defRPr sz="1725" b="0">
                <a:solidFill>
                  <a:srgbClr val="546573"/>
                </a:solidFill>
                <a:latin typeface="Arial"/>
                <a:ea typeface="Arial"/>
                <a:cs typeface="Arial"/>
              </a:defRPr>
            </a:pPr>
            <a:r>
              <a:t>Classify → route → generate</a:t>
            </a:r>
          </a:p>
          <a:p>
            <a:pPr>
              <a:defRPr sz="1725" b="0">
                <a:solidFill>
                  <a:srgbClr val="546573"/>
                </a:solidFill>
                <a:latin typeface="Arial"/>
                <a:ea typeface="Arial"/>
                <a:cs typeface="Arial"/>
              </a:defRPr>
            </a:pPr>
            <a:r>
              <a:t>Guardrails → audit → harness</a:t>
            </a:r>
          </a:p>
        </p:txBody>
      </p:sp>
      <p:sp>
        <p:nvSpPr>
          <p:cNvPr id="15" name="text-14">
            <a:extLst>
              <a:ext uri="{FF2B5EF4-FFF2-40B4-BE49-F238E27FC236}">
                <a16:creationId xmlns:a16="http://schemas.microsoft.com/office/drawing/2014/main" id="{932D19B1-FFAB-4A4E-BFB2-B77AB33A686B}"/>
              </a:ext>
            </a:extLst>
          </p:cNvPr>
          <p:cNvSpPr>
            <a:spLocks noGrp="1"/>
          </p:cNvSpPr>
          <p:nvPr/>
        </p:nvSpPr>
        <p:spPr>
          <a:xfrm>
            <a:off x="8096250" y="2133600"/>
            <a:ext cx="3429000" cy="228600"/>
          </a:xfrm>
          <a:prstGeom prst="rect">
            <a:avLst/>
          </a:prstGeom>
        </p:spPr>
        <p:txBody>
          <a:bodyPr wrap="square" lIns="0" tIns="0" rIns="0" bIns="0" anchor="t"/>
          <a:lstStyle/>
          <a:p>
            <a:pPr>
              <a:defRPr sz="975" b="1">
                <a:solidFill>
                  <a:srgbClr val="00766B"/>
                </a:solidFill>
                <a:latin typeface="Arial"/>
                <a:ea typeface="Arial"/>
                <a:cs typeface="Arial"/>
              </a:defRPr>
            </a:pPr>
            <a:r>
              <a:t>WEEK 3</a:t>
            </a:r>
          </a:p>
        </p:txBody>
      </p:sp>
      <p:sp>
        <p:nvSpPr>
          <p:cNvPr id="16" name="shape-15">
            <a:extLst>
              <a:ext uri="{FF2B5EF4-FFF2-40B4-BE49-F238E27FC236}">
                <a16:creationId xmlns:a16="http://schemas.microsoft.com/office/drawing/2014/main" id="{6BC433E9-F486-4C89-A95D-48E09024C495}"/>
              </a:ext>
            </a:extLst>
          </p:cNvPr>
          <p:cNvSpPr>
            <a:spLocks noGrp="1"/>
          </p:cNvSpPr>
          <p:nvPr/>
        </p:nvSpPr>
        <p:spPr>
          <a:xfrm>
            <a:off x="8096250" y="2552700"/>
            <a:ext cx="3371850" cy="76200"/>
          </a:xfrm>
          <a:prstGeom prst="rect">
            <a:avLst/>
          </a:prstGeom>
          <a:solidFill>
            <a:srgbClr val="00766B"/>
          </a:solidFill>
        </p:spPr>
      </p:sp>
      <p:sp>
        <p:nvSpPr>
          <p:cNvPr id="17" name="text-16">
            <a:extLst>
              <a:ext uri="{FF2B5EF4-FFF2-40B4-BE49-F238E27FC236}">
                <a16:creationId xmlns:a16="http://schemas.microsoft.com/office/drawing/2014/main" id="{E8254F43-CEBF-4821-8DC1-7315DA0A7471}"/>
              </a:ext>
            </a:extLst>
          </p:cNvPr>
          <p:cNvSpPr>
            <a:spLocks noGrp="1"/>
          </p:cNvSpPr>
          <p:nvPr/>
        </p:nvSpPr>
        <p:spPr>
          <a:xfrm>
            <a:off x="8096250" y="2886075"/>
            <a:ext cx="3333750" cy="762000"/>
          </a:xfrm>
          <a:prstGeom prst="rect">
            <a:avLst/>
          </a:prstGeom>
        </p:spPr>
        <p:txBody>
          <a:bodyPr wrap="square" lIns="0" tIns="0" rIns="0" bIns="0" anchor="t"/>
          <a:lstStyle/>
          <a:p>
            <a:pPr>
              <a:defRPr sz="2250" b="0">
                <a:solidFill>
                  <a:srgbClr val="173047"/>
                </a:solidFill>
                <a:latin typeface="Georgia"/>
                <a:ea typeface="Georgia"/>
                <a:cs typeface="Georgia"/>
              </a:defRPr>
            </a:pPr>
            <a:r>
              <a:t>Evaluate and package</a:t>
            </a:r>
          </a:p>
        </p:txBody>
      </p:sp>
      <p:sp>
        <p:nvSpPr>
          <p:cNvPr id="18" name="text-17">
            <a:extLst>
              <a:ext uri="{FF2B5EF4-FFF2-40B4-BE49-F238E27FC236}">
                <a16:creationId xmlns:a16="http://schemas.microsoft.com/office/drawing/2014/main" id="{DAFD3EBB-DBE8-4E05-AA54-D57B1B1D6F14}"/>
              </a:ext>
            </a:extLst>
          </p:cNvPr>
          <p:cNvSpPr>
            <a:spLocks noGrp="1"/>
          </p:cNvSpPr>
          <p:nvPr/>
        </p:nvSpPr>
        <p:spPr>
          <a:xfrm>
            <a:off x="8096250" y="3905250"/>
            <a:ext cx="3333750" cy="1323975"/>
          </a:xfrm>
          <a:prstGeom prst="rect">
            <a:avLst/>
          </a:prstGeom>
        </p:spPr>
        <p:txBody>
          <a:bodyPr wrap="square" lIns="0" tIns="0" rIns="0" bIns="0" anchor="t"/>
          <a:lstStyle/>
          <a:p>
            <a:pPr>
              <a:defRPr sz="1725" b="0">
                <a:solidFill>
                  <a:srgbClr val="546573"/>
                </a:solidFill>
                <a:latin typeface="Arial"/>
                <a:ea typeface="Arial"/>
                <a:cs typeface="Arial"/>
              </a:defRPr>
            </a:pPr>
            <a:r>
              <a:t>Error analysis + PRD revision</a:t>
            </a:r>
          </a:p>
          <a:p>
            <a:pPr>
              <a:defRPr sz="1725" b="0">
                <a:solidFill>
                  <a:srgbClr val="546573"/>
                </a:solidFill>
                <a:latin typeface="Arial"/>
                <a:ea typeface="Arial"/>
                <a:cs typeface="Arial"/>
              </a:defRPr>
            </a:pPr>
            <a:r>
              <a:t>API, tests and operational review</a:t>
            </a:r>
          </a:p>
          <a:p>
            <a:pPr>
              <a:defRPr sz="1725" b="0">
                <a:solidFill>
                  <a:srgbClr val="546573"/>
                </a:solidFill>
                <a:latin typeface="Arial"/>
                <a:ea typeface="Arial"/>
                <a:cs typeface="Arial"/>
              </a:defRPr>
            </a:pPr>
            <a:r>
              <a:t>Report, diagrams and presentation</a:t>
            </a:r>
          </a:p>
        </p:txBody>
      </p:sp>
      <p:sp>
        <p:nvSpPr>
          <p:cNvPr id="19" name="text-18">
            <a:extLst>
              <a:ext uri="{FF2B5EF4-FFF2-40B4-BE49-F238E27FC236}">
                <a16:creationId xmlns:a16="http://schemas.microsoft.com/office/drawing/2014/main" id="{A4E1C79C-F483-446F-9DE6-D96D88751FBD}"/>
              </a:ext>
            </a:extLst>
          </p:cNvPr>
          <p:cNvSpPr>
            <a:spLocks noGrp="1"/>
          </p:cNvSpPr>
          <p:nvPr/>
        </p:nvSpPr>
        <p:spPr>
          <a:xfrm>
            <a:off x="609600" y="5695950"/>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16 backlog items / 78 estimated hours. Preserve the pipeline and audit; cut optional dashboards before core evidence.</a:t>
            </a:r>
          </a:p>
        </p:txBody>
      </p:sp>
    </p:spTree>
    <p:extLst>
      <p:ext uri="{BB962C8B-B14F-4D97-AF65-F5344CB8AC3E}">
        <p14:creationId xmlns:p14="http://schemas.microsoft.com/office/powerpoint/2010/main" val="1647470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7" name="kicker-marker">
            <a:extLst>
              <a:ext uri="{FF2B5EF4-FFF2-40B4-BE49-F238E27FC236}">
                <a16:creationId xmlns:a16="http://schemas.microsoft.com/office/drawing/2014/main" id="{11EF7CF9-F5A1-4F5F-A720-D0FEB79203A9}"/>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F5519143-A335-4760-A194-01632CA6945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PROMPT LIBRARY</a:t>
            </a:r>
          </a:p>
        </p:txBody>
      </p:sp>
      <p:sp>
        <p:nvSpPr>
          <p:cNvPr id="3" name="text-2">
            <a:extLst>
              <a:ext uri="{FF2B5EF4-FFF2-40B4-BE49-F238E27FC236}">
                <a16:creationId xmlns:a16="http://schemas.microsoft.com/office/drawing/2014/main" id="{F6195F2E-9AA8-4BAE-B51D-1BDE316849DD}"/>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Two prompts run the workflow;</a:t>
            </a:r>
          </a:p>
          <a:p>
            <a:pPr>
              <a:defRPr sz="3150" b="0">
                <a:solidFill>
                  <a:srgbClr val="173047"/>
                </a:solidFill>
                <a:latin typeface="Georgia"/>
                <a:ea typeface="Georgia"/>
                <a:cs typeface="Georgia"/>
              </a:defRPr>
            </a:pPr>
            <a:r>
              <a:t>review templates remain separate</a:t>
            </a:r>
          </a:p>
        </p:txBody>
      </p:sp>
      <p:sp>
        <p:nvSpPr>
          <p:cNvPr id="4" name="shape-3">
            <a:extLst>
              <a:ext uri="{FF2B5EF4-FFF2-40B4-BE49-F238E27FC236}">
                <a16:creationId xmlns:a16="http://schemas.microsoft.com/office/drawing/2014/main" id="{FBB66FB6-2979-432D-8A93-65C8EE30C793}"/>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9A6617AC-A1F5-40AF-B174-41D19FC10408}"/>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prompts/build, prompts/evaluation and actual invocation paths; Stage_3_Prompt_Library_Filled.docx</a:t>
            </a:r>
          </a:p>
        </p:txBody>
      </p:sp>
      <p:sp>
        <p:nvSpPr>
          <p:cNvPr id="6" name="text-5">
            <a:extLst>
              <a:ext uri="{FF2B5EF4-FFF2-40B4-BE49-F238E27FC236}">
                <a16:creationId xmlns:a16="http://schemas.microsoft.com/office/drawing/2014/main" id="{353D48A8-A4E2-443E-84D2-E9179FA759F7}"/>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12</a:t>
            </a:r>
          </a:p>
        </p:txBody>
      </p:sp>
      <p:sp>
        <p:nvSpPr>
          <p:cNvPr id="7" name="shape-6">
            <a:extLst>
              <a:ext uri="{FF2B5EF4-FFF2-40B4-BE49-F238E27FC236}">
                <a16:creationId xmlns:a16="http://schemas.microsoft.com/office/drawing/2014/main" id="{0F982689-F5B4-41EA-ACD5-6B0EDF7931BF}"/>
              </a:ext>
            </a:extLst>
          </p:cNvPr>
          <p:cNvSpPr>
            <a:spLocks noGrp="1"/>
          </p:cNvSpPr>
          <p:nvPr/>
        </p:nvSpPr>
        <p:spPr>
          <a:xfrm>
            <a:off x="609600" y="2047875"/>
            <a:ext cx="10972800" cy="381000"/>
          </a:xfrm>
          <a:prstGeom prst="rect">
            <a:avLst/>
          </a:prstGeom>
          <a:solidFill>
            <a:srgbClr val="E3ECE8"/>
          </a:solidFill>
        </p:spPr>
      </p:sp>
      <p:sp>
        <p:nvSpPr>
          <p:cNvPr id="8" name="text-7">
            <a:extLst>
              <a:ext uri="{FF2B5EF4-FFF2-40B4-BE49-F238E27FC236}">
                <a16:creationId xmlns:a16="http://schemas.microsoft.com/office/drawing/2014/main" id="{F54E8B1A-9E11-4EE7-A951-9625115DA46D}"/>
              </a:ext>
            </a:extLst>
          </p:cNvPr>
          <p:cNvSpPr>
            <a:spLocks noGrp="1"/>
          </p:cNvSpPr>
          <p:nvPr/>
        </p:nvSpPr>
        <p:spPr>
          <a:xfrm>
            <a:off x="723900" y="2162175"/>
            <a:ext cx="1866900" cy="152400"/>
          </a:xfrm>
          <a:prstGeom prst="rect">
            <a:avLst/>
          </a:prstGeom>
        </p:spPr>
        <p:txBody>
          <a:bodyPr wrap="square" lIns="0" tIns="0" rIns="0" bIns="0" anchor="t"/>
          <a:lstStyle/>
          <a:p>
            <a:pPr>
              <a:defRPr sz="975" b="1">
                <a:solidFill>
                  <a:srgbClr val="00766B"/>
                </a:solidFill>
                <a:latin typeface="Arial"/>
                <a:ea typeface="Arial"/>
                <a:cs typeface="Arial"/>
              </a:defRPr>
            </a:pPr>
            <a:r>
              <a:t>PURPOSE</a:t>
            </a:r>
          </a:p>
        </p:txBody>
      </p:sp>
      <p:sp>
        <p:nvSpPr>
          <p:cNvPr id="9" name="text-8">
            <a:extLst>
              <a:ext uri="{FF2B5EF4-FFF2-40B4-BE49-F238E27FC236}">
                <a16:creationId xmlns:a16="http://schemas.microsoft.com/office/drawing/2014/main" id="{67FED4DA-E434-4D4E-9077-6EC8119E7106}"/>
              </a:ext>
            </a:extLst>
          </p:cNvPr>
          <p:cNvSpPr>
            <a:spLocks noGrp="1"/>
          </p:cNvSpPr>
          <p:nvPr/>
        </p:nvSpPr>
        <p:spPr>
          <a:xfrm>
            <a:off x="2819400" y="2162175"/>
            <a:ext cx="2543175" cy="152400"/>
          </a:xfrm>
          <a:prstGeom prst="rect">
            <a:avLst/>
          </a:prstGeom>
        </p:spPr>
        <p:txBody>
          <a:bodyPr wrap="square" lIns="0" tIns="0" rIns="0" bIns="0" anchor="t"/>
          <a:lstStyle/>
          <a:p>
            <a:pPr>
              <a:defRPr sz="975" b="1">
                <a:solidFill>
                  <a:srgbClr val="00766B"/>
                </a:solidFill>
                <a:latin typeface="Arial"/>
                <a:ea typeface="Arial"/>
                <a:cs typeface="Arial"/>
              </a:defRPr>
            </a:pPr>
            <a:r>
              <a:t>FILE</a:t>
            </a:r>
          </a:p>
        </p:txBody>
      </p:sp>
      <p:sp>
        <p:nvSpPr>
          <p:cNvPr id="10" name="text-9">
            <a:extLst>
              <a:ext uri="{FF2B5EF4-FFF2-40B4-BE49-F238E27FC236}">
                <a16:creationId xmlns:a16="http://schemas.microsoft.com/office/drawing/2014/main" id="{480491F6-1997-4B0D-8DD1-9A4253CF8B76}"/>
              </a:ext>
            </a:extLst>
          </p:cNvPr>
          <p:cNvSpPr>
            <a:spLocks noGrp="1"/>
          </p:cNvSpPr>
          <p:nvPr/>
        </p:nvSpPr>
        <p:spPr>
          <a:xfrm>
            <a:off x="5591175" y="2162175"/>
            <a:ext cx="819150" cy="152400"/>
          </a:xfrm>
          <a:prstGeom prst="rect">
            <a:avLst/>
          </a:prstGeom>
        </p:spPr>
        <p:txBody>
          <a:bodyPr wrap="square" lIns="0" tIns="0" rIns="0" bIns="0" anchor="t"/>
          <a:lstStyle/>
          <a:p>
            <a:pPr>
              <a:defRPr sz="975" b="1">
                <a:solidFill>
                  <a:srgbClr val="00766B"/>
                </a:solidFill>
                <a:latin typeface="Arial"/>
                <a:ea typeface="Arial"/>
                <a:cs typeface="Arial"/>
              </a:defRPr>
            </a:pPr>
            <a:r>
              <a:t>STATUS</a:t>
            </a:r>
          </a:p>
        </p:txBody>
      </p:sp>
      <p:sp>
        <p:nvSpPr>
          <p:cNvPr id="11" name="text-10">
            <a:extLst>
              <a:ext uri="{FF2B5EF4-FFF2-40B4-BE49-F238E27FC236}">
                <a16:creationId xmlns:a16="http://schemas.microsoft.com/office/drawing/2014/main" id="{D4B33600-41A9-43ED-A0B1-E2239AA75EE6}"/>
              </a:ext>
            </a:extLst>
          </p:cNvPr>
          <p:cNvSpPr>
            <a:spLocks noGrp="1"/>
          </p:cNvSpPr>
          <p:nvPr/>
        </p:nvSpPr>
        <p:spPr>
          <a:xfrm>
            <a:off x="6638925" y="2162175"/>
            <a:ext cx="4829175" cy="152400"/>
          </a:xfrm>
          <a:prstGeom prst="rect">
            <a:avLst/>
          </a:prstGeom>
        </p:spPr>
        <p:txBody>
          <a:bodyPr wrap="square" lIns="0" tIns="0" rIns="0" bIns="0" anchor="t"/>
          <a:lstStyle/>
          <a:p>
            <a:pPr>
              <a:defRPr sz="975" b="1">
                <a:solidFill>
                  <a:srgbClr val="00766B"/>
                </a:solidFill>
                <a:latin typeface="Arial"/>
                <a:ea typeface="Arial"/>
                <a:cs typeface="Arial"/>
              </a:defRPr>
            </a:pPr>
            <a:r>
              <a:t>COVERAGE</a:t>
            </a:r>
          </a:p>
        </p:txBody>
      </p:sp>
      <p:sp>
        <p:nvSpPr>
          <p:cNvPr id="12" name="text-11">
            <a:extLst>
              <a:ext uri="{FF2B5EF4-FFF2-40B4-BE49-F238E27FC236}">
                <a16:creationId xmlns:a16="http://schemas.microsoft.com/office/drawing/2014/main" id="{6EC8A76A-2C36-462B-9DFC-DEB52E6614CD}"/>
              </a:ext>
            </a:extLst>
          </p:cNvPr>
          <p:cNvSpPr>
            <a:spLocks noGrp="1"/>
          </p:cNvSpPr>
          <p:nvPr/>
        </p:nvSpPr>
        <p:spPr>
          <a:xfrm>
            <a:off x="723900" y="2543175"/>
            <a:ext cx="1866900" cy="514350"/>
          </a:xfrm>
          <a:prstGeom prst="rect">
            <a:avLst/>
          </a:prstGeom>
        </p:spPr>
        <p:txBody>
          <a:bodyPr wrap="square" lIns="0" tIns="0" rIns="0" bIns="0" anchor="t"/>
          <a:lstStyle/>
          <a:p>
            <a:pPr>
              <a:defRPr sz="1350" b="1">
                <a:solidFill>
                  <a:srgbClr val="173047"/>
                </a:solidFill>
                <a:latin typeface="Arial"/>
                <a:ea typeface="Arial"/>
                <a:cs typeface="Arial"/>
              </a:defRPr>
            </a:pPr>
            <a:r>
              <a:t>Classification</a:t>
            </a:r>
          </a:p>
        </p:txBody>
      </p:sp>
      <p:sp>
        <p:nvSpPr>
          <p:cNvPr id="13" name="text-12">
            <a:extLst>
              <a:ext uri="{FF2B5EF4-FFF2-40B4-BE49-F238E27FC236}">
                <a16:creationId xmlns:a16="http://schemas.microsoft.com/office/drawing/2014/main" id="{996B03EE-106B-46B0-B83F-81C42B70F14B}"/>
              </a:ext>
            </a:extLst>
          </p:cNvPr>
          <p:cNvSpPr>
            <a:spLocks noGrp="1"/>
          </p:cNvSpPr>
          <p:nvPr/>
        </p:nvSpPr>
        <p:spPr>
          <a:xfrm>
            <a:off x="2819400" y="2543175"/>
            <a:ext cx="2543175" cy="514350"/>
          </a:xfrm>
          <a:prstGeom prst="rect">
            <a:avLst/>
          </a:prstGeom>
        </p:spPr>
        <p:txBody>
          <a:bodyPr wrap="square" lIns="0" tIns="0" rIns="0" bIns="0" anchor="t"/>
          <a:lstStyle/>
          <a:p>
            <a:pPr>
              <a:defRPr sz="1350" b="0">
                <a:solidFill>
                  <a:srgbClr val="546573"/>
                </a:solidFill>
                <a:latin typeface="Arial"/>
                <a:ea typeface="Arial"/>
                <a:cs typeface="Arial"/>
              </a:defRPr>
            </a:pPr>
            <a:r>
              <a:t>classify_v1.txt</a:t>
            </a:r>
          </a:p>
        </p:txBody>
      </p:sp>
      <p:sp>
        <p:nvSpPr>
          <p:cNvPr id="14" name="text-13">
            <a:extLst>
              <a:ext uri="{FF2B5EF4-FFF2-40B4-BE49-F238E27FC236}">
                <a16:creationId xmlns:a16="http://schemas.microsoft.com/office/drawing/2014/main" id="{06CD958C-87E3-4618-9401-23C131DA9989}"/>
              </a:ext>
            </a:extLst>
          </p:cNvPr>
          <p:cNvSpPr>
            <a:spLocks noGrp="1"/>
          </p:cNvSpPr>
          <p:nvPr/>
        </p:nvSpPr>
        <p:spPr>
          <a:xfrm>
            <a:off x="5591175" y="2543175"/>
            <a:ext cx="819150" cy="514350"/>
          </a:xfrm>
          <a:prstGeom prst="rect">
            <a:avLst/>
          </a:prstGeom>
        </p:spPr>
        <p:txBody>
          <a:bodyPr wrap="square" lIns="0" tIns="0" rIns="0" bIns="0" anchor="t"/>
          <a:lstStyle/>
          <a:p>
            <a:pPr>
              <a:defRPr sz="1350" b="0">
                <a:solidFill>
                  <a:srgbClr val="546573"/>
                </a:solidFill>
                <a:latin typeface="Arial"/>
                <a:ea typeface="Arial"/>
                <a:cs typeface="Arial"/>
              </a:defRPr>
            </a:pPr>
            <a:r>
              <a:t>Active</a:t>
            </a:r>
          </a:p>
        </p:txBody>
      </p:sp>
      <p:sp>
        <p:nvSpPr>
          <p:cNvPr id="15" name="text-14">
            <a:extLst>
              <a:ext uri="{FF2B5EF4-FFF2-40B4-BE49-F238E27FC236}">
                <a16:creationId xmlns:a16="http://schemas.microsoft.com/office/drawing/2014/main" id="{7C9D6BEA-9EAC-4312-A382-255DFE952F45}"/>
              </a:ext>
            </a:extLst>
          </p:cNvPr>
          <p:cNvSpPr>
            <a:spLocks noGrp="1"/>
          </p:cNvSpPr>
          <p:nvPr/>
        </p:nvSpPr>
        <p:spPr>
          <a:xfrm>
            <a:off x="6638925" y="2543175"/>
            <a:ext cx="4829175" cy="514350"/>
          </a:xfrm>
          <a:prstGeom prst="rect">
            <a:avLst/>
          </a:prstGeom>
        </p:spPr>
        <p:txBody>
          <a:bodyPr wrap="square" lIns="0" tIns="0" rIns="0" bIns="0" anchor="t"/>
          <a:lstStyle/>
          <a:p>
            <a:pPr>
              <a:defRPr sz="1350" b="0">
                <a:solidFill>
                  <a:srgbClr val="546573"/>
                </a:solidFill>
                <a:latin typeface="Arial"/>
                <a:ea typeface="Arial"/>
                <a:cs typeface="Arial"/>
              </a:defRPr>
            </a:pPr>
            <a:r>
              <a:t>22 intents, urgency, confidence, alternatives; structured output.</a:t>
            </a:r>
          </a:p>
        </p:txBody>
      </p:sp>
      <p:sp>
        <p:nvSpPr>
          <p:cNvPr id="16" name="shape-15">
            <a:extLst>
              <a:ext uri="{FF2B5EF4-FFF2-40B4-BE49-F238E27FC236}">
                <a16:creationId xmlns:a16="http://schemas.microsoft.com/office/drawing/2014/main" id="{5E03983B-7BCD-49DA-8738-1B66A4AB2355}"/>
              </a:ext>
            </a:extLst>
          </p:cNvPr>
          <p:cNvSpPr>
            <a:spLocks noGrp="1"/>
          </p:cNvSpPr>
          <p:nvPr/>
        </p:nvSpPr>
        <p:spPr>
          <a:xfrm>
            <a:off x="609600" y="3095625"/>
            <a:ext cx="10972800" cy="9525"/>
          </a:xfrm>
          <a:prstGeom prst="rect">
            <a:avLst/>
          </a:prstGeom>
          <a:solidFill>
            <a:srgbClr val="CDD3D2"/>
          </a:solidFill>
        </p:spPr>
      </p:sp>
      <p:sp>
        <p:nvSpPr>
          <p:cNvPr id="17" name="text-16">
            <a:extLst>
              <a:ext uri="{FF2B5EF4-FFF2-40B4-BE49-F238E27FC236}">
                <a16:creationId xmlns:a16="http://schemas.microsoft.com/office/drawing/2014/main" id="{7D7E2EE9-66C8-43EF-BFD5-7BF05E64DEF3}"/>
              </a:ext>
            </a:extLst>
          </p:cNvPr>
          <p:cNvSpPr>
            <a:spLocks noGrp="1"/>
          </p:cNvSpPr>
          <p:nvPr/>
        </p:nvSpPr>
        <p:spPr>
          <a:xfrm>
            <a:off x="723900" y="3209925"/>
            <a:ext cx="1866900" cy="514350"/>
          </a:xfrm>
          <a:prstGeom prst="rect">
            <a:avLst/>
          </a:prstGeom>
        </p:spPr>
        <p:txBody>
          <a:bodyPr wrap="square" lIns="0" tIns="0" rIns="0" bIns="0" anchor="t"/>
          <a:lstStyle/>
          <a:p>
            <a:pPr>
              <a:defRPr sz="1350" b="1">
                <a:solidFill>
                  <a:srgbClr val="173047"/>
                </a:solidFill>
                <a:latin typeface="Arial"/>
                <a:ea typeface="Arial"/>
                <a:cs typeface="Arial"/>
              </a:defRPr>
            </a:pPr>
            <a:r>
              <a:t>Response generation</a:t>
            </a:r>
          </a:p>
        </p:txBody>
      </p:sp>
      <p:sp>
        <p:nvSpPr>
          <p:cNvPr id="18" name="text-17">
            <a:extLst>
              <a:ext uri="{FF2B5EF4-FFF2-40B4-BE49-F238E27FC236}">
                <a16:creationId xmlns:a16="http://schemas.microsoft.com/office/drawing/2014/main" id="{C683298C-E819-46F6-A748-9CDAC7E9860A}"/>
              </a:ext>
            </a:extLst>
          </p:cNvPr>
          <p:cNvSpPr>
            <a:spLocks noGrp="1"/>
          </p:cNvSpPr>
          <p:nvPr/>
        </p:nvSpPr>
        <p:spPr>
          <a:xfrm>
            <a:off x="2819400" y="3209925"/>
            <a:ext cx="2543175" cy="514350"/>
          </a:xfrm>
          <a:prstGeom prst="rect">
            <a:avLst/>
          </a:prstGeom>
        </p:spPr>
        <p:txBody>
          <a:bodyPr wrap="square" lIns="0" tIns="0" rIns="0" bIns="0" anchor="t"/>
          <a:lstStyle/>
          <a:p>
            <a:pPr>
              <a:defRPr sz="1350" b="0">
                <a:solidFill>
                  <a:srgbClr val="546573"/>
                </a:solidFill>
                <a:latin typeface="Arial"/>
                <a:ea typeface="Arial"/>
                <a:cs typeface="Arial"/>
              </a:defRPr>
            </a:pPr>
            <a:r>
              <a:t>generate_v1.txt</a:t>
            </a:r>
          </a:p>
        </p:txBody>
      </p:sp>
      <p:sp>
        <p:nvSpPr>
          <p:cNvPr id="19" name="text-18">
            <a:extLst>
              <a:ext uri="{FF2B5EF4-FFF2-40B4-BE49-F238E27FC236}">
                <a16:creationId xmlns:a16="http://schemas.microsoft.com/office/drawing/2014/main" id="{0BF942A5-3A7A-44DE-8AE2-D4FD76A22779}"/>
              </a:ext>
            </a:extLst>
          </p:cNvPr>
          <p:cNvSpPr>
            <a:spLocks noGrp="1"/>
          </p:cNvSpPr>
          <p:nvPr/>
        </p:nvSpPr>
        <p:spPr>
          <a:xfrm>
            <a:off x="5591175" y="3209925"/>
            <a:ext cx="819150" cy="514350"/>
          </a:xfrm>
          <a:prstGeom prst="rect">
            <a:avLst/>
          </a:prstGeom>
        </p:spPr>
        <p:txBody>
          <a:bodyPr wrap="square" lIns="0" tIns="0" rIns="0" bIns="0" anchor="t"/>
          <a:lstStyle/>
          <a:p>
            <a:pPr>
              <a:defRPr sz="1350" b="0">
                <a:solidFill>
                  <a:srgbClr val="546573"/>
                </a:solidFill>
                <a:latin typeface="Arial"/>
                <a:ea typeface="Arial"/>
                <a:cs typeface="Arial"/>
              </a:defRPr>
            </a:pPr>
            <a:r>
              <a:t>Active</a:t>
            </a:r>
          </a:p>
        </p:txBody>
      </p:sp>
      <p:sp>
        <p:nvSpPr>
          <p:cNvPr id="20" name="text-19">
            <a:extLst>
              <a:ext uri="{FF2B5EF4-FFF2-40B4-BE49-F238E27FC236}">
                <a16:creationId xmlns:a16="http://schemas.microsoft.com/office/drawing/2014/main" id="{AC673D9D-7FCA-4F48-8C2C-C919255F2C9E}"/>
              </a:ext>
            </a:extLst>
          </p:cNvPr>
          <p:cNvSpPr>
            <a:spLocks noGrp="1"/>
          </p:cNvSpPr>
          <p:nvPr/>
        </p:nvSpPr>
        <p:spPr>
          <a:xfrm>
            <a:off x="6638925" y="3209925"/>
            <a:ext cx="4829175" cy="514350"/>
          </a:xfrm>
          <a:prstGeom prst="rect">
            <a:avLst/>
          </a:prstGeom>
        </p:spPr>
        <p:txBody>
          <a:bodyPr wrap="square" lIns="0" tIns="0" rIns="0" bIns="0" anchor="t"/>
          <a:lstStyle/>
          <a:p>
            <a:pPr>
              <a:defRPr sz="1350" b="0">
                <a:solidFill>
                  <a:srgbClr val="546573"/>
                </a:solidFill>
                <a:latin typeface="Arial"/>
                <a:ea typeface="Arial"/>
                <a:cs typeface="Arial"/>
              </a:defRPr>
            </a:pPr>
            <a:r>
              <a:t>Use retrieved evidence, cite IDs, disclose assistance, identify missing information.</a:t>
            </a:r>
          </a:p>
        </p:txBody>
      </p:sp>
      <p:sp>
        <p:nvSpPr>
          <p:cNvPr id="21" name="shape-20">
            <a:extLst>
              <a:ext uri="{FF2B5EF4-FFF2-40B4-BE49-F238E27FC236}">
                <a16:creationId xmlns:a16="http://schemas.microsoft.com/office/drawing/2014/main" id="{9809E53A-B948-4C11-9943-ACD2BC7112FD}"/>
              </a:ext>
            </a:extLst>
          </p:cNvPr>
          <p:cNvSpPr>
            <a:spLocks noGrp="1"/>
          </p:cNvSpPr>
          <p:nvPr/>
        </p:nvSpPr>
        <p:spPr>
          <a:xfrm>
            <a:off x="609600" y="3762375"/>
            <a:ext cx="10972800" cy="9525"/>
          </a:xfrm>
          <a:prstGeom prst="rect">
            <a:avLst/>
          </a:prstGeom>
          <a:solidFill>
            <a:srgbClr val="CDD3D2"/>
          </a:solidFill>
        </p:spPr>
      </p:sp>
      <p:sp>
        <p:nvSpPr>
          <p:cNvPr id="22" name="text-21">
            <a:extLst>
              <a:ext uri="{FF2B5EF4-FFF2-40B4-BE49-F238E27FC236}">
                <a16:creationId xmlns:a16="http://schemas.microsoft.com/office/drawing/2014/main" id="{493BD976-1A98-4781-B571-C05D1E884C5E}"/>
              </a:ext>
            </a:extLst>
          </p:cNvPr>
          <p:cNvSpPr>
            <a:spLocks noGrp="1"/>
          </p:cNvSpPr>
          <p:nvPr/>
        </p:nvSpPr>
        <p:spPr>
          <a:xfrm>
            <a:off x="723900" y="3876675"/>
            <a:ext cx="1866900" cy="514350"/>
          </a:xfrm>
          <a:prstGeom prst="rect">
            <a:avLst/>
          </a:prstGeom>
        </p:spPr>
        <p:txBody>
          <a:bodyPr wrap="square" lIns="0" tIns="0" rIns="0" bIns="0" anchor="t"/>
          <a:lstStyle/>
          <a:p>
            <a:pPr>
              <a:defRPr sz="1350" b="1">
                <a:solidFill>
                  <a:srgbClr val="173047"/>
                </a:solidFill>
                <a:latin typeface="Arial"/>
                <a:ea typeface="Arial"/>
                <a:cs typeface="Arial"/>
              </a:defRPr>
            </a:pPr>
            <a:r>
              <a:t>Guardrail template</a:t>
            </a:r>
          </a:p>
        </p:txBody>
      </p:sp>
      <p:sp>
        <p:nvSpPr>
          <p:cNvPr id="23" name="text-22">
            <a:extLst>
              <a:ext uri="{FF2B5EF4-FFF2-40B4-BE49-F238E27FC236}">
                <a16:creationId xmlns:a16="http://schemas.microsoft.com/office/drawing/2014/main" id="{49E5835E-1D48-465D-AFE2-8FBF49DF5EC0}"/>
              </a:ext>
            </a:extLst>
          </p:cNvPr>
          <p:cNvSpPr>
            <a:spLocks noGrp="1"/>
          </p:cNvSpPr>
          <p:nvPr/>
        </p:nvSpPr>
        <p:spPr>
          <a:xfrm>
            <a:off x="2819400" y="3876675"/>
            <a:ext cx="2543175" cy="514350"/>
          </a:xfrm>
          <a:prstGeom prst="rect">
            <a:avLst/>
          </a:prstGeom>
        </p:spPr>
        <p:txBody>
          <a:bodyPr wrap="square" lIns="0" tIns="0" rIns="0" bIns="0" anchor="t"/>
          <a:lstStyle/>
          <a:p>
            <a:pPr>
              <a:defRPr sz="1350" b="0">
                <a:solidFill>
                  <a:srgbClr val="546573"/>
                </a:solidFill>
                <a:latin typeface="Arial"/>
                <a:ea typeface="Arial"/>
                <a:cs typeface="Arial"/>
              </a:defRPr>
            </a:pPr>
            <a:r>
              <a:t>guardrails_v1.txt</a:t>
            </a:r>
          </a:p>
        </p:txBody>
      </p:sp>
      <p:sp>
        <p:nvSpPr>
          <p:cNvPr id="24" name="text-23">
            <a:extLst>
              <a:ext uri="{FF2B5EF4-FFF2-40B4-BE49-F238E27FC236}">
                <a16:creationId xmlns:a16="http://schemas.microsoft.com/office/drawing/2014/main" id="{230E71AC-37A6-4816-9E12-2D471AE67D98}"/>
              </a:ext>
            </a:extLst>
          </p:cNvPr>
          <p:cNvSpPr>
            <a:spLocks noGrp="1"/>
          </p:cNvSpPr>
          <p:nvPr/>
        </p:nvSpPr>
        <p:spPr>
          <a:xfrm>
            <a:off x="5591175" y="3876675"/>
            <a:ext cx="819150" cy="514350"/>
          </a:xfrm>
          <a:prstGeom prst="rect">
            <a:avLst/>
          </a:prstGeom>
        </p:spPr>
        <p:txBody>
          <a:bodyPr wrap="square" lIns="0" tIns="0" rIns="0" bIns="0" anchor="t"/>
          <a:lstStyle/>
          <a:p>
            <a:pPr>
              <a:defRPr sz="1350" b="0">
                <a:solidFill>
                  <a:srgbClr val="546573"/>
                </a:solidFill>
                <a:latin typeface="Arial"/>
                <a:ea typeface="Arial"/>
                <a:cs typeface="Arial"/>
              </a:defRPr>
            </a:pPr>
            <a:r>
              <a:t>Retained</a:t>
            </a:r>
          </a:p>
        </p:txBody>
      </p:sp>
      <p:sp>
        <p:nvSpPr>
          <p:cNvPr id="25" name="text-24">
            <a:extLst>
              <a:ext uri="{FF2B5EF4-FFF2-40B4-BE49-F238E27FC236}">
                <a16:creationId xmlns:a16="http://schemas.microsoft.com/office/drawing/2014/main" id="{2078366F-7012-4172-A065-861476BB39FC}"/>
              </a:ext>
            </a:extLst>
          </p:cNvPr>
          <p:cNvSpPr>
            <a:spLocks noGrp="1"/>
          </p:cNvSpPr>
          <p:nvPr/>
        </p:nvSpPr>
        <p:spPr>
          <a:xfrm>
            <a:off x="6638925" y="3876675"/>
            <a:ext cx="4829175" cy="514350"/>
          </a:xfrm>
          <a:prstGeom prst="rect">
            <a:avLst/>
          </a:prstGeom>
        </p:spPr>
        <p:txBody>
          <a:bodyPr wrap="square" lIns="0" tIns="0" rIns="0" bIns="0" anchor="t"/>
          <a:lstStyle/>
          <a:p>
            <a:pPr>
              <a:defRPr sz="1350" b="0">
                <a:solidFill>
                  <a:srgbClr val="546573"/>
                </a:solidFill>
                <a:latin typeface="Arial"/>
                <a:ea typeface="Arial"/>
                <a:cs typeface="Arial"/>
              </a:defRPr>
            </a:pPr>
            <a:r>
              <a:t>Runtime protection is implemented in Python checks.</a:t>
            </a:r>
          </a:p>
        </p:txBody>
      </p:sp>
      <p:sp>
        <p:nvSpPr>
          <p:cNvPr id="26" name="shape-25">
            <a:extLst>
              <a:ext uri="{FF2B5EF4-FFF2-40B4-BE49-F238E27FC236}">
                <a16:creationId xmlns:a16="http://schemas.microsoft.com/office/drawing/2014/main" id="{ADC67CD5-2F9F-410B-9AFA-CF81BB099F8E}"/>
              </a:ext>
            </a:extLst>
          </p:cNvPr>
          <p:cNvSpPr>
            <a:spLocks noGrp="1"/>
          </p:cNvSpPr>
          <p:nvPr/>
        </p:nvSpPr>
        <p:spPr>
          <a:xfrm>
            <a:off x="609600" y="4429125"/>
            <a:ext cx="10972800" cy="9525"/>
          </a:xfrm>
          <a:prstGeom prst="rect">
            <a:avLst/>
          </a:prstGeom>
          <a:solidFill>
            <a:srgbClr val="CDD3D2"/>
          </a:solidFill>
        </p:spPr>
      </p:sp>
      <p:sp>
        <p:nvSpPr>
          <p:cNvPr id="27" name="text-26">
            <a:extLst>
              <a:ext uri="{FF2B5EF4-FFF2-40B4-BE49-F238E27FC236}">
                <a16:creationId xmlns:a16="http://schemas.microsoft.com/office/drawing/2014/main" id="{BDA59968-0F40-4CA0-AFD3-688ED191C9D8}"/>
              </a:ext>
            </a:extLst>
          </p:cNvPr>
          <p:cNvSpPr>
            <a:spLocks noGrp="1"/>
          </p:cNvSpPr>
          <p:nvPr/>
        </p:nvSpPr>
        <p:spPr>
          <a:xfrm>
            <a:off x="723900" y="4543425"/>
            <a:ext cx="1866900" cy="514350"/>
          </a:xfrm>
          <a:prstGeom prst="rect">
            <a:avLst/>
          </a:prstGeom>
        </p:spPr>
        <p:txBody>
          <a:bodyPr wrap="square" lIns="0" tIns="0" rIns="0" bIns="0" anchor="t"/>
          <a:lstStyle/>
          <a:p>
            <a:pPr>
              <a:defRPr sz="1350" b="1">
                <a:solidFill>
                  <a:srgbClr val="173047"/>
                </a:solidFill>
                <a:latin typeface="Arial"/>
                <a:ea typeface="Arial"/>
                <a:cs typeface="Arial"/>
              </a:defRPr>
            </a:pPr>
            <a:r>
              <a:t>Quality-judge template</a:t>
            </a:r>
          </a:p>
        </p:txBody>
      </p:sp>
      <p:sp>
        <p:nvSpPr>
          <p:cNvPr id="28" name="text-27">
            <a:extLst>
              <a:ext uri="{FF2B5EF4-FFF2-40B4-BE49-F238E27FC236}">
                <a16:creationId xmlns:a16="http://schemas.microsoft.com/office/drawing/2014/main" id="{52ADD160-662B-4494-8AA1-C24139F7EB6B}"/>
              </a:ext>
            </a:extLst>
          </p:cNvPr>
          <p:cNvSpPr>
            <a:spLocks noGrp="1"/>
          </p:cNvSpPr>
          <p:nvPr/>
        </p:nvSpPr>
        <p:spPr>
          <a:xfrm>
            <a:off x="2819400" y="4543425"/>
            <a:ext cx="2543175" cy="514350"/>
          </a:xfrm>
          <a:prstGeom prst="rect">
            <a:avLst/>
          </a:prstGeom>
        </p:spPr>
        <p:txBody>
          <a:bodyPr wrap="square" lIns="0" tIns="0" rIns="0" bIns="0" anchor="t"/>
          <a:lstStyle/>
          <a:p>
            <a:pPr>
              <a:defRPr sz="1350" b="0">
                <a:solidFill>
                  <a:srgbClr val="546573"/>
                </a:solidFill>
                <a:latin typeface="Arial"/>
                <a:ea typeface="Arial"/>
                <a:cs typeface="Arial"/>
              </a:defRPr>
            </a:pPr>
            <a:r>
              <a:t>hallucination_judge_v1.txt</a:t>
            </a:r>
          </a:p>
        </p:txBody>
      </p:sp>
      <p:sp>
        <p:nvSpPr>
          <p:cNvPr id="29" name="text-28">
            <a:extLst>
              <a:ext uri="{FF2B5EF4-FFF2-40B4-BE49-F238E27FC236}">
                <a16:creationId xmlns:a16="http://schemas.microsoft.com/office/drawing/2014/main" id="{A8661704-5AE8-427F-A583-4585A7FC59FC}"/>
              </a:ext>
            </a:extLst>
          </p:cNvPr>
          <p:cNvSpPr>
            <a:spLocks noGrp="1"/>
          </p:cNvSpPr>
          <p:nvPr/>
        </p:nvSpPr>
        <p:spPr>
          <a:xfrm>
            <a:off x="5591175" y="4543425"/>
            <a:ext cx="819150" cy="514350"/>
          </a:xfrm>
          <a:prstGeom prst="rect">
            <a:avLst/>
          </a:prstGeom>
        </p:spPr>
        <p:txBody>
          <a:bodyPr wrap="square" lIns="0" tIns="0" rIns="0" bIns="0" anchor="t"/>
          <a:lstStyle/>
          <a:p>
            <a:pPr>
              <a:defRPr sz="1350" b="0">
                <a:solidFill>
                  <a:srgbClr val="546573"/>
                </a:solidFill>
                <a:latin typeface="Arial"/>
                <a:ea typeface="Arial"/>
                <a:cs typeface="Arial"/>
              </a:defRPr>
            </a:pPr>
            <a:r>
              <a:t>Retained</a:t>
            </a:r>
          </a:p>
        </p:txBody>
      </p:sp>
      <p:sp>
        <p:nvSpPr>
          <p:cNvPr id="30" name="text-29">
            <a:extLst>
              <a:ext uri="{FF2B5EF4-FFF2-40B4-BE49-F238E27FC236}">
                <a16:creationId xmlns:a16="http://schemas.microsoft.com/office/drawing/2014/main" id="{DA2B310E-59DD-4DF1-8294-9F2D98C2E7A3}"/>
              </a:ext>
            </a:extLst>
          </p:cNvPr>
          <p:cNvSpPr>
            <a:spLocks noGrp="1"/>
          </p:cNvSpPr>
          <p:nvPr/>
        </p:nvSpPr>
        <p:spPr>
          <a:xfrm>
            <a:off x="6638925" y="4543425"/>
            <a:ext cx="4829175" cy="514350"/>
          </a:xfrm>
          <a:prstGeom prst="rect">
            <a:avLst/>
          </a:prstGeom>
        </p:spPr>
        <p:txBody>
          <a:bodyPr wrap="square" lIns="0" tIns="0" rIns="0" bIns="0" anchor="t"/>
          <a:lstStyle/>
          <a:p>
            <a:pPr>
              <a:defRPr sz="1350" b="0">
                <a:solidFill>
                  <a:srgbClr val="546573"/>
                </a:solidFill>
                <a:latin typeface="Arial"/>
                <a:ea typeface="Arial"/>
                <a:cs typeface="Arial"/>
              </a:defRPr>
            </a:pPr>
            <a:r>
              <a:t>Independent semantic quality evaluation is not active routing.</a:t>
            </a:r>
          </a:p>
        </p:txBody>
      </p:sp>
      <p:sp>
        <p:nvSpPr>
          <p:cNvPr id="31" name="shape-30">
            <a:extLst>
              <a:ext uri="{FF2B5EF4-FFF2-40B4-BE49-F238E27FC236}">
                <a16:creationId xmlns:a16="http://schemas.microsoft.com/office/drawing/2014/main" id="{164EB778-6905-404E-86F8-6A639E1EB061}"/>
              </a:ext>
            </a:extLst>
          </p:cNvPr>
          <p:cNvSpPr>
            <a:spLocks noGrp="1"/>
          </p:cNvSpPr>
          <p:nvPr/>
        </p:nvSpPr>
        <p:spPr>
          <a:xfrm>
            <a:off x="609600" y="5095875"/>
            <a:ext cx="10972800" cy="9525"/>
          </a:xfrm>
          <a:prstGeom prst="rect">
            <a:avLst/>
          </a:prstGeom>
          <a:solidFill>
            <a:srgbClr val="CDD3D2"/>
          </a:solidFill>
        </p:spPr>
      </p:sp>
      <p:sp>
        <p:nvSpPr>
          <p:cNvPr id="32" name="text-31">
            <a:extLst>
              <a:ext uri="{FF2B5EF4-FFF2-40B4-BE49-F238E27FC236}">
                <a16:creationId xmlns:a16="http://schemas.microsoft.com/office/drawing/2014/main" id="{538E4E17-8719-4BA0-8297-47D6621DA0B9}"/>
              </a:ext>
            </a:extLst>
          </p:cNvPr>
          <p:cNvSpPr>
            <a:spLocks noGrp="1"/>
          </p:cNvSpPr>
          <p:nvPr/>
        </p:nvSpPr>
        <p:spPr>
          <a:xfrm>
            <a:off x="723900" y="5210175"/>
            <a:ext cx="1866900" cy="514350"/>
          </a:xfrm>
          <a:prstGeom prst="rect">
            <a:avLst/>
          </a:prstGeom>
        </p:spPr>
        <p:txBody>
          <a:bodyPr wrap="square" lIns="0" tIns="0" rIns="0" bIns="0" anchor="t"/>
          <a:lstStyle/>
          <a:p>
            <a:pPr>
              <a:defRPr sz="1350" b="1">
                <a:solidFill>
                  <a:srgbClr val="173047"/>
                </a:solidFill>
                <a:latin typeface="Arial"/>
                <a:ea typeface="Arial"/>
                <a:cs typeface="Arial"/>
              </a:defRPr>
            </a:pPr>
            <a:r>
              <a:t>Grounding reviewer</a:t>
            </a:r>
          </a:p>
        </p:txBody>
      </p:sp>
      <p:sp>
        <p:nvSpPr>
          <p:cNvPr id="33" name="text-32">
            <a:extLst>
              <a:ext uri="{FF2B5EF4-FFF2-40B4-BE49-F238E27FC236}">
                <a16:creationId xmlns:a16="http://schemas.microsoft.com/office/drawing/2014/main" id="{FFDD5937-E1C8-4038-BA42-AE1E786B9680}"/>
              </a:ext>
            </a:extLst>
          </p:cNvPr>
          <p:cNvSpPr>
            <a:spLocks noGrp="1"/>
          </p:cNvSpPr>
          <p:nvPr/>
        </p:nvSpPr>
        <p:spPr>
          <a:xfrm>
            <a:off x="2819400" y="5210175"/>
            <a:ext cx="2543175" cy="514350"/>
          </a:xfrm>
          <a:prstGeom prst="rect">
            <a:avLst/>
          </a:prstGeom>
        </p:spPr>
        <p:txBody>
          <a:bodyPr wrap="square" lIns="0" tIns="0" rIns="0" bIns="0" anchor="t"/>
          <a:lstStyle/>
          <a:p>
            <a:pPr>
              <a:defRPr sz="1350" b="0">
                <a:solidFill>
                  <a:srgbClr val="546573"/>
                </a:solidFill>
                <a:latin typeface="Arial"/>
                <a:ea typeface="Arial"/>
                <a:cs typeface="Arial"/>
              </a:defRPr>
            </a:pPr>
            <a:r>
              <a:t>grounding_v1.txt</a:t>
            </a:r>
          </a:p>
        </p:txBody>
      </p:sp>
      <p:sp>
        <p:nvSpPr>
          <p:cNvPr id="34" name="text-33">
            <a:extLst>
              <a:ext uri="{FF2B5EF4-FFF2-40B4-BE49-F238E27FC236}">
                <a16:creationId xmlns:a16="http://schemas.microsoft.com/office/drawing/2014/main" id="{ADEC8904-9B85-4EB7-A063-659903822241}"/>
              </a:ext>
            </a:extLst>
          </p:cNvPr>
          <p:cNvSpPr>
            <a:spLocks noGrp="1"/>
          </p:cNvSpPr>
          <p:nvPr/>
        </p:nvSpPr>
        <p:spPr>
          <a:xfrm>
            <a:off x="5591175" y="5210175"/>
            <a:ext cx="819150" cy="514350"/>
          </a:xfrm>
          <a:prstGeom prst="rect">
            <a:avLst/>
          </a:prstGeom>
        </p:spPr>
        <p:txBody>
          <a:bodyPr wrap="square" lIns="0" tIns="0" rIns="0" bIns="0" anchor="t"/>
          <a:lstStyle/>
          <a:p>
            <a:pPr>
              <a:defRPr sz="1350" b="0">
                <a:solidFill>
                  <a:srgbClr val="546573"/>
                </a:solidFill>
                <a:latin typeface="Arial"/>
                <a:ea typeface="Arial"/>
                <a:cs typeface="Arial"/>
              </a:defRPr>
            </a:pPr>
            <a:r>
              <a:t>Disabled</a:t>
            </a:r>
          </a:p>
        </p:txBody>
      </p:sp>
      <p:sp>
        <p:nvSpPr>
          <p:cNvPr id="35" name="text-34">
            <a:extLst>
              <a:ext uri="{FF2B5EF4-FFF2-40B4-BE49-F238E27FC236}">
                <a16:creationId xmlns:a16="http://schemas.microsoft.com/office/drawing/2014/main" id="{B81B84A9-ACB7-44A2-9095-A0E8B1C8365A}"/>
              </a:ext>
            </a:extLst>
          </p:cNvPr>
          <p:cNvSpPr>
            <a:spLocks noGrp="1"/>
          </p:cNvSpPr>
          <p:nvPr/>
        </p:nvSpPr>
        <p:spPr>
          <a:xfrm>
            <a:off x="6638925" y="5210175"/>
            <a:ext cx="4829175" cy="514350"/>
          </a:xfrm>
          <a:prstGeom prst="rect">
            <a:avLst/>
          </a:prstGeom>
        </p:spPr>
        <p:txBody>
          <a:bodyPr wrap="square" lIns="0" tIns="0" rIns="0" bIns="0" anchor="t"/>
          <a:lstStyle/>
          <a:p>
            <a:pPr>
              <a:defRPr sz="1350" b="0">
                <a:solidFill>
                  <a:srgbClr val="546573"/>
                </a:solidFill>
                <a:latin typeface="Arial"/>
                <a:ea typeface="Arial"/>
                <a:cs typeface="Arial"/>
              </a:defRPr>
            </a:pPr>
            <a:r>
              <a:t>Does not decide escalation or automatic response.</a:t>
            </a:r>
          </a:p>
        </p:txBody>
      </p:sp>
      <p:sp>
        <p:nvSpPr>
          <p:cNvPr id="36" name="shape-35">
            <a:extLst>
              <a:ext uri="{FF2B5EF4-FFF2-40B4-BE49-F238E27FC236}">
                <a16:creationId xmlns:a16="http://schemas.microsoft.com/office/drawing/2014/main" id="{9C610272-D5D7-426D-A81E-E75EC402D098}"/>
              </a:ext>
            </a:extLst>
          </p:cNvPr>
          <p:cNvSpPr>
            <a:spLocks noGrp="1"/>
          </p:cNvSpPr>
          <p:nvPr/>
        </p:nvSpPr>
        <p:spPr>
          <a:xfrm>
            <a:off x="609600" y="5762625"/>
            <a:ext cx="10972800" cy="9525"/>
          </a:xfrm>
          <a:prstGeom prst="rect">
            <a:avLst/>
          </a:prstGeom>
          <a:solidFill>
            <a:srgbClr val="CDD3D2"/>
          </a:solidFill>
        </p:spPr>
      </p:sp>
    </p:spTree>
    <p:extLst>
      <p:ext uri="{BB962C8B-B14F-4D97-AF65-F5344CB8AC3E}">
        <p14:creationId xmlns:p14="http://schemas.microsoft.com/office/powerpoint/2010/main" val="1276769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43" name="kicker-marker">
            <a:extLst>
              <a:ext uri="{FF2B5EF4-FFF2-40B4-BE49-F238E27FC236}">
                <a16:creationId xmlns:a16="http://schemas.microsoft.com/office/drawing/2014/main" id="{76750875-540C-4477-8FAB-CD36454EAC8A}"/>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AAF8B3C9-630B-45DF-98B8-EA52CB185619}"/>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SYSTEM ARCHITECTURE</a:t>
            </a:r>
          </a:p>
        </p:txBody>
      </p:sp>
      <p:sp>
        <p:nvSpPr>
          <p:cNvPr id="3" name="text-2">
            <a:extLst>
              <a:ext uri="{FF2B5EF4-FFF2-40B4-BE49-F238E27FC236}">
                <a16:creationId xmlns:a16="http://schemas.microsoft.com/office/drawing/2014/main" id="{CCCD45D7-9680-4F30-896B-6E8D42D63E46}"/>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One graph produces a sourced draft</a:t>
            </a:r>
          </a:p>
          <a:p>
            <a:pPr>
              <a:defRPr sz="3150" b="0">
                <a:solidFill>
                  <a:srgbClr val="173047"/>
                </a:solidFill>
                <a:latin typeface="Georgia"/>
                <a:ea typeface="Georgia"/>
                <a:cs typeface="Georgia"/>
              </a:defRPr>
            </a:pPr>
            <a:r>
              <a:t>or an auditable specialist handover</a:t>
            </a:r>
          </a:p>
        </p:txBody>
      </p:sp>
      <p:sp>
        <p:nvSpPr>
          <p:cNvPr id="4" name="shape-3">
            <a:extLst>
              <a:ext uri="{FF2B5EF4-FFF2-40B4-BE49-F238E27FC236}">
                <a16:creationId xmlns:a16="http://schemas.microsoft.com/office/drawing/2014/main" id="{AA7CB1C3-0190-4B05-9F15-D743850B998C}"/>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4FD19C39-A7FF-429E-86B6-50E8F581BA2F}"/>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Current src orchestration, retrieval, routing, generation, guardrails and audit code</a:t>
            </a:r>
          </a:p>
        </p:txBody>
      </p:sp>
      <p:sp>
        <p:nvSpPr>
          <p:cNvPr id="6" name="text-5">
            <a:extLst>
              <a:ext uri="{FF2B5EF4-FFF2-40B4-BE49-F238E27FC236}">
                <a16:creationId xmlns:a16="http://schemas.microsoft.com/office/drawing/2014/main" id="{C36D7FEF-A55F-4A2E-B4F0-87DDD0B5467E}"/>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13</a:t>
            </a:r>
          </a:p>
        </p:txBody>
      </p:sp>
      <p:sp>
        <p:nvSpPr>
          <p:cNvPr id="7" name="normalise">
            <a:extLst>
              <a:ext uri="{FF2B5EF4-FFF2-40B4-BE49-F238E27FC236}">
                <a16:creationId xmlns:a16="http://schemas.microsoft.com/office/drawing/2014/main" id="{12281365-9216-49EA-AD7B-C7D515D9B0B7}"/>
              </a:ext>
            </a:extLst>
          </p:cNvPr>
          <p:cNvSpPr>
            <a:spLocks noGrp="1"/>
          </p:cNvSpPr>
          <p:nvPr/>
        </p:nvSpPr>
        <p:spPr>
          <a:xfrm>
            <a:off x="609600" y="2209800"/>
            <a:ext cx="1857375" cy="857250"/>
          </a:xfrm>
          <a:prstGeom prst="rect">
            <a:avLst/>
          </a:prstGeom>
          <a:solidFill>
            <a:srgbClr val="00766B"/>
          </a:solidFill>
        </p:spPr>
      </p:sp>
      <p:sp>
        <p:nvSpPr>
          <p:cNvPr id="8" name="text-7">
            <a:extLst>
              <a:ext uri="{FF2B5EF4-FFF2-40B4-BE49-F238E27FC236}">
                <a16:creationId xmlns:a16="http://schemas.microsoft.com/office/drawing/2014/main" id="{09A13E11-7CD9-434D-BF3C-EB0780DD4AF8}"/>
              </a:ext>
            </a:extLst>
          </p:cNvPr>
          <p:cNvSpPr>
            <a:spLocks noGrp="1"/>
          </p:cNvSpPr>
          <p:nvPr/>
        </p:nvSpPr>
        <p:spPr>
          <a:xfrm>
            <a:off x="762000" y="234315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Normalise</a:t>
            </a:r>
          </a:p>
        </p:txBody>
      </p:sp>
      <p:sp>
        <p:nvSpPr>
          <p:cNvPr id="9" name="text-8">
            <a:extLst>
              <a:ext uri="{FF2B5EF4-FFF2-40B4-BE49-F238E27FC236}">
                <a16:creationId xmlns:a16="http://schemas.microsoft.com/office/drawing/2014/main" id="{E19BA291-7F14-477A-8739-CB92EA95A16F}"/>
              </a:ext>
            </a:extLst>
          </p:cNvPr>
          <p:cNvSpPr>
            <a:spLocks noGrp="1"/>
          </p:cNvSpPr>
          <p:nvPr/>
        </p:nvSpPr>
        <p:spPr>
          <a:xfrm>
            <a:off x="762000" y="265747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Four input formats</a:t>
            </a:r>
          </a:p>
        </p:txBody>
      </p:sp>
      <p:sp>
        <p:nvSpPr>
          <p:cNvPr id="10" name="retrieve">
            <a:extLst>
              <a:ext uri="{FF2B5EF4-FFF2-40B4-BE49-F238E27FC236}">
                <a16:creationId xmlns:a16="http://schemas.microsoft.com/office/drawing/2014/main" id="{4DBD73A7-AA73-446C-BA77-DE0800CCA635}"/>
              </a:ext>
            </a:extLst>
          </p:cNvPr>
          <p:cNvSpPr>
            <a:spLocks noGrp="1"/>
          </p:cNvSpPr>
          <p:nvPr/>
        </p:nvSpPr>
        <p:spPr>
          <a:xfrm>
            <a:off x="2886075" y="2209800"/>
            <a:ext cx="1857375" cy="857250"/>
          </a:xfrm>
          <a:prstGeom prst="rect">
            <a:avLst/>
          </a:prstGeom>
          <a:solidFill>
            <a:srgbClr val="00766B"/>
          </a:solidFill>
        </p:spPr>
      </p:sp>
      <p:sp>
        <p:nvSpPr>
          <p:cNvPr id="11" name="text-10">
            <a:extLst>
              <a:ext uri="{FF2B5EF4-FFF2-40B4-BE49-F238E27FC236}">
                <a16:creationId xmlns:a16="http://schemas.microsoft.com/office/drawing/2014/main" id="{CBC090AF-1E7E-43DD-9FB0-F1D2B01DBD78}"/>
              </a:ext>
            </a:extLst>
          </p:cNvPr>
          <p:cNvSpPr>
            <a:spLocks noGrp="1"/>
          </p:cNvSpPr>
          <p:nvPr/>
        </p:nvSpPr>
        <p:spPr>
          <a:xfrm>
            <a:off x="3038475" y="234315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Retrieve</a:t>
            </a:r>
          </a:p>
        </p:txBody>
      </p:sp>
      <p:sp>
        <p:nvSpPr>
          <p:cNvPr id="12" name="text-11">
            <a:extLst>
              <a:ext uri="{FF2B5EF4-FFF2-40B4-BE49-F238E27FC236}">
                <a16:creationId xmlns:a16="http://schemas.microsoft.com/office/drawing/2014/main" id="{686B73C3-7D2A-47CA-9EDF-F4D11B6C9C3F}"/>
              </a:ext>
            </a:extLst>
          </p:cNvPr>
          <p:cNvSpPr>
            <a:spLocks noGrp="1"/>
          </p:cNvSpPr>
          <p:nvPr/>
        </p:nvSpPr>
        <p:spPr>
          <a:xfrm>
            <a:off x="3038475" y="265747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Chroma · MiniLM</a:t>
            </a:r>
          </a:p>
        </p:txBody>
      </p:sp>
      <p:sp>
        <p:nvSpPr>
          <p:cNvPr id="13" name="classify">
            <a:extLst>
              <a:ext uri="{FF2B5EF4-FFF2-40B4-BE49-F238E27FC236}">
                <a16:creationId xmlns:a16="http://schemas.microsoft.com/office/drawing/2014/main" id="{23C4DFFF-A163-457D-8601-CAD2EC082BB2}"/>
              </a:ext>
            </a:extLst>
          </p:cNvPr>
          <p:cNvSpPr>
            <a:spLocks noGrp="1"/>
          </p:cNvSpPr>
          <p:nvPr/>
        </p:nvSpPr>
        <p:spPr>
          <a:xfrm>
            <a:off x="5162550" y="2209800"/>
            <a:ext cx="1857375" cy="857250"/>
          </a:xfrm>
          <a:prstGeom prst="rect">
            <a:avLst/>
          </a:prstGeom>
          <a:solidFill>
            <a:srgbClr val="00766B"/>
          </a:solidFill>
        </p:spPr>
      </p:sp>
      <p:sp>
        <p:nvSpPr>
          <p:cNvPr id="14" name="text-13">
            <a:extLst>
              <a:ext uri="{FF2B5EF4-FFF2-40B4-BE49-F238E27FC236}">
                <a16:creationId xmlns:a16="http://schemas.microsoft.com/office/drawing/2014/main" id="{59D49C67-DB1C-4CCB-AAA4-1E6B37C82097}"/>
              </a:ext>
            </a:extLst>
          </p:cNvPr>
          <p:cNvSpPr>
            <a:spLocks noGrp="1"/>
          </p:cNvSpPr>
          <p:nvPr/>
        </p:nvSpPr>
        <p:spPr>
          <a:xfrm>
            <a:off x="5314950" y="234315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Classify</a:t>
            </a:r>
          </a:p>
        </p:txBody>
      </p:sp>
      <p:sp>
        <p:nvSpPr>
          <p:cNvPr id="15" name="text-14">
            <a:extLst>
              <a:ext uri="{FF2B5EF4-FFF2-40B4-BE49-F238E27FC236}">
                <a16:creationId xmlns:a16="http://schemas.microsoft.com/office/drawing/2014/main" id="{941B5190-BEC2-4920-8D11-ACBCD2453BDD}"/>
              </a:ext>
            </a:extLst>
          </p:cNvPr>
          <p:cNvSpPr>
            <a:spLocks noGrp="1"/>
          </p:cNvSpPr>
          <p:nvPr/>
        </p:nvSpPr>
        <p:spPr>
          <a:xfrm>
            <a:off x="5314950" y="265747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Intent + urgency</a:t>
            </a:r>
          </a:p>
        </p:txBody>
      </p:sp>
      <p:sp>
        <p:nvSpPr>
          <p:cNvPr id="16" name="route">
            <a:extLst>
              <a:ext uri="{FF2B5EF4-FFF2-40B4-BE49-F238E27FC236}">
                <a16:creationId xmlns:a16="http://schemas.microsoft.com/office/drawing/2014/main" id="{05382451-EA04-4703-858B-88651A7891D2}"/>
              </a:ext>
            </a:extLst>
          </p:cNvPr>
          <p:cNvSpPr>
            <a:spLocks noGrp="1"/>
          </p:cNvSpPr>
          <p:nvPr/>
        </p:nvSpPr>
        <p:spPr>
          <a:xfrm>
            <a:off x="7439025" y="2209800"/>
            <a:ext cx="1857375" cy="857250"/>
          </a:xfrm>
          <a:prstGeom prst="rect">
            <a:avLst/>
          </a:prstGeom>
          <a:solidFill>
            <a:srgbClr val="00766B"/>
          </a:solidFill>
        </p:spPr>
      </p:sp>
      <p:sp>
        <p:nvSpPr>
          <p:cNvPr id="17" name="text-16">
            <a:extLst>
              <a:ext uri="{FF2B5EF4-FFF2-40B4-BE49-F238E27FC236}">
                <a16:creationId xmlns:a16="http://schemas.microsoft.com/office/drawing/2014/main" id="{1AC2D7EA-AF53-4031-9C5C-683630068281}"/>
              </a:ext>
            </a:extLst>
          </p:cNvPr>
          <p:cNvSpPr>
            <a:spLocks noGrp="1"/>
          </p:cNvSpPr>
          <p:nvPr/>
        </p:nvSpPr>
        <p:spPr>
          <a:xfrm>
            <a:off x="7591425" y="234315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Route</a:t>
            </a:r>
          </a:p>
        </p:txBody>
      </p:sp>
      <p:sp>
        <p:nvSpPr>
          <p:cNvPr id="18" name="text-17">
            <a:extLst>
              <a:ext uri="{FF2B5EF4-FFF2-40B4-BE49-F238E27FC236}">
                <a16:creationId xmlns:a16="http://schemas.microsoft.com/office/drawing/2014/main" id="{C7A698AF-5365-474A-B795-558471A79B2C}"/>
              </a:ext>
            </a:extLst>
          </p:cNvPr>
          <p:cNvSpPr>
            <a:spLocks noGrp="1"/>
          </p:cNvSpPr>
          <p:nvPr/>
        </p:nvSpPr>
        <p:spPr>
          <a:xfrm>
            <a:off x="7591425" y="265747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Deterministic policy</a:t>
            </a:r>
          </a:p>
        </p:txBody>
      </p:sp>
      <p:sp>
        <p:nvSpPr>
          <p:cNvPr id="19" name="generate">
            <a:extLst>
              <a:ext uri="{FF2B5EF4-FFF2-40B4-BE49-F238E27FC236}">
                <a16:creationId xmlns:a16="http://schemas.microsoft.com/office/drawing/2014/main" id="{0B1B8104-C01B-4E98-A0C6-30BFC615D830}"/>
              </a:ext>
            </a:extLst>
          </p:cNvPr>
          <p:cNvSpPr>
            <a:spLocks noGrp="1"/>
          </p:cNvSpPr>
          <p:nvPr/>
        </p:nvSpPr>
        <p:spPr>
          <a:xfrm>
            <a:off x="5162550" y="3943350"/>
            <a:ext cx="1857375" cy="857250"/>
          </a:xfrm>
          <a:prstGeom prst="rect">
            <a:avLst/>
          </a:prstGeom>
          <a:solidFill>
            <a:srgbClr val="00766B"/>
          </a:solidFill>
        </p:spPr>
      </p:sp>
      <p:sp>
        <p:nvSpPr>
          <p:cNvPr id="20" name="text-19">
            <a:extLst>
              <a:ext uri="{FF2B5EF4-FFF2-40B4-BE49-F238E27FC236}">
                <a16:creationId xmlns:a16="http://schemas.microsoft.com/office/drawing/2014/main" id="{7826E7C2-3F87-4460-B7BB-B727BDCE7FC6}"/>
              </a:ext>
            </a:extLst>
          </p:cNvPr>
          <p:cNvSpPr>
            <a:spLocks noGrp="1"/>
          </p:cNvSpPr>
          <p:nvPr/>
        </p:nvSpPr>
        <p:spPr>
          <a:xfrm>
            <a:off x="5314950" y="407670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Generate</a:t>
            </a:r>
          </a:p>
        </p:txBody>
      </p:sp>
      <p:sp>
        <p:nvSpPr>
          <p:cNvPr id="21" name="text-20">
            <a:extLst>
              <a:ext uri="{FF2B5EF4-FFF2-40B4-BE49-F238E27FC236}">
                <a16:creationId xmlns:a16="http://schemas.microsoft.com/office/drawing/2014/main" id="{1FF30276-B0F5-4545-BCA8-6D69EFA44204}"/>
              </a:ext>
            </a:extLst>
          </p:cNvPr>
          <p:cNvSpPr>
            <a:spLocks noGrp="1"/>
          </p:cNvSpPr>
          <p:nvPr/>
        </p:nvSpPr>
        <p:spPr>
          <a:xfrm>
            <a:off x="5314950" y="439102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Cited draft</a:t>
            </a:r>
          </a:p>
        </p:txBody>
      </p:sp>
      <p:sp>
        <p:nvSpPr>
          <p:cNvPr id="22" name="guardrails">
            <a:extLst>
              <a:ext uri="{FF2B5EF4-FFF2-40B4-BE49-F238E27FC236}">
                <a16:creationId xmlns:a16="http://schemas.microsoft.com/office/drawing/2014/main" id="{4703317F-17A4-4A94-8B26-8404F3CC3B5D}"/>
              </a:ext>
            </a:extLst>
          </p:cNvPr>
          <p:cNvSpPr>
            <a:spLocks noGrp="1"/>
          </p:cNvSpPr>
          <p:nvPr/>
        </p:nvSpPr>
        <p:spPr>
          <a:xfrm>
            <a:off x="7439025" y="3943350"/>
            <a:ext cx="1857375" cy="857250"/>
          </a:xfrm>
          <a:prstGeom prst="rect">
            <a:avLst/>
          </a:prstGeom>
          <a:solidFill>
            <a:srgbClr val="00766B"/>
          </a:solidFill>
        </p:spPr>
      </p:sp>
      <p:sp>
        <p:nvSpPr>
          <p:cNvPr id="23" name="text-22">
            <a:extLst>
              <a:ext uri="{FF2B5EF4-FFF2-40B4-BE49-F238E27FC236}">
                <a16:creationId xmlns:a16="http://schemas.microsoft.com/office/drawing/2014/main" id="{B4D67EF0-5C42-4111-83A3-0CAE34B8ACC9}"/>
              </a:ext>
            </a:extLst>
          </p:cNvPr>
          <p:cNvSpPr>
            <a:spLocks noGrp="1"/>
          </p:cNvSpPr>
          <p:nvPr/>
        </p:nvSpPr>
        <p:spPr>
          <a:xfrm>
            <a:off x="7591425" y="407670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Guardrails</a:t>
            </a:r>
          </a:p>
        </p:txBody>
      </p:sp>
      <p:sp>
        <p:nvSpPr>
          <p:cNvPr id="24" name="text-23">
            <a:extLst>
              <a:ext uri="{FF2B5EF4-FFF2-40B4-BE49-F238E27FC236}">
                <a16:creationId xmlns:a16="http://schemas.microsoft.com/office/drawing/2014/main" id="{E474ECC0-F44E-46B3-9994-D53A3D478D5F}"/>
              </a:ext>
            </a:extLst>
          </p:cNvPr>
          <p:cNvSpPr>
            <a:spLocks noGrp="1"/>
          </p:cNvSpPr>
          <p:nvPr/>
        </p:nvSpPr>
        <p:spPr>
          <a:xfrm>
            <a:off x="7591425" y="439102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Python output checks</a:t>
            </a:r>
          </a:p>
        </p:txBody>
      </p:sp>
      <p:sp>
        <p:nvSpPr>
          <p:cNvPr id="25" name="handover">
            <a:extLst>
              <a:ext uri="{FF2B5EF4-FFF2-40B4-BE49-F238E27FC236}">
                <a16:creationId xmlns:a16="http://schemas.microsoft.com/office/drawing/2014/main" id="{82316FB5-C5D8-4E58-AC35-6C6E90BC17E8}"/>
              </a:ext>
            </a:extLst>
          </p:cNvPr>
          <p:cNvSpPr>
            <a:spLocks noGrp="1"/>
          </p:cNvSpPr>
          <p:nvPr/>
        </p:nvSpPr>
        <p:spPr>
          <a:xfrm>
            <a:off x="9715500" y="2209800"/>
            <a:ext cx="1857375" cy="857250"/>
          </a:xfrm>
          <a:prstGeom prst="rect">
            <a:avLst/>
          </a:prstGeom>
          <a:solidFill>
            <a:srgbClr val="B87522"/>
          </a:solidFill>
        </p:spPr>
      </p:sp>
      <p:sp>
        <p:nvSpPr>
          <p:cNvPr id="26" name="text-25">
            <a:extLst>
              <a:ext uri="{FF2B5EF4-FFF2-40B4-BE49-F238E27FC236}">
                <a16:creationId xmlns:a16="http://schemas.microsoft.com/office/drawing/2014/main" id="{20E6BC64-D17A-46C5-A2C3-D03097F4170E}"/>
              </a:ext>
            </a:extLst>
          </p:cNvPr>
          <p:cNvSpPr>
            <a:spLocks noGrp="1"/>
          </p:cNvSpPr>
          <p:nvPr/>
        </p:nvSpPr>
        <p:spPr>
          <a:xfrm>
            <a:off x="9867900" y="234315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Handover</a:t>
            </a:r>
          </a:p>
        </p:txBody>
      </p:sp>
      <p:sp>
        <p:nvSpPr>
          <p:cNvPr id="27" name="text-26">
            <a:extLst>
              <a:ext uri="{FF2B5EF4-FFF2-40B4-BE49-F238E27FC236}">
                <a16:creationId xmlns:a16="http://schemas.microsoft.com/office/drawing/2014/main" id="{FCBBCF62-37C3-4D49-997F-81E9B4C46D39}"/>
              </a:ext>
            </a:extLst>
          </p:cNvPr>
          <p:cNvSpPr>
            <a:spLocks noGrp="1"/>
          </p:cNvSpPr>
          <p:nvPr/>
        </p:nvSpPr>
        <p:spPr>
          <a:xfrm>
            <a:off x="9867900" y="265747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Context + reason</a:t>
            </a:r>
          </a:p>
        </p:txBody>
      </p:sp>
      <p:sp>
        <p:nvSpPr>
          <p:cNvPr id="28" name="audit">
            <a:extLst>
              <a:ext uri="{FF2B5EF4-FFF2-40B4-BE49-F238E27FC236}">
                <a16:creationId xmlns:a16="http://schemas.microsoft.com/office/drawing/2014/main" id="{EB534F51-2A87-40F9-8EED-8A19E33BA0C8}"/>
              </a:ext>
            </a:extLst>
          </p:cNvPr>
          <p:cNvSpPr>
            <a:spLocks noGrp="1"/>
          </p:cNvSpPr>
          <p:nvPr/>
        </p:nvSpPr>
        <p:spPr>
          <a:xfrm>
            <a:off x="9715500" y="3943350"/>
            <a:ext cx="1857375" cy="857250"/>
          </a:xfrm>
          <a:prstGeom prst="rect">
            <a:avLst/>
          </a:prstGeom>
          <a:solidFill>
            <a:srgbClr val="173047"/>
          </a:solidFill>
        </p:spPr>
      </p:sp>
      <p:sp>
        <p:nvSpPr>
          <p:cNvPr id="29" name="text-28">
            <a:extLst>
              <a:ext uri="{FF2B5EF4-FFF2-40B4-BE49-F238E27FC236}">
                <a16:creationId xmlns:a16="http://schemas.microsoft.com/office/drawing/2014/main" id="{57936101-F6D2-41AF-833F-8327DB442171}"/>
              </a:ext>
            </a:extLst>
          </p:cNvPr>
          <p:cNvSpPr>
            <a:spLocks noGrp="1"/>
          </p:cNvSpPr>
          <p:nvPr/>
        </p:nvSpPr>
        <p:spPr>
          <a:xfrm>
            <a:off x="9867900" y="4076700"/>
            <a:ext cx="1552575" cy="276225"/>
          </a:xfrm>
          <a:prstGeom prst="rect">
            <a:avLst/>
          </a:prstGeom>
        </p:spPr>
        <p:txBody>
          <a:bodyPr wrap="square" lIns="0" tIns="0" rIns="0" bIns="0" anchor="t"/>
          <a:lstStyle/>
          <a:p>
            <a:pPr>
              <a:defRPr sz="1575" b="1">
                <a:solidFill>
                  <a:srgbClr val="FFFFFF"/>
                </a:solidFill>
                <a:latin typeface="Arial"/>
                <a:ea typeface="Arial"/>
                <a:cs typeface="Arial"/>
              </a:defRPr>
            </a:pPr>
            <a:r>
              <a:t>Audit + result</a:t>
            </a:r>
          </a:p>
        </p:txBody>
      </p:sp>
      <p:sp>
        <p:nvSpPr>
          <p:cNvPr id="30" name="text-29">
            <a:extLst>
              <a:ext uri="{FF2B5EF4-FFF2-40B4-BE49-F238E27FC236}">
                <a16:creationId xmlns:a16="http://schemas.microsoft.com/office/drawing/2014/main" id="{E66A46C8-150C-4724-AA43-0FAA5119B723}"/>
              </a:ext>
            </a:extLst>
          </p:cNvPr>
          <p:cNvSpPr>
            <a:spLocks noGrp="1"/>
          </p:cNvSpPr>
          <p:nvPr/>
        </p:nvSpPr>
        <p:spPr>
          <a:xfrm>
            <a:off x="9867900" y="4391025"/>
            <a:ext cx="1552575" cy="209550"/>
          </a:xfrm>
          <a:prstGeom prst="rect">
            <a:avLst/>
          </a:prstGeom>
        </p:spPr>
        <p:txBody>
          <a:bodyPr wrap="square" lIns="0" tIns="0" rIns="0" bIns="0" anchor="t"/>
          <a:lstStyle/>
          <a:p>
            <a:pPr>
              <a:defRPr sz="1200" b="0">
                <a:solidFill>
                  <a:srgbClr val="FFFFFF"/>
                </a:solidFill>
                <a:latin typeface="Arial"/>
                <a:ea typeface="Arial"/>
                <a:cs typeface="Arial"/>
              </a:defRPr>
            </a:pPr>
            <a:r>
              <a:t>SQLite decision record</a:t>
            </a:r>
          </a:p>
        </p:txBody>
      </p:sp>
      <p:sp>
        <p:nvSpPr>
          <p:cNvPr id="31" name="text-30">
            <a:extLst>
              <a:ext uri="{FF2B5EF4-FFF2-40B4-BE49-F238E27FC236}">
                <a16:creationId xmlns:a16="http://schemas.microsoft.com/office/drawing/2014/main" id="{AD6DD071-7862-4C4A-8C24-8A5FE4A31AF1}"/>
              </a:ext>
            </a:extLst>
          </p:cNvPr>
          <p:cNvSpPr>
            <a:spLocks noGrp="1"/>
          </p:cNvSpPr>
          <p:nvPr/>
        </p:nvSpPr>
        <p:spPr>
          <a:xfrm>
            <a:off x="9582150" y="1895475"/>
            <a:ext cx="1981200" cy="228600"/>
          </a:xfrm>
          <a:prstGeom prst="rect">
            <a:avLst/>
          </a:prstGeom>
        </p:spPr>
        <p:txBody>
          <a:bodyPr wrap="square" lIns="0" tIns="0" rIns="0" bIns="0" anchor="t"/>
          <a:lstStyle/>
          <a:p>
            <a:pPr>
              <a:defRPr sz="975" b="1">
                <a:solidFill>
                  <a:srgbClr val="B87522"/>
                </a:solidFill>
                <a:latin typeface="Arial"/>
                <a:ea typeface="Arial"/>
                <a:cs typeface="Arial"/>
              </a:defRPr>
            </a:pPr>
            <a:r>
              <a:t>ESCALATE</a:t>
            </a:r>
          </a:p>
        </p:txBody>
      </p:sp>
      <p:sp>
        <p:nvSpPr>
          <p:cNvPr id="32" name="text-31">
            <a:extLst>
              <a:ext uri="{FF2B5EF4-FFF2-40B4-BE49-F238E27FC236}">
                <a16:creationId xmlns:a16="http://schemas.microsoft.com/office/drawing/2014/main" id="{E0B3AD20-4F75-48B0-A724-69D05590806B}"/>
              </a:ext>
            </a:extLst>
          </p:cNvPr>
          <p:cNvSpPr>
            <a:spLocks noGrp="1"/>
          </p:cNvSpPr>
          <p:nvPr/>
        </p:nvSpPr>
        <p:spPr>
          <a:xfrm>
            <a:off x="6286500" y="3629025"/>
            <a:ext cx="1619250" cy="228600"/>
          </a:xfrm>
          <a:prstGeom prst="rect">
            <a:avLst/>
          </a:prstGeom>
        </p:spPr>
        <p:txBody>
          <a:bodyPr wrap="square" lIns="0" tIns="0" rIns="0" bIns="0" anchor="t"/>
          <a:lstStyle/>
          <a:p>
            <a:pPr>
              <a:defRPr sz="975" b="1">
                <a:solidFill>
                  <a:srgbClr val="00766B"/>
                </a:solidFill>
                <a:latin typeface="Arial"/>
                <a:ea typeface="Arial"/>
                <a:cs typeface="Arial"/>
              </a:defRPr>
            </a:pPr>
            <a:r>
              <a:t>ELIGIBLE</a:t>
            </a:r>
          </a:p>
        </p:txBody>
      </p:sp>
      <p:sp>
        <p:nvSpPr>
          <p:cNvPr id="33" name="text-32">
            <a:extLst>
              <a:ext uri="{FF2B5EF4-FFF2-40B4-BE49-F238E27FC236}">
                <a16:creationId xmlns:a16="http://schemas.microsoft.com/office/drawing/2014/main" id="{5C77C5F3-9116-44DF-8E1D-71BFF1EABF77}"/>
              </a:ext>
            </a:extLst>
          </p:cNvPr>
          <p:cNvSpPr>
            <a:spLocks noGrp="1"/>
          </p:cNvSpPr>
          <p:nvPr/>
        </p:nvSpPr>
        <p:spPr>
          <a:xfrm>
            <a:off x="609600" y="4000500"/>
            <a:ext cx="3829050" cy="1362075"/>
          </a:xfrm>
          <a:prstGeom prst="rect">
            <a:avLst/>
          </a:prstGeom>
        </p:spPr>
        <p:txBody>
          <a:bodyPr wrap="square" lIns="0" tIns="0" rIns="0" bIns="0" anchor="t"/>
          <a:lstStyle/>
          <a:p>
            <a:pPr>
              <a:defRPr sz="1650" b="0">
                <a:solidFill>
                  <a:srgbClr val="546573"/>
                </a:solidFill>
                <a:latin typeface="Arial"/>
                <a:ea typeface="Arial"/>
                <a:cs typeface="Arial"/>
              </a:defRPr>
            </a:pPr>
            <a:r>
              <a:t>Approved KB → retrieval</a:t>
            </a:r>
          </a:p>
          <a:p>
            <a:pPr>
              <a:defRPr sz="1650" b="0">
                <a:solidFill>
                  <a:srgbClr val="546573"/>
                </a:solidFill>
                <a:latin typeface="Arial"/>
                <a:ea typeface="Arial"/>
                <a:cs typeface="Arial"/>
              </a:defRPr>
            </a:pPr>
            <a:r>
              <a:t>Model calls → classify / generate</a:t>
            </a:r>
          </a:p>
          <a:p>
            <a:pPr>
              <a:defRPr sz="1650" b="0">
                <a:solidFill>
                  <a:srgbClr val="546573"/>
                </a:solidFill>
                <a:latin typeface="Arial"/>
                <a:ea typeface="Arial"/>
                <a:cs typeface="Arial"/>
              </a:defRPr>
            </a:pPr>
            <a:r>
              <a:t>Evaluation labels → harness only</a:t>
            </a:r>
          </a:p>
        </p:txBody>
      </p:sp>
      <p:sp>
        <p:nvSpPr>
          <p:cNvPr id="34" name="text-33">
            <a:extLst>
              <a:ext uri="{FF2B5EF4-FFF2-40B4-BE49-F238E27FC236}">
                <a16:creationId xmlns:a16="http://schemas.microsoft.com/office/drawing/2014/main" id="{C7C14B10-B2E8-4E68-B55D-4182740D92D5}"/>
              </a:ext>
            </a:extLst>
          </p:cNvPr>
          <p:cNvSpPr>
            <a:spLocks noGrp="1"/>
          </p:cNvSpPr>
          <p:nvPr/>
        </p:nvSpPr>
        <p:spPr>
          <a:xfrm>
            <a:off x="609600" y="5600700"/>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An output-check failure suppresses the draft and returns a handover. Semantic grounding review is disabled.</a:t>
            </a:r>
          </a:p>
        </p:txBody>
      </p:sp>
      <p:cxnSp>
        <p:nvCxnSpPr>
          <p:cNvPr id="35" name="Straight Arrow Connector 34"/>
          <p:cNvCxnSpPr>
            <a:stCxn id="7" idx="3"/>
            <a:endCxn id="10" idx="1"/>
          </p:cNvCxnSpPr>
          <p:nvPr/>
        </p:nvCxnSpPr>
        <p:spPr>
          <a:xfrm>
            <a:off x="2466975" y="2638425"/>
            <a:ext cx="419100" cy="0"/>
          </a:xfrm>
          <a:prstGeom prst="straightConnector1">
            <a:avLst/>
          </a:prstGeom>
          <a:ln w="19050">
            <a:solidFill>
              <a:srgbClr val="546573"/>
            </a:solidFill>
            <a:prstDash val="solid"/>
            <a:tailEnd type="arrow" w="med" len="med"/>
          </a:ln>
        </p:spPr>
      </p:cxnSp>
      <p:cxnSp>
        <p:nvCxnSpPr>
          <p:cNvPr id="36" name="Straight Arrow Connector 35"/>
          <p:cNvCxnSpPr>
            <a:stCxn id="10" idx="3"/>
            <a:endCxn id="13" idx="1"/>
          </p:cNvCxnSpPr>
          <p:nvPr/>
        </p:nvCxnSpPr>
        <p:spPr>
          <a:xfrm>
            <a:off x="4743450" y="2638425"/>
            <a:ext cx="419100" cy="0"/>
          </a:xfrm>
          <a:prstGeom prst="straightConnector1">
            <a:avLst/>
          </a:prstGeom>
          <a:ln w="19050">
            <a:solidFill>
              <a:srgbClr val="546573"/>
            </a:solidFill>
            <a:prstDash val="solid"/>
            <a:tailEnd type="arrow" w="med" len="med"/>
          </a:ln>
        </p:spPr>
      </p:cxnSp>
      <p:cxnSp>
        <p:nvCxnSpPr>
          <p:cNvPr id="37" name="Straight Arrow Connector 36"/>
          <p:cNvCxnSpPr>
            <a:stCxn id="13" idx="3"/>
            <a:endCxn id="16" idx="1"/>
          </p:cNvCxnSpPr>
          <p:nvPr/>
        </p:nvCxnSpPr>
        <p:spPr>
          <a:xfrm>
            <a:off x="7019925" y="2638425"/>
            <a:ext cx="419100" cy="0"/>
          </a:xfrm>
          <a:prstGeom prst="straightConnector1">
            <a:avLst/>
          </a:prstGeom>
          <a:ln w="19050">
            <a:solidFill>
              <a:srgbClr val="546573"/>
            </a:solidFill>
            <a:prstDash val="solid"/>
            <a:tailEnd type="arrow" w="med" len="med"/>
          </a:ln>
        </p:spPr>
      </p:cxnSp>
      <p:cxnSp>
        <p:nvCxnSpPr>
          <p:cNvPr id="38" name="Straight Arrow Connector 37"/>
          <p:cNvCxnSpPr>
            <a:stCxn id="16" idx="3"/>
            <a:endCxn id="25" idx="1"/>
          </p:cNvCxnSpPr>
          <p:nvPr/>
        </p:nvCxnSpPr>
        <p:spPr>
          <a:xfrm>
            <a:off x="9296400" y="2638425"/>
            <a:ext cx="419100" cy="0"/>
          </a:xfrm>
          <a:prstGeom prst="straightConnector1">
            <a:avLst/>
          </a:prstGeom>
          <a:ln w="19050">
            <a:solidFill>
              <a:srgbClr val="546573"/>
            </a:solidFill>
            <a:prstDash val="solid"/>
            <a:tailEnd type="arrow" w="med" len="med"/>
          </a:ln>
        </p:spPr>
      </p:cxnSp>
      <p:cxnSp>
        <p:nvCxnSpPr>
          <p:cNvPr id="39" name="Connector: Elbow 38"/>
          <p:cNvCxnSpPr>
            <a:stCxn id="16" idx="2"/>
            <a:endCxn id="19" idx="0"/>
          </p:cNvCxnSpPr>
          <p:nvPr/>
        </p:nvCxnSpPr>
        <p:spPr>
          <a:xfrm flipH="1">
            <a:off x="6091238" y="3067050"/>
            <a:ext cx="2276475" cy="876300"/>
          </a:xfrm>
          <a:prstGeom prst="bentConnector4">
            <a:avLst>
              <a:gd name="adj1" fmla="val 0"/>
              <a:gd name="adj2" fmla="val 50000"/>
            </a:avLst>
          </a:prstGeom>
          <a:ln w="19050">
            <a:solidFill>
              <a:srgbClr val="546573"/>
            </a:solidFill>
            <a:prstDash val="solid"/>
            <a:tailEnd type="arrow" w="med" len="med"/>
          </a:ln>
        </p:spPr>
      </p:cxnSp>
      <p:cxnSp>
        <p:nvCxnSpPr>
          <p:cNvPr id="40" name="Straight Arrow Connector 39"/>
          <p:cNvCxnSpPr>
            <a:stCxn id="19" idx="3"/>
            <a:endCxn id="22" idx="1"/>
          </p:cNvCxnSpPr>
          <p:nvPr/>
        </p:nvCxnSpPr>
        <p:spPr>
          <a:xfrm>
            <a:off x="7019925" y="4371975"/>
            <a:ext cx="419100" cy="0"/>
          </a:xfrm>
          <a:prstGeom prst="straightConnector1">
            <a:avLst/>
          </a:prstGeom>
          <a:ln w="19050">
            <a:solidFill>
              <a:srgbClr val="546573"/>
            </a:solidFill>
            <a:prstDash val="solid"/>
            <a:tailEnd type="arrow" w="med" len="med"/>
          </a:ln>
        </p:spPr>
      </p:cxnSp>
      <p:cxnSp>
        <p:nvCxnSpPr>
          <p:cNvPr id="41" name="Straight Arrow Connector 40"/>
          <p:cNvCxnSpPr>
            <a:stCxn id="22" idx="3"/>
            <a:endCxn id="28" idx="1"/>
          </p:cNvCxnSpPr>
          <p:nvPr/>
        </p:nvCxnSpPr>
        <p:spPr>
          <a:xfrm>
            <a:off x="9296400" y="4371975"/>
            <a:ext cx="419100" cy="0"/>
          </a:xfrm>
          <a:prstGeom prst="straightConnector1">
            <a:avLst/>
          </a:prstGeom>
          <a:ln w="19050">
            <a:solidFill>
              <a:srgbClr val="546573"/>
            </a:solidFill>
            <a:prstDash val="solid"/>
            <a:tailEnd type="arrow" w="med" len="med"/>
          </a:ln>
        </p:spPr>
      </p:cxnSp>
      <p:cxnSp>
        <p:nvCxnSpPr>
          <p:cNvPr id="42" name="Straight Arrow Connector 41"/>
          <p:cNvCxnSpPr>
            <a:stCxn id="25" idx="2"/>
            <a:endCxn id="28" idx="0"/>
          </p:cNvCxnSpPr>
          <p:nvPr/>
        </p:nvCxnSpPr>
        <p:spPr>
          <a:xfrm>
            <a:off x="10644188" y="3067050"/>
            <a:ext cx="0" cy="876300"/>
          </a:xfrm>
          <a:prstGeom prst="straightConnector1">
            <a:avLst/>
          </a:prstGeom>
          <a:ln w="19050">
            <a:solidFill>
              <a:srgbClr val="546573"/>
            </a:solidFill>
            <a:prstDash val="solid"/>
            <a:tailEnd type="arrow" w="med" len="med"/>
          </a:ln>
        </p:spPr>
      </p:cxnSp>
    </p:spTree>
    <p:extLst>
      <p:ext uri="{BB962C8B-B14F-4D97-AF65-F5344CB8AC3E}">
        <p14:creationId xmlns:p14="http://schemas.microsoft.com/office/powerpoint/2010/main" val="1868964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7" name="kicker-marker">
            <a:extLst>
              <a:ext uri="{FF2B5EF4-FFF2-40B4-BE49-F238E27FC236}">
                <a16:creationId xmlns:a16="http://schemas.microsoft.com/office/drawing/2014/main" id="{EC35F082-A1D5-4286-92A7-7DC6C8AF9CBC}"/>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12AFCA86-5D3E-4750-B115-A4DA1EF33DA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PROJECT ARCHITECTURE</a:t>
            </a:r>
          </a:p>
        </p:txBody>
      </p:sp>
      <p:sp>
        <p:nvSpPr>
          <p:cNvPr id="3" name="text-2">
            <a:extLst>
              <a:ext uri="{FF2B5EF4-FFF2-40B4-BE49-F238E27FC236}">
                <a16:creationId xmlns:a16="http://schemas.microsoft.com/office/drawing/2014/main" id="{60503359-072C-4EFE-B1D7-4EDF50E9013C}"/>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The API and harness reuse</a:t>
            </a:r>
          </a:p>
          <a:p>
            <a:pPr>
              <a:defRPr sz="3150" b="0">
                <a:solidFill>
                  <a:srgbClr val="173047"/>
                </a:solidFill>
                <a:latin typeface="Georgia"/>
                <a:ea typeface="Georgia"/>
                <a:cs typeface="Georgia"/>
              </a:defRPr>
            </a:pPr>
            <a:r>
              <a:t>the same processing core</a:t>
            </a:r>
          </a:p>
        </p:txBody>
      </p:sp>
      <p:sp>
        <p:nvSpPr>
          <p:cNvPr id="4" name="shape-3">
            <a:extLst>
              <a:ext uri="{FF2B5EF4-FFF2-40B4-BE49-F238E27FC236}">
                <a16:creationId xmlns:a16="http://schemas.microsoft.com/office/drawing/2014/main" id="{A763A807-F591-43C2-BC13-A126C7C75405}"/>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FA4DD605-B040-4A34-8044-C7EFE570831E}"/>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Repository structure; README.md; src; evaluation/harness.py; data; docs</a:t>
            </a:r>
          </a:p>
        </p:txBody>
      </p:sp>
      <p:sp>
        <p:nvSpPr>
          <p:cNvPr id="6" name="text-5">
            <a:extLst>
              <a:ext uri="{FF2B5EF4-FFF2-40B4-BE49-F238E27FC236}">
                <a16:creationId xmlns:a16="http://schemas.microsoft.com/office/drawing/2014/main" id="{F345EE01-0F77-4EB0-9F04-4C330128726B}"/>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14</a:t>
            </a:r>
          </a:p>
        </p:txBody>
      </p:sp>
      <p:sp>
        <p:nvSpPr>
          <p:cNvPr id="7" name="shape-6">
            <a:extLst>
              <a:ext uri="{FF2B5EF4-FFF2-40B4-BE49-F238E27FC236}">
                <a16:creationId xmlns:a16="http://schemas.microsoft.com/office/drawing/2014/main" id="{6628F037-124C-4D8F-9A52-7B7C9F54B70E}"/>
              </a:ext>
            </a:extLst>
          </p:cNvPr>
          <p:cNvSpPr>
            <a:spLocks noGrp="1"/>
          </p:cNvSpPr>
          <p:nvPr/>
        </p:nvSpPr>
        <p:spPr>
          <a:xfrm>
            <a:off x="609600" y="2009775"/>
            <a:ext cx="2047875" cy="838200"/>
          </a:xfrm>
          <a:prstGeom prst="rect">
            <a:avLst/>
          </a:prstGeom>
          <a:solidFill>
            <a:srgbClr val="00766B"/>
          </a:solidFill>
        </p:spPr>
      </p:sp>
      <p:sp>
        <p:nvSpPr>
          <p:cNvPr id="8" name="text-7">
            <a:extLst>
              <a:ext uri="{FF2B5EF4-FFF2-40B4-BE49-F238E27FC236}">
                <a16:creationId xmlns:a16="http://schemas.microsoft.com/office/drawing/2014/main" id="{E849EA96-B4C2-441B-A870-0A2839DE7A47}"/>
              </a:ext>
            </a:extLst>
          </p:cNvPr>
          <p:cNvSpPr>
            <a:spLocks noGrp="1"/>
          </p:cNvSpPr>
          <p:nvPr/>
        </p:nvSpPr>
        <p:spPr>
          <a:xfrm>
            <a:off x="762000" y="2276475"/>
            <a:ext cx="1743075" cy="361950"/>
          </a:xfrm>
          <a:prstGeom prst="rect">
            <a:avLst/>
          </a:prstGeom>
        </p:spPr>
        <p:txBody>
          <a:bodyPr wrap="square" lIns="0" tIns="0" rIns="0" bIns="0" anchor="t"/>
          <a:lstStyle/>
          <a:p>
            <a:pPr>
              <a:defRPr sz="1275" b="1">
                <a:solidFill>
                  <a:srgbClr val="FFFFFF"/>
                </a:solidFill>
                <a:latin typeface="Arial"/>
                <a:ea typeface="Arial"/>
                <a:cs typeface="Arial"/>
              </a:defRPr>
            </a:pPr>
            <a:r>
              <a:t>ENTRY POINTS</a:t>
            </a:r>
          </a:p>
        </p:txBody>
      </p:sp>
      <p:sp>
        <p:nvSpPr>
          <p:cNvPr id="9" name="text-8">
            <a:extLst>
              <a:ext uri="{FF2B5EF4-FFF2-40B4-BE49-F238E27FC236}">
                <a16:creationId xmlns:a16="http://schemas.microsoft.com/office/drawing/2014/main" id="{6839B57B-9E1A-46AC-B1D1-780C06808368}"/>
              </a:ext>
            </a:extLst>
          </p:cNvPr>
          <p:cNvSpPr>
            <a:spLocks noGrp="1"/>
          </p:cNvSpPr>
          <p:nvPr/>
        </p:nvSpPr>
        <p:spPr>
          <a:xfrm>
            <a:off x="2943225" y="2085975"/>
            <a:ext cx="8572500" cy="342900"/>
          </a:xfrm>
          <a:prstGeom prst="rect">
            <a:avLst/>
          </a:prstGeom>
        </p:spPr>
        <p:txBody>
          <a:bodyPr wrap="square" lIns="0" tIns="0" rIns="0" bIns="0" anchor="t"/>
          <a:lstStyle/>
          <a:p>
            <a:pPr>
              <a:defRPr sz="1800" b="0">
                <a:solidFill>
                  <a:srgbClr val="173047"/>
                </a:solidFill>
                <a:latin typeface="Arial"/>
                <a:ea typeface="Arial"/>
                <a:cs typeface="Arial"/>
              </a:defRPr>
            </a:pPr>
            <a:r>
              <a:t>FastAPI service · batch harness · local commands</a:t>
            </a:r>
          </a:p>
        </p:txBody>
      </p:sp>
      <p:sp>
        <p:nvSpPr>
          <p:cNvPr id="10" name="text-9">
            <a:extLst>
              <a:ext uri="{FF2B5EF4-FFF2-40B4-BE49-F238E27FC236}">
                <a16:creationId xmlns:a16="http://schemas.microsoft.com/office/drawing/2014/main" id="{33281BA9-5B42-4A81-8ADD-21C9E4EFB53C}"/>
              </a:ext>
            </a:extLst>
          </p:cNvPr>
          <p:cNvSpPr>
            <a:spLocks noGrp="1"/>
          </p:cNvSpPr>
          <p:nvPr/>
        </p:nvSpPr>
        <p:spPr>
          <a:xfrm>
            <a:off x="2943225" y="2476500"/>
            <a:ext cx="8572500" cy="333375"/>
          </a:xfrm>
          <a:prstGeom prst="rect">
            <a:avLst/>
          </a:prstGeom>
        </p:spPr>
        <p:txBody>
          <a:bodyPr wrap="square" lIns="0" tIns="0" rIns="0" bIns="0" anchor="t"/>
          <a:lstStyle/>
          <a:p>
            <a:pPr>
              <a:defRPr sz="1500" b="0">
                <a:solidFill>
                  <a:srgbClr val="546573"/>
                </a:solidFill>
                <a:latin typeface="Arial"/>
                <a:ea typeface="Arial"/>
                <a:cs typeface="Arial"/>
              </a:defRPr>
            </a:pPr>
            <a:r>
              <a:t>src/api.py / evaluation/harness.py / src/graph.py</a:t>
            </a:r>
          </a:p>
        </p:txBody>
      </p:sp>
      <p:sp>
        <p:nvSpPr>
          <p:cNvPr id="11" name="shape-10">
            <a:extLst>
              <a:ext uri="{FF2B5EF4-FFF2-40B4-BE49-F238E27FC236}">
                <a16:creationId xmlns:a16="http://schemas.microsoft.com/office/drawing/2014/main" id="{811A85D0-01AA-4C3A-B268-557B34EFEEA9}"/>
              </a:ext>
            </a:extLst>
          </p:cNvPr>
          <p:cNvSpPr>
            <a:spLocks noGrp="1"/>
          </p:cNvSpPr>
          <p:nvPr/>
        </p:nvSpPr>
        <p:spPr>
          <a:xfrm>
            <a:off x="2943225" y="2914650"/>
            <a:ext cx="8582025" cy="9525"/>
          </a:xfrm>
          <a:prstGeom prst="rect">
            <a:avLst/>
          </a:prstGeom>
          <a:solidFill>
            <a:srgbClr val="CDD3D2"/>
          </a:solidFill>
        </p:spPr>
      </p:sp>
      <p:sp>
        <p:nvSpPr>
          <p:cNvPr id="12" name="shape-11">
            <a:extLst>
              <a:ext uri="{FF2B5EF4-FFF2-40B4-BE49-F238E27FC236}">
                <a16:creationId xmlns:a16="http://schemas.microsoft.com/office/drawing/2014/main" id="{68E8D0A4-187B-4D29-B2BE-234DABB01988}"/>
              </a:ext>
            </a:extLst>
          </p:cNvPr>
          <p:cNvSpPr>
            <a:spLocks noGrp="1"/>
          </p:cNvSpPr>
          <p:nvPr/>
        </p:nvSpPr>
        <p:spPr>
          <a:xfrm>
            <a:off x="609600" y="2990850"/>
            <a:ext cx="2047875" cy="838200"/>
          </a:xfrm>
          <a:prstGeom prst="rect">
            <a:avLst/>
          </a:prstGeom>
          <a:solidFill>
            <a:srgbClr val="173047"/>
          </a:solidFill>
        </p:spPr>
      </p:sp>
      <p:sp>
        <p:nvSpPr>
          <p:cNvPr id="13" name="text-12">
            <a:extLst>
              <a:ext uri="{FF2B5EF4-FFF2-40B4-BE49-F238E27FC236}">
                <a16:creationId xmlns:a16="http://schemas.microsoft.com/office/drawing/2014/main" id="{869BC50F-439D-413F-9AC2-701D6EC693A4}"/>
              </a:ext>
            </a:extLst>
          </p:cNvPr>
          <p:cNvSpPr>
            <a:spLocks noGrp="1"/>
          </p:cNvSpPr>
          <p:nvPr/>
        </p:nvSpPr>
        <p:spPr>
          <a:xfrm>
            <a:off x="762000" y="3257550"/>
            <a:ext cx="1743075" cy="361950"/>
          </a:xfrm>
          <a:prstGeom prst="rect">
            <a:avLst/>
          </a:prstGeom>
        </p:spPr>
        <p:txBody>
          <a:bodyPr wrap="square" lIns="0" tIns="0" rIns="0" bIns="0" anchor="t"/>
          <a:lstStyle/>
          <a:p>
            <a:pPr>
              <a:defRPr sz="1275" b="1">
                <a:solidFill>
                  <a:srgbClr val="FFFFFF"/>
                </a:solidFill>
                <a:latin typeface="Arial"/>
                <a:ea typeface="Arial"/>
                <a:cs typeface="Arial"/>
              </a:defRPr>
            </a:pPr>
            <a:r>
              <a:t>PROCESSING CORE</a:t>
            </a:r>
          </a:p>
        </p:txBody>
      </p:sp>
      <p:sp>
        <p:nvSpPr>
          <p:cNvPr id="14" name="text-13">
            <a:extLst>
              <a:ext uri="{FF2B5EF4-FFF2-40B4-BE49-F238E27FC236}">
                <a16:creationId xmlns:a16="http://schemas.microsoft.com/office/drawing/2014/main" id="{93ADBAFC-A3A3-4411-A31B-B9BABF16801E}"/>
              </a:ext>
            </a:extLst>
          </p:cNvPr>
          <p:cNvSpPr>
            <a:spLocks noGrp="1"/>
          </p:cNvSpPr>
          <p:nvPr/>
        </p:nvSpPr>
        <p:spPr>
          <a:xfrm>
            <a:off x="2943225" y="3067050"/>
            <a:ext cx="8572500" cy="342900"/>
          </a:xfrm>
          <a:prstGeom prst="rect">
            <a:avLst/>
          </a:prstGeom>
        </p:spPr>
        <p:txBody>
          <a:bodyPr wrap="square" lIns="0" tIns="0" rIns="0" bIns="0" anchor="t"/>
          <a:lstStyle/>
          <a:p>
            <a:pPr>
              <a:defRPr sz="1800" b="0">
                <a:solidFill>
                  <a:srgbClr val="173047"/>
                </a:solidFill>
                <a:latin typeface="Arial"/>
                <a:ea typeface="Arial"/>
                <a:cs typeface="Arial"/>
              </a:defRPr>
            </a:pPr>
            <a:r>
              <a:t>Normalisation · retrieval · classification · policy · generation · checks</a:t>
            </a:r>
          </a:p>
        </p:txBody>
      </p:sp>
      <p:sp>
        <p:nvSpPr>
          <p:cNvPr id="15" name="text-14">
            <a:extLst>
              <a:ext uri="{FF2B5EF4-FFF2-40B4-BE49-F238E27FC236}">
                <a16:creationId xmlns:a16="http://schemas.microsoft.com/office/drawing/2014/main" id="{49B2CD27-D2EF-4D96-9CB8-A6301DA56006}"/>
              </a:ext>
            </a:extLst>
          </p:cNvPr>
          <p:cNvSpPr>
            <a:spLocks noGrp="1"/>
          </p:cNvSpPr>
          <p:nvPr/>
        </p:nvSpPr>
        <p:spPr>
          <a:xfrm>
            <a:off x="2943225" y="3457575"/>
            <a:ext cx="8572500" cy="333375"/>
          </a:xfrm>
          <a:prstGeom prst="rect">
            <a:avLst/>
          </a:prstGeom>
        </p:spPr>
        <p:txBody>
          <a:bodyPr wrap="square" lIns="0" tIns="0" rIns="0" bIns="0" anchor="t"/>
          <a:lstStyle/>
          <a:p>
            <a:pPr>
              <a:defRPr sz="1500" b="0">
                <a:solidFill>
                  <a:srgbClr val="546573"/>
                </a:solidFill>
                <a:latin typeface="Arial"/>
                <a:ea typeface="Arial"/>
                <a:cs typeface="Arial"/>
              </a:defRPr>
            </a:pPr>
            <a:r>
              <a:t>src/ingest.py / retrieve.py / classify.py / route.py / generate.py / guardrails.py</a:t>
            </a:r>
          </a:p>
        </p:txBody>
      </p:sp>
      <p:sp>
        <p:nvSpPr>
          <p:cNvPr id="16" name="shape-15">
            <a:extLst>
              <a:ext uri="{FF2B5EF4-FFF2-40B4-BE49-F238E27FC236}">
                <a16:creationId xmlns:a16="http://schemas.microsoft.com/office/drawing/2014/main" id="{CEF27FF5-5D84-4D57-A6FE-D3C9337F2C9D}"/>
              </a:ext>
            </a:extLst>
          </p:cNvPr>
          <p:cNvSpPr>
            <a:spLocks noGrp="1"/>
          </p:cNvSpPr>
          <p:nvPr/>
        </p:nvSpPr>
        <p:spPr>
          <a:xfrm>
            <a:off x="2943225" y="3895725"/>
            <a:ext cx="8582025" cy="9525"/>
          </a:xfrm>
          <a:prstGeom prst="rect">
            <a:avLst/>
          </a:prstGeom>
          <a:solidFill>
            <a:srgbClr val="CDD3D2"/>
          </a:solidFill>
        </p:spPr>
      </p:sp>
      <p:sp>
        <p:nvSpPr>
          <p:cNvPr id="17" name="shape-16">
            <a:extLst>
              <a:ext uri="{FF2B5EF4-FFF2-40B4-BE49-F238E27FC236}">
                <a16:creationId xmlns:a16="http://schemas.microsoft.com/office/drawing/2014/main" id="{C8967902-3196-4A46-A00E-E12311FF8803}"/>
              </a:ext>
            </a:extLst>
          </p:cNvPr>
          <p:cNvSpPr>
            <a:spLocks noGrp="1"/>
          </p:cNvSpPr>
          <p:nvPr/>
        </p:nvSpPr>
        <p:spPr>
          <a:xfrm>
            <a:off x="609600" y="3971925"/>
            <a:ext cx="2047875" cy="838200"/>
          </a:xfrm>
          <a:prstGeom prst="rect">
            <a:avLst/>
          </a:prstGeom>
          <a:solidFill>
            <a:srgbClr val="173047"/>
          </a:solidFill>
        </p:spPr>
      </p:sp>
      <p:sp>
        <p:nvSpPr>
          <p:cNvPr id="18" name="text-17">
            <a:extLst>
              <a:ext uri="{FF2B5EF4-FFF2-40B4-BE49-F238E27FC236}">
                <a16:creationId xmlns:a16="http://schemas.microsoft.com/office/drawing/2014/main" id="{E46D4D03-A3B0-4858-A37D-0CC665DD502E}"/>
              </a:ext>
            </a:extLst>
          </p:cNvPr>
          <p:cNvSpPr>
            <a:spLocks noGrp="1"/>
          </p:cNvSpPr>
          <p:nvPr/>
        </p:nvSpPr>
        <p:spPr>
          <a:xfrm>
            <a:off x="762000" y="4238625"/>
            <a:ext cx="1743075" cy="361950"/>
          </a:xfrm>
          <a:prstGeom prst="rect">
            <a:avLst/>
          </a:prstGeom>
        </p:spPr>
        <p:txBody>
          <a:bodyPr wrap="square" lIns="0" tIns="0" rIns="0" bIns="0" anchor="t"/>
          <a:lstStyle/>
          <a:p>
            <a:pPr>
              <a:defRPr sz="1275" b="1">
                <a:solidFill>
                  <a:srgbClr val="FFFFFF"/>
                </a:solidFill>
                <a:latin typeface="Arial"/>
                <a:ea typeface="Arial"/>
                <a:cs typeface="Arial"/>
              </a:defRPr>
            </a:pPr>
            <a:r>
              <a:t>DATA &amp; EVIDENCE</a:t>
            </a:r>
          </a:p>
        </p:txBody>
      </p:sp>
      <p:sp>
        <p:nvSpPr>
          <p:cNvPr id="19" name="text-18">
            <a:extLst>
              <a:ext uri="{FF2B5EF4-FFF2-40B4-BE49-F238E27FC236}">
                <a16:creationId xmlns:a16="http://schemas.microsoft.com/office/drawing/2014/main" id="{21335358-65C7-47D7-B189-34F4E379EA84}"/>
              </a:ext>
            </a:extLst>
          </p:cNvPr>
          <p:cNvSpPr>
            <a:spLocks noGrp="1"/>
          </p:cNvSpPr>
          <p:nvPr/>
        </p:nvSpPr>
        <p:spPr>
          <a:xfrm>
            <a:off x="2943225" y="4048125"/>
            <a:ext cx="8572500" cy="342900"/>
          </a:xfrm>
          <a:prstGeom prst="rect">
            <a:avLst/>
          </a:prstGeom>
        </p:spPr>
        <p:txBody>
          <a:bodyPr wrap="square" lIns="0" tIns="0" rIns="0" bIns="0" anchor="t"/>
          <a:lstStyle/>
          <a:p>
            <a:pPr>
              <a:defRPr sz="1800" b="0">
                <a:solidFill>
                  <a:srgbClr val="173047"/>
                </a:solidFill>
                <a:latin typeface="Arial"/>
                <a:ea typeface="Arial"/>
                <a:cs typeface="Arial"/>
              </a:defRPr>
            </a:pPr>
            <a:r>
              <a:t>Knowledge articles · Chroma index · SQLite audit · saved report JSON</a:t>
            </a:r>
          </a:p>
        </p:txBody>
      </p:sp>
      <p:sp>
        <p:nvSpPr>
          <p:cNvPr id="20" name="text-19">
            <a:extLst>
              <a:ext uri="{FF2B5EF4-FFF2-40B4-BE49-F238E27FC236}">
                <a16:creationId xmlns:a16="http://schemas.microsoft.com/office/drawing/2014/main" id="{6D909A2E-4D62-4AD6-BFFE-E12E376B1E28}"/>
              </a:ext>
            </a:extLst>
          </p:cNvPr>
          <p:cNvSpPr>
            <a:spLocks noGrp="1"/>
          </p:cNvSpPr>
          <p:nvPr/>
        </p:nvSpPr>
        <p:spPr>
          <a:xfrm>
            <a:off x="2943225" y="4438650"/>
            <a:ext cx="8572500" cy="333375"/>
          </a:xfrm>
          <a:prstGeom prst="rect">
            <a:avLst/>
          </a:prstGeom>
        </p:spPr>
        <p:txBody>
          <a:bodyPr wrap="square" lIns="0" tIns="0" rIns="0" bIns="0" anchor="t"/>
          <a:lstStyle/>
          <a:p>
            <a:pPr>
              <a:defRPr sz="1500" b="0">
                <a:solidFill>
                  <a:srgbClr val="546573"/>
                </a:solidFill>
                <a:latin typeface="Arial"/>
                <a:ea typeface="Arial"/>
                <a:cs typeface="Arial"/>
              </a:defRPr>
            </a:pPr>
            <a:r>
              <a:t>data/documentation.json / src/logging_store.py / evaluation/results/</a:t>
            </a:r>
          </a:p>
        </p:txBody>
      </p:sp>
      <p:sp>
        <p:nvSpPr>
          <p:cNvPr id="21" name="shape-20">
            <a:extLst>
              <a:ext uri="{FF2B5EF4-FFF2-40B4-BE49-F238E27FC236}">
                <a16:creationId xmlns:a16="http://schemas.microsoft.com/office/drawing/2014/main" id="{9FD69D71-A7F9-41EA-A3FE-803281E981CF}"/>
              </a:ext>
            </a:extLst>
          </p:cNvPr>
          <p:cNvSpPr>
            <a:spLocks noGrp="1"/>
          </p:cNvSpPr>
          <p:nvPr/>
        </p:nvSpPr>
        <p:spPr>
          <a:xfrm>
            <a:off x="2943225" y="4876800"/>
            <a:ext cx="8582025" cy="9525"/>
          </a:xfrm>
          <a:prstGeom prst="rect">
            <a:avLst/>
          </a:prstGeom>
          <a:solidFill>
            <a:srgbClr val="CDD3D2"/>
          </a:solidFill>
        </p:spPr>
      </p:sp>
      <p:sp>
        <p:nvSpPr>
          <p:cNvPr id="22" name="shape-21">
            <a:extLst>
              <a:ext uri="{FF2B5EF4-FFF2-40B4-BE49-F238E27FC236}">
                <a16:creationId xmlns:a16="http://schemas.microsoft.com/office/drawing/2014/main" id="{DE8B77E7-310B-489C-A320-64CE3FDAEF3A}"/>
              </a:ext>
            </a:extLst>
          </p:cNvPr>
          <p:cNvSpPr>
            <a:spLocks noGrp="1"/>
          </p:cNvSpPr>
          <p:nvPr/>
        </p:nvSpPr>
        <p:spPr>
          <a:xfrm>
            <a:off x="609600" y="4953000"/>
            <a:ext cx="2047875" cy="838200"/>
          </a:xfrm>
          <a:prstGeom prst="rect">
            <a:avLst/>
          </a:prstGeom>
          <a:solidFill>
            <a:srgbClr val="173047"/>
          </a:solidFill>
        </p:spPr>
      </p:sp>
      <p:sp>
        <p:nvSpPr>
          <p:cNvPr id="23" name="text-22">
            <a:extLst>
              <a:ext uri="{FF2B5EF4-FFF2-40B4-BE49-F238E27FC236}">
                <a16:creationId xmlns:a16="http://schemas.microsoft.com/office/drawing/2014/main" id="{7C35518F-4C34-4D57-97B0-976C1EF6D035}"/>
              </a:ext>
            </a:extLst>
          </p:cNvPr>
          <p:cNvSpPr>
            <a:spLocks noGrp="1"/>
          </p:cNvSpPr>
          <p:nvPr/>
        </p:nvSpPr>
        <p:spPr>
          <a:xfrm>
            <a:off x="762000" y="5219700"/>
            <a:ext cx="1743075" cy="361950"/>
          </a:xfrm>
          <a:prstGeom prst="rect">
            <a:avLst/>
          </a:prstGeom>
        </p:spPr>
        <p:txBody>
          <a:bodyPr wrap="square" lIns="0" tIns="0" rIns="0" bIns="0" anchor="t"/>
          <a:lstStyle/>
          <a:p>
            <a:pPr>
              <a:defRPr sz="1275" b="1">
                <a:solidFill>
                  <a:srgbClr val="FFFFFF"/>
                </a:solidFill>
                <a:latin typeface="Arial"/>
                <a:ea typeface="Arial"/>
                <a:cs typeface="Arial"/>
              </a:defRPr>
            </a:pPr>
            <a:r>
              <a:t>DELIVERY</a:t>
            </a:r>
          </a:p>
        </p:txBody>
      </p:sp>
      <p:sp>
        <p:nvSpPr>
          <p:cNvPr id="24" name="text-23">
            <a:extLst>
              <a:ext uri="{FF2B5EF4-FFF2-40B4-BE49-F238E27FC236}">
                <a16:creationId xmlns:a16="http://schemas.microsoft.com/office/drawing/2014/main" id="{AAF3E4BF-738F-44F7-A4BE-52604A03CB0D}"/>
              </a:ext>
            </a:extLst>
          </p:cNvPr>
          <p:cNvSpPr>
            <a:spLocks noGrp="1"/>
          </p:cNvSpPr>
          <p:nvPr/>
        </p:nvSpPr>
        <p:spPr>
          <a:xfrm>
            <a:off x="2943225" y="5029200"/>
            <a:ext cx="8572500" cy="342900"/>
          </a:xfrm>
          <a:prstGeom prst="rect">
            <a:avLst/>
          </a:prstGeom>
        </p:spPr>
        <p:txBody>
          <a:bodyPr wrap="square" lIns="0" tIns="0" rIns="0" bIns="0" anchor="t"/>
          <a:lstStyle/>
          <a:p>
            <a:pPr>
              <a:defRPr sz="1800" b="0">
                <a:solidFill>
                  <a:srgbClr val="173047"/>
                </a:solidFill>
                <a:latin typeface="Arial"/>
                <a:ea typeface="Arial"/>
                <a:cs typeface="Arial"/>
              </a:defRPr>
            </a:pPr>
            <a:r>
              <a:t>Pinned environment · tests · README · report · architecture HTML</a:t>
            </a:r>
          </a:p>
        </p:txBody>
      </p:sp>
      <p:sp>
        <p:nvSpPr>
          <p:cNvPr id="25" name="text-24">
            <a:extLst>
              <a:ext uri="{FF2B5EF4-FFF2-40B4-BE49-F238E27FC236}">
                <a16:creationId xmlns:a16="http://schemas.microsoft.com/office/drawing/2014/main" id="{9C4EAB65-408D-4411-A32F-8315F5E11502}"/>
              </a:ext>
            </a:extLst>
          </p:cNvPr>
          <p:cNvSpPr>
            <a:spLocks noGrp="1"/>
          </p:cNvSpPr>
          <p:nvPr/>
        </p:nvSpPr>
        <p:spPr>
          <a:xfrm>
            <a:off x="2943225" y="5419725"/>
            <a:ext cx="8572500" cy="333375"/>
          </a:xfrm>
          <a:prstGeom prst="rect">
            <a:avLst/>
          </a:prstGeom>
        </p:spPr>
        <p:txBody>
          <a:bodyPr wrap="square" lIns="0" tIns="0" rIns="0" bIns="0" anchor="t"/>
          <a:lstStyle/>
          <a:p>
            <a:pPr>
              <a:defRPr sz="1500" b="0">
                <a:solidFill>
                  <a:srgbClr val="546573"/>
                </a:solidFill>
                <a:latin typeface="Arial"/>
                <a:ea typeface="Arial"/>
                <a:cs typeface="Arial"/>
              </a:defRPr>
            </a:pPr>
            <a:r>
              <a:t>Make the project reproducible, inspectable and explainable.</a:t>
            </a:r>
          </a:p>
        </p:txBody>
      </p:sp>
      <p:sp>
        <p:nvSpPr>
          <p:cNvPr id="26" name="shape-25">
            <a:extLst>
              <a:ext uri="{FF2B5EF4-FFF2-40B4-BE49-F238E27FC236}">
                <a16:creationId xmlns:a16="http://schemas.microsoft.com/office/drawing/2014/main" id="{C8BCD3AD-C4A1-43C1-A4BC-531EB39D87F4}"/>
              </a:ext>
            </a:extLst>
          </p:cNvPr>
          <p:cNvSpPr>
            <a:spLocks noGrp="1"/>
          </p:cNvSpPr>
          <p:nvPr/>
        </p:nvSpPr>
        <p:spPr>
          <a:xfrm>
            <a:off x="2943225" y="5857875"/>
            <a:ext cx="8582025" cy="9525"/>
          </a:xfrm>
          <a:prstGeom prst="rect">
            <a:avLst/>
          </a:prstGeom>
          <a:solidFill>
            <a:srgbClr val="CDD3D2"/>
          </a:solidFill>
        </p:spPr>
      </p:sp>
    </p:spTree>
    <p:extLst>
      <p:ext uri="{BB962C8B-B14F-4D97-AF65-F5344CB8AC3E}">
        <p14:creationId xmlns:p14="http://schemas.microsoft.com/office/powerpoint/2010/main" val="29857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4" name="kicker-marker">
            <a:extLst>
              <a:ext uri="{FF2B5EF4-FFF2-40B4-BE49-F238E27FC236}">
                <a16:creationId xmlns:a16="http://schemas.microsoft.com/office/drawing/2014/main" id="{D7940BC1-4110-4A36-BC85-3C9F16946DF1}"/>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7128E86E-97B5-4413-9500-93707D13305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ROUTING &amp; SAFETY</a:t>
            </a:r>
          </a:p>
        </p:txBody>
      </p:sp>
      <p:sp>
        <p:nvSpPr>
          <p:cNvPr id="3" name="text-2">
            <a:extLst>
              <a:ext uri="{FF2B5EF4-FFF2-40B4-BE49-F238E27FC236}">
                <a16:creationId xmlns:a16="http://schemas.microsoft.com/office/drawing/2014/main" id="{5735E28B-B4BE-466E-B435-71AD4ED8E0C8}"/>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Policy and evidence determine</a:t>
            </a:r>
          </a:p>
          <a:p>
            <a:pPr>
              <a:defRPr sz="3150" b="0">
                <a:solidFill>
                  <a:srgbClr val="173047"/>
                </a:solidFill>
                <a:latin typeface="Georgia"/>
                <a:ea typeface="Georgia"/>
                <a:cs typeface="Georgia"/>
              </a:defRPr>
            </a:pPr>
            <a:r>
              <a:t>the route before a draft is released</a:t>
            </a:r>
          </a:p>
        </p:txBody>
      </p:sp>
      <p:sp>
        <p:nvSpPr>
          <p:cNvPr id="4" name="shape-3">
            <a:extLst>
              <a:ext uri="{FF2B5EF4-FFF2-40B4-BE49-F238E27FC236}">
                <a16:creationId xmlns:a16="http://schemas.microsoft.com/office/drawing/2014/main" id="{1B377036-1B6D-461A-8F62-F706C87DCC14}"/>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D2453071-DD77-4E12-846F-322CCF4790D2}"/>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Current routing and guardrail implementation; grounding review disabled</a:t>
            </a:r>
          </a:p>
        </p:txBody>
      </p:sp>
      <p:sp>
        <p:nvSpPr>
          <p:cNvPr id="6" name="text-5">
            <a:extLst>
              <a:ext uri="{FF2B5EF4-FFF2-40B4-BE49-F238E27FC236}">
                <a16:creationId xmlns:a16="http://schemas.microsoft.com/office/drawing/2014/main" id="{BA16D753-A58D-453D-8719-D122573B76A7}"/>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15</a:t>
            </a:r>
          </a:p>
        </p:txBody>
      </p:sp>
      <p:sp>
        <p:nvSpPr>
          <p:cNvPr id="7" name="text-6">
            <a:extLst>
              <a:ext uri="{FF2B5EF4-FFF2-40B4-BE49-F238E27FC236}">
                <a16:creationId xmlns:a16="http://schemas.microsoft.com/office/drawing/2014/main" id="{7F50044B-4644-419D-AC73-C41293D64462}"/>
              </a:ext>
            </a:extLst>
          </p:cNvPr>
          <p:cNvSpPr>
            <a:spLocks noGrp="1"/>
          </p:cNvSpPr>
          <p:nvPr/>
        </p:nvSpPr>
        <p:spPr>
          <a:xfrm>
            <a:off x="609600" y="2009775"/>
            <a:ext cx="571500" cy="619125"/>
          </a:xfrm>
          <a:prstGeom prst="rect">
            <a:avLst/>
          </a:prstGeom>
        </p:spPr>
        <p:txBody>
          <a:bodyPr wrap="square" lIns="0" tIns="0" rIns="0" bIns="0" anchor="t"/>
          <a:lstStyle/>
          <a:p>
            <a:pPr>
              <a:defRPr sz="3300" b="0">
                <a:solidFill>
                  <a:srgbClr val="B87522"/>
                </a:solidFill>
                <a:latin typeface="Georgia"/>
                <a:ea typeface="Georgia"/>
                <a:cs typeface="Georgia"/>
              </a:defRPr>
            </a:pPr>
            <a:r>
              <a:t>1</a:t>
            </a:r>
          </a:p>
        </p:txBody>
      </p:sp>
      <p:sp>
        <p:nvSpPr>
          <p:cNvPr id="8" name="text-7">
            <a:extLst>
              <a:ext uri="{FF2B5EF4-FFF2-40B4-BE49-F238E27FC236}">
                <a16:creationId xmlns:a16="http://schemas.microsoft.com/office/drawing/2014/main" id="{4F21235F-6DD6-4DD4-A682-F3DB6F2103A8}"/>
              </a:ext>
            </a:extLst>
          </p:cNvPr>
          <p:cNvSpPr>
            <a:spLocks noGrp="1"/>
          </p:cNvSpPr>
          <p:nvPr/>
        </p:nvSpPr>
        <p:spPr>
          <a:xfrm>
            <a:off x="1466850" y="2057400"/>
            <a:ext cx="2876550" cy="523875"/>
          </a:xfrm>
          <a:prstGeom prst="rect">
            <a:avLst/>
          </a:prstGeom>
        </p:spPr>
        <p:txBody>
          <a:bodyPr wrap="square" lIns="0" tIns="0" rIns="0" bIns="0" anchor="t"/>
          <a:lstStyle/>
          <a:p>
            <a:pPr>
              <a:defRPr sz="1875" b="1">
                <a:solidFill>
                  <a:srgbClr val="173047"/>
                </a:solidFill>
                <a:latin typeface="Arial"/>
                <a:ea typeface="Arial"/>
                <a:cs typeface="Arial"/>
              </a:defRPr>
            </a:pPr>
            <a:r>
              <a:t>Stop or protect</a:t>
            </a:r>
          </a:p>
        </p:txBody>
      </p:sp>
      <p:sp>
        <p:nvSpPr>
          <p:cNvPr id="9" name="text-8">
            <a:extLst>
              <a:ext uri="{FF2B5EF4-FFF2-40B4-BE49-F238E27FC236}">
                <a16:creationId xmlns:a16="http://schemas.microsoft.com/office/drawing/2014/main" id="{A5344BB4-6732-41C5-9B0D-4635DEE76447}"/>
              </a:ext>
            </a:extLst>
          </p:cNvPr>
          <p:cNvSpPr>
            <a:spLocks noGrp="1"/>
          </p:cNvSpPr>
          <p:nvPr/>
        </p:nvSpPr>
        <p:spPr>
          <a:xfrm>
            <a:off x="4505325" y="2028825"/>
            <a:ext cx="7067550" cy="714375"/>
          </a:xfrm>
          <a:prstGeom prst="rect">
            <a:avLst/>
          </a:prstGeom>
        </p:spPr>
        <p:txBody>
          <a:bodyPr wrap="square" lIns="0" tIns="0" rIns="0" bIns="0" anchor="t"/>
          <a:lstStyle/>
          <a:p>
            <a:pPr>
              <a:defRPr sz="1650" b="0">
                <a:solidFill>
                  <a:srgbClr val="546573"/>
                </a:solidFill>
                <a:latin typeface="Arial"/>
                <a:ea typeface="Arial"/>
                <a:cs typeface="Arial"/>
              </a:defRPr>
            </a:pPr>
            <a:r>
              <a:t>Kill switch; sensitive content; excluded requests; priority policy.</a:t>
            </a:r>
          </a:p>
        </p:txBody>
      </p:sp>
      <p:sp>
        <p:nvSpPr>
          <p:cNvPr id="10" name="shape-9">
            <a:extLst>
              <a:ext uri="{FF2B5EF4-FFF2-40B4-BE49-F238E27FC236}">
                <a16:creationId xmlns:a16="http://schemas.microsoft.com/office/drawing/2014/main" id="{9118057D-D2A7-463A-ACEB-C5DA30E519D3}"/>
              </a:ext>
            </a:extLst>
          </p:cNvPr>
          <p:cNvSpPr>
            <a:spLocks noGrp="1"/>
          </p:cNvSpPr>
          <p:nvPr/>
        </p:nvSpPr>
        <p:spPr>
          <a:xfrm>
            <a:off x="1466850" y="2771775"/>
            <a:ext cx="10096500" cy="9525"/>
          </a:xfrm>
          <a:prstGeom prst="rect">
            <a:avLst/>
          </a:prstGeom>
          <a:solidFill>
            <a:srgbClr val="CDD3D2"/>
          </a:solidFill>
        </p:spPr>
      </p:sp>
      <p:sp>
        <p:nvSpPr>
          <p:cNvPr id="11" name="text-10">
            <a:extLst>
              <a:ext uri="{FF2B5EF4-FFF2-40B4-BE49-F238E27FC236}">
                <a16:creationId xmlns:a16="http://schemas.microsoft.com/office/drawing/2014/main" id="{4DE5671E-7273-4E17-85CB-BA1030867CB4}"/>
              </a:ext>
            </a:extLst>
          </p:cNvPr>
          <p:cNvSpPr>
            <a:spLocks noGrp="1"/>
          </p:cNvSpPr>
          <p:nvPr/>
        </p:nvSpPr>
        <p:spPr>
          <a:xfrm>
            <a:off x="609600" y="2886075"/>
            <a:ext cx="571500" cy="619125"/>
          </a:xfrm>
          <a:prstGeom prst="rect">
            <a:avLst/>
          </a:prstGeom>
        </p:spPr>
        <p:txBody>
          <a:bodyPr wrap="square" lIns="0" tIns="0" rIns="0" bIns="0" anchor="t"/>
          <a:lstStyle/>
          <a:p>
            <a:pPr>
              <a:defRPr sz="3300" b="0">
                <a:solidFill>
                  <a:srgbClr val="00766B"/>
                </a:solidFill>
                <a:latin typeface="Georgia"/>
                <a:ea typeface="Georgia"/>
                <a:cs typeface="Georgia"/>
              </a:defRPr>
            </a:pPr>
            <a:r>
              <a:t>2</a:t>
            </a:r>
          </a:p>
        </p:txBody>
      </p:sp>
      <p:sp>
        <p:nvSpPr>
          <p:cNvPr id="12" name="text-11">
            <a:extLst>
              <a:ext uri="{FF2B5EF4-FFF2-40B4-BE49-F238E27FC236}">
                <a16:creationId xmlns:a16="http://schemas.microsoft.com/office/drawing/2014/main" id="{172D9F79-AA60-4070-AB9C-E1E661EC4909}"/>
              </a:ext>
            </a:extLst>
          </p:cNvPr>
          <p:cNvSpPr>
            <a:spLocks noGrp="1"/>
          </p:cNvSpPr>
          <p:nvPr/>
        </p:nvSpPr>
        <p:spPr>
          <a:xfrm>
            <a:off x="1466850" y="2933700"/>
            <a:ext cx="2876550" cy="523875"/>
          </a:xfrm>
          <a:prstGeom prst="rect">
            <a:avLst/>
          </a:prstGeom>
        </p:spPr>
        <p:txBody>
          <a:bodyPr wrap="square" lIns="0" tIns="0" rIns="0" bIns="0" anchor="t"/>
          <a:lstStyle/>
          <a:p>
            <a:pPr>
              <a:defRPr sz="1875" b="1">
                <a:solidFill>
                  <a:srgbClr val="173047"/>
                </a:solidFill>
                <a:latin typeface="Arial"/>
                <a:ea typeface="Arial"/>
                <a:cs typeface="Arial"/>
              </a:defRPr>
            </a:pPr>
            <a:r>
              <a:t>Check eligibility</a:t>
            </a:r>
          </a:p>
        </p:txBody>
      </p:sp>
      <p:sp>
        <p:nvSpPr>
          <p:cNvPr id="13" name="text-12">
            <a:extLst>
              <a:ext uri="{FF2B5EF4-FFF2-40B4-BE49-F238E27FC236}">
                <a16:creationId xmlns:a16="http://schemas.microsoft.com/office/drawing/2014/main" id="{FC26A115-2D17-4744-B07D-19978E143D9E}"/>
              </a:ext>
            </a:extLst>
          </p:cNvPr>
          <p:cNvSpPr>
            <a:spLocks noGrp="1"/>
          </p:cNvSpPr>
          <p:nvPr/>
        </p:nvSpPr>
        <p:spPr>
          <a:xfrm>
            <a:off x="4505325" y="2905125"/>
            <a:ext cx="7067550" cy="714375"/>
          </a:xfrm>
          <a:prstGeom prst="rect">
            <a:avLst/>
          </a:prstGeom>
        </p:spPr>
        <p:txBody>
          <a:bodyPr wrap="square" lIns="0" tIns="0" rIns="0" bIns="0" anchor="t"/>
          <a:lstStyle/>
          <a:p>
            <a:pPr>
              <a:defRPr sz="1650" b="0">
                <a:solidFill>
                  <a:srgbClr val="546573"/>
                </a:solidFill>
                <a:latin typeface="Arial"/>
                <a:ea typeface="Arial"/>
                <a:cs typeface="Arial"/>
              </a:defRPr>
            </a:pPr>
            <a:r>
              <a:t>Unclear intent, classifier confidence below 0.80, or no retrieved evidence → escalate.</a:t>
            </a:r>
          </a:p>
        </p:txBody>
      </p:sp>
      <p:sp>
        <p:nvSpPr>
          <p:cNvPr id="14" name="shape-13">
            <a:extLst>
              <a:ext uri="{FF2B5EF4-FFF2-40B4-BE49-F238E27FC236}">
                <a16:creationId xmlns:a16="http://schemas.microsoft.com/office/drawing/2014/main" id="{5F4B0536-4206-48B7-A431-252B6F0757D9}"/>
              </a:ext>
            </a:extLst>
          </p:cNvPr>
          <p:cNvSpPr>
            <a:spLocks noGrp="1"/>
          </p:cNvSpPr>
          <p:nvPr/>
        </p:nvSpPr>
        <p:spPr>
          <a:xfrm>
            <a:off x="1466850" y="3648075"/>
            <a:ext cx="10096500" cy="9525"/>
          </a:xfrm>
          <a:prstGeom prst="rect">
            <a:avLst/>
          </a:prstGeom>
          <a:solidFill>
            <a:srgbClr val="CDD3D2"/>
          </a:solidFill>
        </p:spPr>
      </p:sp>
      <p:sp>
        <p:nvSpPr>
          <p:cNvPr id="15" name="text-14">
            <a:extLst>
              <a:ext uri="{FF2B5EF4-FFF2-40B4-BE49-F238E27FC236}">
                <a16:creationId xmlns:a16="http://schemas.microsoft.com/office/drawing/2014/main" id="{26386289-9348-4C66-BEB2-358AD5FB99E4}"/>
              </a:ext>
            </a:extLst>
          </p:cNvPr>
          <p:cNvSpPr>
            <a:spLocks noGrp="1"/>
          </p:cNvSpPr>
          <p:nvPr/>
        </p:nvSpPr>
        <p:spPr>
          <a:xfrm>
            <a:off x="609600" y="3762375"/>
            <a:ext cx="571500" cy="619125"/>
          </a:xfrm>
          <a:prstGeom prst="rect">
            <a:avLst/>
          </a:prstGeom>
        </p:spPr>
        <p:txBody>
          <a:bodyPr wrap="square" lIns="0" tIns="0" rIns="0" bIns="0" anchor="t"/>
          <a:lstStyle/>
          <a:p>
            <a:pPr>
              <a:defRPr sz="3300" b="0">
                <a:solidFill>
                  <a:srgbClr val="00766B"/>
                </a:solidFill>
                <a:latin typeface="Georgia"/>
                <a:ea typeface="Georgia"/>
                <a:cs typeface="Georgia"/>
              </a:defRPr>
            </a:pPr>
            <a:r>
              <a:t>3</a:t>
            </a:r>
          </a:p>
        </p:txBody>
      </p:sp>
      <p:sp>
        <p:nvSpPr>
          <p:cNvPr id="16" name="text-15">
            <a:extLst>
              <a:ext uri="{FF2B5EF4-FFF2-40B4-BE49-F238E27FC236}">
                <a16:creationId xmlns:a16="http://schemas.microsoft.com/office/drawing/2014/main" id="{FCFF8628-12A1-4C85-BF28-155F3FCB7F47}"/>
              </a:ext>
            </a:extLst>
          </p:cNvPr>
          <p:cNvSpPr>
            <a:spLocks noGrp="1"/>
          </p:cNvSpPr>
          <p:nvPr/>
        </p:nvSpPr>
        <p:spPr>
          <a:xfrm>
            <a:off x="1466850" y="3810000"/>
            <a:ext cx="2876550" cy="523875"/>
          </a:xfrm>
          <a:prstGeom prst="rect">
            <a:avLst/>
          </a:prstGeom>
        </p:spPr>
        <p:txBody>
          <a:bodyPr wrap="square" lIns="0" tIns="0" rIns="0" bIns="0" anchor="t"/>
          <a:lstStyle/>
          <a:p>
            <a:pPr>
              <a:defRPr sz="1875" b="1">
                <a:solidFill>
                  <a:srgbClr val="173047"/>
                </a:solidFill>
                <a:latin typeface="Arial"/>
                <a:ea typeface="Arial"/>
                <a:cs typeface="Arial"/>
              </a:defRPr>
            </a:pPr>
            <a:r>
              <a:t>Create and inspect</a:t>
            </a:r>
          </a:p>
        </p:txBody>
      </p:sp>
      <p:sp>
        <p:nvSpPr>
          <p:cNvPr id="17" name="text-16">
            <a:extLst>
              <a:ext uri="{FF2B5EF4-FFF2-40B4-BE49-F238E27FC236}">
                <a16:creationId xmlns:a16="http://schemas.microsoft.com/office/drawing/2014/main" id="{F2F5F6A5-72A0-48B7-8C1A-C071E751A305}"/>
              </a:ext>
            </a:extLst>
          </p:cNvPr>
          <p:cNvSpPr>
            <a:spLocks noGrp="1"/>
          </p:cNvSpPr>
          <p:nvPr/>
        </p:nvSpPr>
        <p:spPr>
          <a:xfrm>
            <a:off x="4505325" y="3781425"/>
            <a:ext cx="7067550" cy="714375"/>
          </a:xfrm>
          <a:prstGeom prst="rect">
            <a:avLst/>
          </a:prstGeom>
        </p:spPr>
        <p:txBody>
          <a:bodyPr wrap="square" lIns="0" tIns="0" rIns="0" bIns="0" anchor="t"/>
          <a:lstStyle/>
          <a:p>
            <a:pPr>
              <a:defRPr sz="1650" b="0">
                <a:solidFill>
                  <a:srgbClr val="546573"/>
                </a:solidFill>
                <a:latin typeface="Arial"/>
                <a:ea typeface="Arial"/>
                <a:cs typeface="Arial"/>
              </a:defRPr>
            </a:pPr>
            <a:r>
              <a:t>Generate a sourced draft; check citations, sensitive patterns, commitments and completeness.</a:t>
            </a:r>
          </a:p>
        </p:txBody>
      </p:sp>
      <p:sp>
        <p:nvSpPr>
          <p:cNvPr id="18" name="shape-17">
            <a:extLst>
              <a:ext uri="{FF2B5EF4-FFF2-40B4-BE49-F238E27FC236}">
                <a16:creationId xmlns:a16="http://schemas.microsoft.com/office/drawing/2014/main" id="{F09E6B35-56A6-4149-8022-16E3C768FC32}"/>
              </a:ext>
            </a:extLst>
          </p:cNvPr>
          <p:cNvSpPr>
            <a:spLocks noGrp="1"/>
          </p:cNvSpPr>
          <p:nvPr/>
        </p:nvSpPr>
        <p:spPr>
          <a:xfrm>
            <a:off x="1466850" y="4524375"/>
            <a:ext cx="10096500" cy="9525"/>
          </a:xfrm>
          <a:prstGeom prst="rect">
            <a:avLst/>
          </a:prstGeom>
          <a:solidFill>
            <a:srgbClr val="CDD3D2"/>
          </a:solidFill>
        </p:spPr>
      </p:sp>
      <p:sp>
        <p:nvSpPr>
          <p:cNvPr id="19" name="text-18">
            <a:extLst>
              <a:ext uri="{FF2B5EF4-FFF2-40B4-BE49-F238E27FC236}">
                <a16:creationId xmlns:a16="http://schemas.microsoft.com/office/drawing/2014/main" id="{77EC826B-0EFF-46D2-821D-D1DEC4318FD5}"/>
              </a:ext>
            </a:extLst>
          </p:cNvPr>
          <p:cNvSpPr>
            <a:spLocks noGrp="1"/>
          </p:cNvSpPr>
          <p:nvPr/>
        </p:nvSpPr>
        <p:spPr>
          <a:xfrm>
            <a:off x="609600" y="4638675"/>
            <a:ext cx="571500" cy="619125"/>
          </a:xfrm>
          <a:prstGeom prst="rect">
            <a:avLst/>
          </a:prstGeom>
        </p:spPr>
        <p:txBody>
          <a:bodyPr wrap="square" lIns="0" tIns="0" rIns="0" bIns="0" anchor="t"/>
          <a:lstStyle/>
          <a:p>
            <a:pPr>
              <a:defRPr sz="3300" b="0">
                <a:solidFill>
                  <a:srgbClr val="00766B"/>
                </a:solidFill>
                <a:latin typeface="Georgia"/>
                <a:ea typeface="Georgia"/>
                <a:cs typeface="Georgia"/>
              </a:defRPr>
            </a:pPr>
            <a:r>
              <a:t>4</a:t>
            </a:r>
          </a:p>
        </p:txBody>
      </p:sp>
      <p:sp>
        <p:nvSpPr>
          <p:cNvPr id="20" name="text-19">
            <a:extLst>
              <a:ext uri="{FF2B5EF4-FFF2-40B4-BE49-F238E27FC236}">
                <a16:creationId xmlns:a16="http://schemas.microsoft.com/office/drawing/2014/main" id="{7C8AD4AE-B38C-4B11-BAE1-B58552CC6D31}"/>
              </a:ext>
            </a:extLst>
          </p:cNvPr>
          <p:cNvSpPr>
            <a:spLocks noGrp="1"/>
          </p:cNvSpPr>
          <p:nvPr/>
        </p:nvSpPr>
        <p:spPr>
          <a:xfrm>
            <a:off x="1466850" y="4686300"/>
            <a:ext cx="2876550" cy="523875"/>
          </a:xfrm>
          <a:prstGeom prst="rect">
            <a:avLst/>
          </a:prstGeom>
        </p:spPr>
        <p:txBody>
          <a:bodyPr wrap="square" lIns="0" tIns="0" rIns="0" bIns="0" anchor="t"/>
          <a:lstStyle/>
          <a:p>
            <a:pPr>
              <a:defRPr sz="1875" b="1">
                <a:solidFill>
                  <a:srgbClr val="173047"/>
                </a:solidFill>
                <a:latin typeface="Arial"/>
                <a:ea typeface="Arial"/>
                <a:cs typeface="Arial"/>
              </a:defRPr>
            </a:pPr>
            <a:r>
              <a:t>Record the outcome</a:t>
            </a:r>
          </a:p>
        </p:txBody>
      </p:sp>
      <p:sp>
        <p:nvSpPr>
          <p:cNvPr id="21" name="text-20">
            <a:extLst>
              <a:ext uri="{FF2B5EF4-FFF2-40B4-BE49-F238E27FC236}">
                <a16:creationId xmlns:a16="http://schemas.microsoft.com/office/drawing/2014/main" id="{5CCB43DC-19A5-4B5C-9A1E-50DEB7452432}"/>
              </a:ext>
            </a:extLst>
          </p:cNvPr>
          <p:cNvSpPr>
            <a:spLocks noGrp="1"/>
          </p:cNvSpPr>
          <p:nvPr/>
        </p:nvSpPr>
        <p:spPr>
          <a:xfrm>
            <a:off x="4505325" y="4657725"/>
            <a:ext cx="7067550" cy="714375"/>
          </a:xfrm>
          <a:prstGeom prst="rect">
            <a:avLst/>
          </a:prstGeom>
        </p:spPr>
        <p:txBody>
          <a:bodyPr wrap="square" lIns="0" tIns="0" rIns="0" bIns="0" anchor="t"/>
          <a:lstStyle/>
          <a:p>
            <a:pPr>
              <a:defRPr sz="1650" b="0">
                <a:solidFill>
                  <a:srgbClr val="546573"/>
                </a:solidFill>
                <a:latin typeface="Arial"/>
                <a:ea typeface="Arial"/>
                <a:cs typeface="Arial"/>
              </a:defRPr>
            </a:pPr>
            <a:r>
              <a:t>Release an eligible draft or suppress it and create a handover; log either route.</a:t>
            </a:r>
          </a:p>
        </p:txBody>
      </p:sp>
      <p:sp>
        <p:nvSpPr>
          <p:cNvPr id="22" name="shape-21">
            <a:extLst>
              <a:ext uri="{FF2B5EF4-FFF2-40B4-BE49-F238E27FC236}">
                <a16:creationId xmlns:a16="http://schemas.microsoft.com/office/drawing/2014/main" id="{7B1E5BCE-75C7-4611-B774-0022FAB16053}"/>
              </a:ext>
            </a:extLst>
          </p:cNvPr>
          <p:cNvSpPr>
            <a:spLocks noGrp="1"/>
          </p:cNvSpPr>
          <p:nvPr/>
        </p:nvSpPr>
        <p:spPr>
          <a:xfrm>
            <a:off x="1466850" y="5400675"/>
            <a:ext cx="10096500" cy="9525"/>
          </a:xfrm>
          <a:prstGeom prst="rect">
            <a:avLst/>
          </a:prstGeom>
          <a:solidFill>
            <a:srgbClr val="CDD3D2"/>
          </a:solidFill>
        </p:spPr>
      </p:sp>
      <p:sp>
        <p:nvSpPr>
          <p:cNvPr id="23" name="text-22">
            <a:extLst>
              <a:ext uri="{FF2B5EF4-FFF2-40B4-BE49-F238E27FC236}">
                <a16:creationId xmlns:a16="http://schemas.microsoft.com/office/drawing/2014/main" id="{549611C5-2DF6-444A-8D23-9B2ACE3CDC61}"/>
              </a:ext>
            </a:extLst>
          </p:cNvPr>
          <p:cNvSpPr>
            <a:spLocks noGrp="1"/>
          </p:cNvSpPr>
          <p:nvPr/>
        </p:nvSpPr>
        <p:spPr>
          <a:xfrm>
            <a:off x="609600" y="5705475"/>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The kill switch currently changes routing after retrieval/classification; it is not an upstream provider shutdown.</a:t>
            </a:r>
          </a:p>
        </p:txBody>
      </p:sp>
    </p:spTree>
    <p:extLst>
      <p:ext uri="{BB962C8B-B14F-4D97-AF65-F5344CB8AC3E}">
        <p14:creationId xmlns:p14="http://schemas.microsoft.com/office/powerpoint/2010/main" val="77063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047"/>
        </a:solidFill>
        <a:effectLst/>
      </p:bgPr>
    </p:bg>
    <p:spTree>
      <p:nvGrpSpPr>
        <p:cNvPr id="1" name=""/>
        <p:cNvGrpSpPr/>
        <p:nvPr/>
      </p:nvGrpSpPr>
      <p:grpSpPr>
        <a:xfrm>
          <a:off x="0" y="0"/>
          <a:ext cx="0" cy="0"/>
          <a:chOff x="0" y="0"/>
          <a:chExt cx="0" cy="0"/>
        </a:xfrm>
      </p:grpSpPr>
      <p:sp>
        <p:nvSpPr>
          <p:cNvPr id="17" name="kicker-marker">
            <a:extLst>
              <a:ext uri="{FF2B5EF4-FFF2-40B4-BE49-F238E27FC236}">
                <a16:creationId xmlns:a16="http://schemas.microsoft.com/office/drawing/2014/main" id="{F4C6596C-5B4D-4FD6-814D-3C81E179E486}"/>
              </a:ext>
            </a:extLst>
          </p:cNvPr>
          <p:cNvSpPr>
            <a:spLocks noGrp="1"/>
          </p:cNvSpPr>
          <p:nvPr/>
        </p:nvSpPr>
        <p:spPr>
          <a:xfrm>
            <a:off x="609600" y="419100"/>
            <a:ext cx="76200" cy="76200"/>
          </a:xfrm>
          <a:prstGeom prst="rect">
            <a:avLst/>
          </a:prstGeom>
          <a:solidFill>
            <a:srgbClr val="D7E6E4"/>
          </a:solidFill>
        </p:spPr>
      </p:sp>
      <p:sp>
        <p:nvSpPr>
          <p:cNvPr id="2" name="kicker-label">
            <a:extLst>
              <a:ext uri="{FF2B5EF4-FFF2-40B4-BE49-F238E27FC236}">
                <a16:creationId xmlns:a16="http://schemas.microsoft.com/office/drawing/2014/main" id="{5BD9AF88-297C-4A8C-BEB6-2EABC8FC7BB2}"/>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D7E6E4"/>
                </a:solidFill>
                <a:latin typeface="Arial"/>
                <a:ea typeface="Arial"/>
                <a:cs typeface="Arial"/>
              </a:defRPr>
            </a:pPr>
            <a:r>
              <a:t>LIVE ARCHITECTURE WALKTHROUGH</a:t>
            </a:r>
          </a:p>
        </p:txBody>
      </p:sp>
      <p:sp>
        <p:nvSpPr>
          <p:cNvPr id="3" name="text-2">
            <a:extLst>
              <a:ext uri="{FF2B5EF4-FFF2-40B4-BE49-F238E27FC236}">
                <a16:creationId xmlns:a16="http://schemas.microsoft.com/office/drawing/2014/main" id="{5E200BDC-1034-4456-83A3-FF53AEEF1F33}"/>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FFFFFF"/>
                </a:solidFill>
                <a:latin typeface="Georgia"/>
                <a:ea typeface="Georgia"/>
                <a:cs typeface="Georgia"/>
              </a:defRPr>
            </a:pPr>
            <a:r>
              <a:t>Follow one ticket through</a:t>
            </a:r>
          </a:p>
          <a:p>
            <a:pPr>
              <a:defRPr sz="3150" b="0">
                <a:solidFill>
                  <a:srgbClr val="FFFFFF"/>
                </a:solidFill>
                <a:latin typeface="Georgia"/>
                <a:ea typeface="Georgia"/>
                <a:cs typeface="Georgia"/>
              </a:defRPr>
            </a:pPr>
            <a:r>
              <a:t>the architecture HTML</a:t>
            </a:r>
          </a:p>
        </p:txBody>
      </p:sp>
      <p:sp>
        <p:nvSpPr>
          <p:cNvPr id="4" name="shape-3">
            <a:extLst>
              <a:ext uri="{FF2B5EF4-FFF2-40B4-BE49-F238E27FC236}">
                <a16:creationId xmlns:a16="http://schemas.microsoft.com/office/drawing/2014/main" id="{1DED07EB-BE3A-4E03-AA21-62C9E8386FF7}"/>
              </a:ext>
            </a:extLst>
          </p:cNvPr>
          <p:cNvSpPr>
            <a:spLocks noGrp="1"/>
          </p:cNvSpPr>
          <p:nvPr/>
        </p:nvSpPr>
        <p:spPr>
          <a:xfrm>
            <a:off x="609600" y="6305550"/>
            <a:ext cx="10972800" cy="9525"/>
          </a:xfrm>
          <a:prstGeom prst="rect">
            <a:avLst/>
          </a:prstGeom>
          <a:solidFill>
            <a:srgbClr val="406071"/>
          </a:solidFill>
        </p:spPr>
      </p:sp>
      <p:sp>
        <p:nvSpPr>
          <p:cNvPr id="5" name="text-4">
            <a:extLst>
              <a:ext uri="{FF2B5EF4-FFF2-40B4-BE49-F238E27FC236}">
                <a16:creationId xmlns:a16="http://schemas.microsoft.com/office/drawing/2014/main" id="{5C34F397-67E4-44EE-A142-16DF1BB0D31D}"/>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D7E6E4"/>
                </a:solidFill>
                <a:latin typeface="Arial"/>
                <a:ea typeface="Arial"/>
                <a:cs typeface="Arial"/>
              </a:defRPr>
            </a:pPr>
            <a:r>
              <a:t>docs/architecture_diagram.html · existing standalone interactive diagram</a:t>
            </a:r>
          </a:p>
        </p:txBody>
      </p:sp>
      <p:sp>
        <p:nvSpPr>
          <p:cNvPr id="6" name="text-5">
            <a:extLst>
              <a:ext uri="{FF2B5EF4-FFF2-40B4-BE49-F238E27FC236}">
                <a16:creationId xmlns:a16="http://schemas.microsoft.com/office/drawing/2014/main" id="{33469628-3956-44F8-8F50-33A3AE5FB8F9}"/>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FFFFFF"/>
                </a:solidFill>
                <a:latin typeface="Arial"/>
                <a:ea typeface="Arial"/>
                <a:cs typeface="Arial"/>
              </a:defRPr>
            </a:pPr>
            <a:r>
              <a:t>16</a:t>
            </a:r>
          </a:p>
        </p:txBody>
      </p:sp>
      <p:sp>
        <p:nvSpPr>
          <p:cNvPr id="7" name="text-6">
            <a:extLst>
              <a:ext uri="{FF2B5EF4-FFF2-40B4-BE49-F238E27FC236}">
                <a16:creationId xmlns:a16="http://schemas.microsoft.com/office/drawing/2014/main" id="{F38329D1-25DB-4C97-9374-8FB18106780F}"/>
              </a:ext>
            </a:extLst>
          </p:cNvPr>
          <p:cNvSpPr>
            <a:spLocks noGrp="1"/>
          </p:cNvSpPr>
          <p:nvPr/>
        </p:nvSpPr>
        <p:spPr>
          <a:xfrm>
            <a:off x="609600" y="2171700"/>
            <a:ext cx="10953750" cy="581025"/>
          </a:xfrm>
          <a:prstGeom prst="rect">
            <a:avLst/>
          </a:prstGeom>
        </p:spPr>
        <p:txBody>
          <a:bodyPr wrap="square" lIns="0" tIns="0" rIns="0" bIns="0" anchor="t"/>
          <a:lstStyle/>
          <a:p>
            <a:pPr>
              <a:defRPr sz="2475" b="0">
                <a:solidFill>
                  <a:srgbClr val="E7BD80"/>
                </a:solidFill>
                <a:latin typeface="Consolas"/>
                <a:ea typeface="Consolas"/>
                <a:cs typeface="Consolas"/>
              </a:defRPr>
            </a:pPr>
            <a:r>
              <a:t>docs/architecture_diagram.html</a:t>
            </a:r>
          </a:p>
        </p:txBody>
      </p:sp>
      <p:sp>
        <p:nvSpPr>
          <p:cNvPr id="8" name="text-7">
            <a:extLst>
              <a:ext uri="{FF2B5EF4-FFF2-40B4-BE49-F238E27FC236}">
                <a16:creationId xmlns:a16="http://schemas.microsoft.com/office/drawing/2014/main" id="{8487CA50-A468-49EA-BDFB-C4AB693E9239}"/>
              </a:ext>
            </a:extLst>
          </p:cNvPr>
          <p:cNvSpPr>
            <a:spLocks noGrp="1"/>
          </p:cNvSpPr>
          <p:nvPr/>
        </p:nvSpPr>
        <p:spPr>
          <a:xfrm>
            <a:off x="609600" y="3152775"/>
            <a:ext cx="695325" cy="600075"/>
          </a:xfrm>
          <a:prstGeom prst="rect">
            <a:avLst/>
          </a:prstGeom>
        </p:spPr>
        <p:txBody>
          <a:bodyPr wrap="square" lIns="0" tIns="0" rIns="0" bIns="0" anchor="t"/>
          <a:lstStyle/>
          <a:p>
            <a:pPr>
              <a:defRPr sz="2700" b="0">
                <a:solidFill>
                  <a:srgbClr val="E7BD80"/>
                </a:solidFill>
                <a:latin typeface="Georgia"/>
                <a:ea typeface="Georgia"/>
                <a:cs typeface="Georgia"/>
              </a:defRPr>
            </a:pPr>
            <a:r>
              <a:t>01</a:t>
            </a:r>
          </a:p>
        </p:txBody>
      </p:sp>
      <p:sp>
        <p:nvSpPr>
          <p:cNvPr id="9" name="text-8">
            <a:extLst>
              <a:ext uri="{FF2B5EF4-FFF2-40B4-BE49-F238E27FC236}">
                <a16:creationId xmlns:a16="http://schemas.microsoft.com/office/drawing/2014/main" id="{91536C0A-EF16-4E33-8082-6AC71C17197A}"/>
              </a:ext>
            </a:extLst>
          </p:cNvPr>
          <p:cNvSpPr>
            <a:spLocks noGrp="1"/>
          </p:cNvSpPr>
          <p:nvPr/>
        </p:nvSpPr>
        <p:spPr>
          <a:xfrm>
            <a:off x="1562100" y="3171825"/>
            <a:ext cx="2466975" cy="438150"/>
          </a:xfrm>
          <a:prstGeom prst="rect">
            <a:avLst/>
          </a:prstGeom>
        </p:spPr>
        <p:txBody>
          <a:bodyPr wrap="square" lIns="0" tIns="0" rIns="0" bIns="0" anchor="t"/>
          <a:lstStyle/>
          <a:p>
            <a:pPr>
              <a:defRPr sz="2250" b="0">
                <a:solidFill>
                  <a:srgbClr val="FFFFFF"/>
                </a:solidFill>
                <a:latin typeface="Georgia"/>
                <a:ea typeface="Georgia"/>
                <a:cs typeface="Georgia"/>
              </a:defRPr>
            </a:pPr>
            <a:r>
              <a:t>Workflow</a:t>
            </a:r>
          </a:p>
        </p:txBody>
      </p:sp>
      <p:sp>
        <p:nvSpPr>
          <p:cNvPr id="10" name="text-9">
            <a:extLst>
              <a:ext uri="{FF2B5EF4-FFF2-40B4-BE49-F238E27FC236}">
                <a16:creationId xmlns:a16="http://schemas.microsoft.com/office/drawing/2014/main" id="{4869AFA8-3E5A-426D-AC95-F9EF9EDF46E7}"/>
              </a:ext>
            </a:extLst>
          </p:cNvPr>
          <p:cNvSpPr>
            <a:spLocks noGrp="1"/>
          </p:cNvSpPr>
          <p:nvPr/>
        </p:nvSpPr>
        <p:spPr>
          <a:xfrm>
            <a:off x="4324350" y="3219450"/>
            <a:ext cx="6991350" cy="609600"/>
          </a:xfrm>
          <a:prstGeom prst="rect">
            <a:avLst/>
          </a:prstGeom>
        </p:spPr>
        <p:txBody>
          <a:bodyPr wrap="square" lIns="0" tIns="0" rIns="0" bIns="0" anchor="t"/>
          <a:lstStyle/>
          <a:p>
            <a:pPr>
              <a:defRPr sz="1875" b="0">
                <a:solidFill>
                  <a:srgbClr val="D7E6E4"/>
                </a:solidFill>
                <a:latin typeface="Arial"/>
                <a:ea typeface="Arial"/>
                <a:cs typeface="Arial"/>
              </a:defRPr>
            </a:pPr>
            <a:r>
              <a:t>Show auto-response and escalation branches.</a:t>
            </a:r>
          </a:p>
        </p:txBody>
      </p:sp>
      <p:sp>
        <p:nvSpPr>
          <p:cNvPr id="11" name="text-10">
            <a:extLst>
              <a:ext uri="{FF2B5EF4-FFF2-40B4-BE49-F238E27FC236}">
                <a16:creationId xmlns:a16="http://schemas.microsoft.com/office/drawing/2014/main" id="{F5D2291F-5B23-4C92-819B-B7E23D6B3A3D}"/>
              </a:ext>
            </a:extLst>
          </p:cNvPr>
          <p:cNvSpPr>
            <a:spLocks noGrp="1"/>
          </p:cNvSpPr>
          <p:nvPr/>
        </p:nvSpPr>
        <p:spPr>
          <a:xfrm>
            <a:off x="609600" y="4057650"/>
            <a:ext cx="695325" cy="600075"/>
          </a:xfrm>
          <a:prstGeom prst="rect">
            <a:avLst/>
          </a:prstGeom>
        </p:spPr>
        <p:txBody>
          <a:bodyPr wrap="square" lIns="0" tIns="0" rIns="0" bIns="0" anchor="t"/>
          <a:lstStyle/>
          <a:p>
            <a:pPr>
              <a:defRPr sz="2700" b="0">
                <a:solidFill>
                  <a:srgbClr val="E7BD80"/>
                </a:solidFill>
                <a:latin typeface="Georgia"/>
                <a:ea typeface="Georgia"/>
                <a:cs typeface="Georgia"/>
              </a:defRPr>
            </a:pPr>
            <a:r>
              <a:t>02</a:t>
            </a:r>
          </a:p>
        </p:txBody>
      </p:sp>
      <p:sp>
        <p:nvSpPr>
          <p:cNvPr id="12" name="text-11">
            <a:extLst>
              <a:ext uri="{FF2B5EF4-FFF2-40B4-BE49-F238E27FC236}">
                <a16:creationId xmlns:a16="http://schemas.microsoft.com/office/drawing/2014/main" id="{88BA7746-BFDC-45D6-8461-3C93DFFA877C}"/>
              </a:ext>
            </a:extLst>
          </p:cNvPr>
          <p:cNvSpPr>
            <a:spLocks noGrp="1"/>
          </p:cNvSpPr>
          <p:nvPr/>
        </p:nvSpPr>
        <p:spPr>
          <a:xfrm>
            <a:off x="1562100" y="4076700"/>
            <a:ext cx="2466975" cy="438150"/>
          </a:xfrm>
          <a:prstGeom prst="rect">
            <a:avLst/>
          </a:prstGeom>
        </p:spPr>
        <p:txBody>
          <a:bodyPr wrap="square" lIns="0" tIns="0" rIns="0" bIns="0" anchor="t"/>
          <a:lstStyle/>
          <a:p>
            <a:pPr>
              <a:defRPr sz="2250" b="0">
                <a:solidFill>
                  <a:srgbClr val="FFFFFF"/>
                </a:solidFill>
                <a:latin typeface="Georgia"/>
                <a:ea typeface="Georgia"/>
                <a:cs typeface="Georgia"/>
              </a:defRPr>
            </a:pPr>
            <a:r>
              <a:t>Data</a:t>
            </a:r>
          </a:p>
        </p:txBody>
      </p:sp>
      <p:sp>
        <p:nvSpPr>
          <p:cNvPr id="13" name="text-12">
            <a:extLst>
              <a:ext uri="{FF2B5EF4-FFF2-40B4-BE49-F238E27FC236}">
                <a16:creationId xmlns:a16="http://schemas.microsoft.com/office/drawing/2014/main" id="{94B7C281-0939-44A9-AC7E-1FEA53D068F0}"/>
              </a:ext>
            </a:extLst>
          </p:cNvPr>
          <p:cNvSpPr>
            <a:spLocks noGrp="1"/>
          </p:cNvSpPr>
          <p:nvPr/>
        </p:nvSpPr>
        <p:spPr>
          <a:xfrm>
            <a:off x="4324350" y="4124325"/>
            <a:ext cx="6991350" cy="609600"/>
          </a:xfrm>
          <a:prstGeom prst="rect">
            <a:avLst/>
          </a:prstGeom>
        </p:spPr>
        <p:txBody>
          <a:bodyPr wrap="square" lIns="0" tIns="0" rIns="0" bIns="0" anchor="t"/>
          <a:lstStyle/>
          <a:p>
            <a:pPr>
              <a:defRPr sz="1875" b="0">
                <a:solidFill>
                  <a:srgbClr val="D7E6E4"/>
                </a:solidFill>
                <a:latin typeface="Arial"/>
                <a:ea typeface="Arial"/>
                <a:cs typeface="Arial"/>
              </a:defRPr>
            </a:pPr>
            <a:r>
              <a:t>Show KB retrieval, model boundary and audit storage.</a:t>
            </a:r>
          </a:p>
        </p:txBody>
      </p:sp>
      <p:sp>
        <p:nvSpPr>
          <p:cNvPr id="14" name="text-13">
            <a:extLst>
              <a:ext uri="{FF2B5EF4-FFF2-40B4-BE49-F238E27FC236}">
                <a16:creationId xmlns:a16="http://schemas.microsoft.com/office/drawing/2014/main" id="{86277265-4C92-48FC-B64E-100C0B800968}"/>
              </a:ext>
            </a:extLst>
          </p:cNvPr>
          <p:cNvSpPr>
            <a:spLocks noGrp="1"/>
          </p:cNvSpPr>
          <p:nvPr/>
        </p:nvSpPr>
        <p:spPr>
          <a:xfrm>
            <a:off x="609600" y="4962525"/>
            <a:ext cx="695325" cy="600075"/>
          </a:xfrm>
          <a:prstGeom prst="rect">
            <a:avLst/>
          </a:prstGeom>
        </p:spPr>
        <p:txBody>
          <a:bodyPr wrap="square" lIns="0" tIns="0" rIns="0" bIns="0" anchor="t"/>
          <a:lstStyle/>
          <a:p>
            <a:pPr>
              <a:defRPr sz="2700" b="0">
                <a:solidFill>
                  <a:srgbClr val="E7BD80"/>
                </a:solidFill>
                <a:latin typeface="Georgia"/>
                <a:ea typeface="Georgia"/>
                <a:cs typeface="Georgia"/>
              </a:defRPr>
            </a:pPr>
            <a:r>
              <a:t>03</a:t>
            </a:r>
          </a:p>
        </p:txBody>
      </p:sp>
      <p:sp>
        <p:nvSpPr>
          <p:cNvPr id="15" name="text-14">
            <a:extLst>
              <a:ext uri="{FF2B5EF4-FFF2-40B4-BE49-F238E27FC236}">
                <a16:creationId xmlns:a16="http://schemas.microsoft.com/office/drawing/2014/main" id="{A65FF8A1-31F6-420F-95DC-989360074059}"/>
              </a:ext>
            </a:extLst>
          </p:cNvPr>
          <p:cNvSpPr>
            <a:spLocks noGrp="1"/>
          </p:cNvSpPr>
          <p:nvPr/>
        </p:nvSpPr>
        <p:spPr>
          <a:xfrm>
            <a:off x="1562100" y="4981575"/>
            <a:ext cx="2466975" cy="438150"/>
          </a:xfrm>
          <a:prstGeom prst="rect">
            <a:avLst/>
          </a:prstGeom>
        </p:spPr>
        <p:txBody>
          <a:bodyPr wrap="square" lIns="0" tIns="0" rIns="0" bIns="0" anchor="t"/>
          <a:lstStyle/>
          <a:p>
            <a:pPr>
              <a:defRPr sz="2250" b="0">
                <a:solidFill>
                  <a:srgbClr val="FFFFFF"/>
                </a:solidFill>
                <a:latin typeface="Georgia"/>
                <a:ea typeface="Georgia"/>
                <a:cs typeface="Georgia"/>
              </a:defRPr>
            </a:pPr>
            <a:r>
              <a:t>Evidence</a:t>
            </a:r>
          </a:p>
        </p:txBody>
      </p:sp>
      <p:sp>
        <p:nvSpPr>
          <p:cNvPr id="16" name="text-15">
            <a:extLst>
              <a:ext uri="{FF2B5EF4-FFF2-40B4-BE49-F238E27FC236}">
                <a16:creationId xmlns:a16="http://schemas.microsoft.com/office/drawing/2014/main" id="{B25D1278-C248-48A3-8D7B-DE0C3968289F}"/>
              </a:ext>
            </a:extLst>
          </p:cNvPr>
          <p:cNvSpPr>
            <a:spLocks noGrp="1"/>
          </p:cNvSpPr>
          <p:nvPr/>
        </p:nvSpPr>
        <p:spPr>
          <a:xfrm>
            <a:off x="4324350" y="5029200"/>
            <a:ext cx="6991350" cy="609600"/>
          </a:xfrm>
          <a:prstGeom prst="rect">
            <a:avLst/>
          </a:prstGeom>
        </p:spPr>
        <p:txBody>
          <a:bodyPr wrap="square" lIns="0" tIns="0" rIns="0" bIns="0" anchor="t"/>
          <a:lstStyle/>
          <a:p>
            <a:pPr>
              <a:defRPr sz="1875" b="0">
                <a:solidFill>
                  <a:srgbClr val="D7E6E4"/>
                </a:solidFill>
                <a:latin typeface="Arial"/>
                <a:ea typeface="Arial"/>
                <a:cs typeface="Arial"/>
              </a:defRPr>
            </a:pPr>
            <a:r>
              <a:t>Show the harness and the distinction between runtime and labels.</a:t>
            </a:r>
          </a:p>
        </p:txBody>
      </p:sp>
    </p:spTree>
    <p:extLst>
      <p:ext uri="{BB962C8B-B14F-4D97-AF65-F5344CB8AC3E}">
        <p14:creationId xmlns:p14="http://schemas.microsoft.com/office/powerpoint/2010/main" val="953651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3" name="kicker-marker">
            <a:extLst>
              <a:ext uri="{FF2B5EF4-FFF2-40B4-BE49-F238E27FC236}">
                <a16:creationId xmlns:a16="http://schemas.microsoft.com/office/drawing/2014/main" id="{F69C0889-6585-4DD8-8DAC-6A71CAB58E60}"/>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899C7891-402C-40C9-B2BF-0DC68EC0C55B}"/>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FASTAPI</a:t>
            </a:r>
          </a:p>
        </p:txBody>
      </p:sp>
      <p:sp>
        <p:nvSpPr>
          <p:cNvPr id="3" name="text-2">
            <a:extLst>
              <a:ext uri="{FF2B5EF4-FFF2-40B4-BE49-F238E27FC236}">
                <a16:creationId xmlns:a16="http://schemas.microsoft.com/office/drawing/2014/main" id="{F36E9E94-9A55-4748-93EE-E5B017DB838B}"/>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FastAPI makes the workflow callable</a:t>
            </a:r>
          </a:p>
          <a:p>
            <a:pPr>
              <a:defRPr sz="3150" b="0">
                <a:solidFill>
                  <a:srgbClr val="173047"/>
                </a:solidFill>
                <a:latin typeface="Georgia"/>
                <a:ea typeface="Georgia"/>
                <a:cs typeface="Georgia"/>
              </a:defRPr>
            </a:pPr>
            <a:r>
              <a:t>without building a chat interface</a:t>
            </a:r>
          </a:p>
        </p:txBody>
      </p:sp>
      <p:sp>
        <p:nvSpPr>
          <p:cNvPr id="4" name="shape-3">
            <a:extLst>
              <a:ext uri="{FF2B5EF4-FFF2-40B4-BE49-F238E27FC236}">
                <a16:creationId xmlns:a16="http://schemas.microsoft.com/office/drawing/2014/main" id="{3930AA6F-C47B-441C-800A-1224E4495E3A}"/>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07A5D284-C462-4AA6-A2E7-E77A5AE51BD6}"/>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src/api.py and README.md · local service; production authentication is not implemented</a:t>
            </a:r>
          </a:p>
        </p:txBody>
      </p:sp>
      <p:sp>
        <p:nvSpPr>
          <p:cNvPr id="6" name="text-5">
            <a:extLst>
              <a:ext uri="{FF2B5EF4-FFF2-40B4-BE49-F238E27FC236}">
                <a16:creationId xmlns:a16="http://schemas.microsoft.com/office/drawing/2014/main" id="{F32920E5-8A0F-4B47-95FC-12D1A174A30F}"/>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17</a:t>
            </a:r>
          </a:p>
        </p:txBody>
      </p:sp>
      <p:sp>
        <p:nvSpPr>
          <p:cNvPr id="7" name="text-6">
            <a:extLst>
              <a:ext uri="{FF2B5EF4-FFF2-40B4-BE49-F238E27FC236}">
                <a16:creationId xmlns:a16="http://schemas.microsoft.com/office/drawing/2014/main" id="{D48BBE9E-BCD1-4489-9A58-4AAF16E3EECF}"/>
              </a:ext>
            </a:extLst>
          </p:cNvPr>
          <p:cNvSpPr>
            <a:spLocks noGrp="1"/>
          </p:cNvSpPr>
          <p:nvPr/>
        </p:nvSpPr>
        <p:spPr>
          <a:xfrm>
            <a:off x="609600" y="2028825"/>
            <a:ext cx="5381625" cy="295275"/>
          </a:xfrm>
          <a:prstGeom prst="rect">
            <a:avLst/>
          </a:prstGeom>
        </p:spPr>
        <p:txBody>
          <a:bodyPr wrap="square" lIns="0" tIns="0" rIns="0" bIns="0" anchor="t"/>
          <a:lstStyle/>
          <a:p>
            <a:pPr>
              <a:defRPr sz="1575" b="1">
                <a:solidFill>
                  <a:srgbClr val="00766B"/>
                </a:solidFill>
                <a:latin typeface="Consolas"/>
                <a:ea typeface="Consolas"/>
                <a:cs typeface="Consolas"/>
              </a:defRPr>
            </a:pPr>
            <a:r>
              <a:t>POST /tickets</a:t>
            </a:r>
          </a:p>
        </p:txBody>
      </p:sp>
      <p:sp>
        <p:nvSpPr>
          <p:cNvPr id="8" name="text-7">
            <a:extLst>
              <a:ext uri="{FF2B5EF4-FFF2-40B4-BE49-F238E27FC236}">
                <a16:creationId xmlns:a16="http://schemas.microsoft.com/office/drawing/2014/main" id="{BDDA24CF-A5BF-4DB6-A310-1181ABB5616A}"/>
              </a:ext>
            </a:extLst>
          </p:cNvPr>
          <p:cNvSpPr>
            <a:spLocks noGrp="1"/>
          </p:cNvSpPr>
          <p:nvPr/>
        </p:nvSpPr>
        <p:spPr>
          <a:xfrm>
            <a:off x="609600" y="2352675"/>
            <a:ext cx="5381625" cy="352425"/>
          </a:xfrm>
          <a:prstGeom prst="rect">
            <a:avLst/>
          </a:prstGeom>
        </p:spPr>
        <p:txBody>
          <a:bodyPr wrap="square" lIns="0" tIns="0" rIns="0" bIns="0" anchor="t"/>
          <a:lstStyle/>
          <a:p>
            <a:pPr>
              <a:defRPr sz="1425" b="0">
                <a:solidFill>
                  <a:srgbClr val="546573"/>
                </a:solidFill>
                <a:latin typeface="Arial"/>
                <a:ea typeface="Arial"/>
                <a:cs typeface="Arial"/>
              </a:defRPr>
            </a:pPr>
            <a:r>
              <a:t>Process a ticket and return the decision.</a:t>
            </a:r>
          </a:p>
        </p:txBody>
      </p:sp>
      <p:sp>
        <p:nvSpPr>
          <p:cNvPr id="9" name="text-8">
            <a:extLst>
              <a:ext uri="{FF2B5EF4-FFF2-40B4-BE49-F238E27FC236}">
                <a16:creationId xmlns:a16="http://schemas.microsoft.com/office/drawing/2014/main" id="{29B35C1C-317D-4437-A39D-954C9D43934E}"/>
              </a:ext>
            </a:extLst>
          </p:cNvPr>
          <p:cNvSpPr>
            <a:spLocks noGrp="1"/>
          </p:cNvSpPr>
          <p:nvPr/>
        </p:nvSpPr>
        <p:spPr>
          <a:xfrm>
            <a:off x="609600" y="2762250"/>
            <a:ext cx="5381625" cy="295275"/>
          </a:xfrm>
          <a:prstGeom prst="rect">
            <a:avLst/>
          </a:prstGeom>
        </p:spPr>
        <p:txBody>
          <a:bodyPr wrap="square" lIns="0" tIns="0" rIns="0" bIns="0" anchor="t"/>
          <a:lstStyle/>
          <a:p>
            <a:pPr>
              <a:defRPr sz="1575" b="1">
                <a:solidFill>
                  <a:srgbClr val="00766B"/>
                </a:solidFill>
                <a:latin typeface="Consolas"/>
                <a:ea typeface="Consolas"/>
                <a:cs typeface="Consolas"/>
              </a:defRPr>
            </a:pPr>
            <a:r>
              <a:t>GET /health</a:t>
            </a:r>
          </a:p>
        </p:txBody>
      </p:sp>
      <p:sp>
        <p:nvSpPr>
          <p:cNvPr id="10" name="text-9">
            <a:extLst>
              <a:ext uri="{FF2B5EF4-FFF2-40B4-BE49-F238E27FC236}">
                <a16:creationId xmlns:a16="http://schemas.microsoft.com/office/drawing/2014/main" id="{F2710830-D094-4061-99A6-43A891BEA6E3}"/>
              </a:ext>
            </a:extLst>
          </p:cNvPr>
          <p:cNvSpPr>
            <a:spLocks noGrp="1"/>
          </p:cNvSpPr>
          <p:nvPr/>
        </p:nvSpPr>
        <p:spPr>
          <a:xfrm>
            <a:off x="609600" y="3086100"/>
            <a:ext cx="5381625" cy="352425"/>
          </a:xfrm>
          <a:prstGeom prst="rect">
            <a:avLst/>
          </a:prstGeom>
        </p:spPr>
        <p:txBody>
          <a:bodyPr wrap="square" lIns="0" tIns="0" rIns="0" bIns="0" anchor="t"/>
          <a:lstStyle/>
          <a:p>
            <a:pPr>
              <a:defRPr sz="1425" b="0">
                <a:solidFill>
                  <a:srgbClr val="546573"/>
                </a:solidFill>
                <a:latin typeface="Arial"/>
                <a:ea typeface="Arial"/>
                <a:cs typeface="Arial"/>
              </a:defRPr>
            </a:pPr>
            <a:r>
              <a:t>Check service access to the audit database.</a:t>
            </a:r>
          </a:p>
        </p:txBody>
      </p:sp>
      <p:sp>
        <p:nvSpPr>
          <p:cNvPr id="11" name="text-10">
            <a:extLst>
              <a:ext uri="{FF2B5EF4-FFF2-40B4-BE49-F238E27FC236}">
                <a16:creationId xmlns:a16="http://schemas.microsoft.com/office/drawing/2014/main" id="{C7584C1D-53B6-4412-8FEB-8E04FD9E9678}"/>
              </a:ext>
            </a:extLst>
          </p:cNvPr>
          <p:cNvSpPr>
            <a:spLocks noGrp="1"/>
          </p:cNvSpPr>
          <p:nvPr/>
        </p:nvSpPr>
        <p:spPr>
          <a:xfrm>
            <a:off x="609600" y="3495675"/>
            <a:ext cx="5381625" cy="295275"/>
          </a:xfrm>
          <a:prstGeom prst="rect">
            <a:avLst/>
          </a:prstGeom>
        </p:spPr>
        <p:txBody>
          <a:bodyPr wrap="square" lIns="0" tIns="0" rIns="0" bIns="0" anchor="t"/>
          <a:lstStyle/>
          <a:p>
            <a:pPr>
              <a:defRPr sz="1575" b="1">
                <a:solidFill>
                  <a:srgbClr val="00766B"/>
                </a:solidFill>
                <a:latin typeface="Consolas"/>
                <a:ea typeface="Consolas"/>
                <a:cs typeface="Consolas"/>
              </a:defRPr>
            </a:pPr>
            <a:r>
              <a:t>GET /metrics</a:t>
            </a:r>
          </a:p>
        </p:txBody>
      </p:sp>
      <p:sp>
        <p:nvSpPr>
          <p:cNvPr id="12" name="text-11">
            <a:extLst>
              <a:ext uri="{FF2B5EF4-FFF2-40B4-BE49-F238E27FC236}">
                <a16:creationId xmlns:a16="http://schemas.microsoft.com/office/drawing/2014/main" id="{DC5EC2A5-C8C7-4193-8E14-48BD58ECF5D7}"/>
              </a:ext>
            </a:extLst>
          </p:cNvPr>
          <p:cNvSpPr>
            <a:spLocks noGrp="1"/>
          </p:cNvSpPr>
          <p:nvPr/>
        </p:nvSpPr>
        <p:spPr>
          <a:xfrm>
            <a:off x="609600" y="3819525"/>
            <a:ext cx="5381625" cy="352425"/>
          </a:xfrm>
          <a:prstGeom prst="rect">
            <a:avLst/>
          </a:prstGeom>
        </p:spPr>
        <p:txBody>
          <a:bodyPr wrap="square" lIns="0" tIns="0" rIns="0" bIns="0" anchor="t"/>
          <a:lstStyle/>
          <a:p>
            <a:pPr>
              <a:defRPr sz="1425" b="0">
                <a:solidFill>
                  <a:srgbClr val="546573"/>
                </a:solidFill>
                <a:latin typeface="Arial"/>
                <a:ea typeface="Arial"/>
                <a:cs typeface="Arial"/>
              </a:defRPr>
            </a:pPr>
            <a:r>
              <a:t>Read aggregate audit counts as JSON.</a:t>
            </a:r>
          </a:p>
        </p:txBody>
      </p:sp>
      <p:sp>
        <p:nvSpPr>
          <p:cNvPr id="13" name="text-12">
            <a:extLst>
              <a:ext uri="{FF2B5EF4-FFF2-40B4-BE49-F238E27FC236}">
                <a16:creationId xmlns:a16="http://schemas.microsoft.com/office/drawing/2014/main" id="{16559397-682F-4720-86CE-E2F59D56121C}"/>
              </a:ext>
            </a:extLst>
          </p:cNvPr>
          <p:cNvSpPr>
            <a:spLocks noGrp="1"/>
          </p:cNvSpPr>
          <p:nvPr/>
        </p:nvSpPr>
        <p:spPr>
          <a:xfrm>
            <a:off x="609600" y="4229100"/>
            <a:ext cx="5381625" cy="295275"/>
          </a:xfrm>
          <a:prstGeom prst="rect">
            <a:avLst/>
          </a:prstGeom>
        </p:spPr>
        <p:txBody>
          <a:bodyPr wrap="square" lIns="0" tIns="0" rIns="0" bIns="0" anchor="t"/>
          <a:lstStyle/>
          <a:p>
            <a:pPr>
              <a:defRPr sz="1575" b="1">
                <a:solidFill>
                  <a:srgbClr val="00766B"/>
                </a:solidFill>
                <a:latin typeface="Consolas"/>
                <a:ea typeface="Consolas"/>
                <a:cs typeface="Consolas"/>
              </a:defRPr>
            </a:pPr>
            <a:r>
              <a:t>GET / POST /admin/kill-switch</a:t>
            </a:r>
          </a:p>
        </p:txBody>
      </p:sp>
      <p:sp>
        <p:nvSpPr>
          <p:cNvPr id="14" name="text-13">
            <a:extLst>
              <a:ext uri="{FF2B5EF4-FFF2-40B4-BE49-F238E27FC236}">
                <a16:creationId xmlns:a16="http://schemas.microsoft.com/office/drawing/2014/main" id="{7A55694B-E2C1-4391-AFE8-3DDC4862E5AA}"/>
              </a:ext>
            </a:extLst>
          </p:cNvPr>
          <p:cNvSpPr>
            <a:spLocks noGrp="1"/>
          </p:cNvSpPr>
          <p:nvPr/>
        </p:nvSpPr>
        <p:spPr>
          <a:xfrm>
            <a:off x="609600" y="4552950"/>
            <a:ext cx="5381625" cy="352425"/>
          </a:xfrm>
          <a:prstGeom prst="rect">
            <a:avLst/>
          </a:prstGeom>
        </p:spPr>
        <p:txBody>
          <a:bodyPr wrap="square" lIns="0" tIns="0" rIns="0" bIns="0" anchor="t"/>
          <a:lstStyle/>
          <a:p>
            <a:pPr>
              <a:defRPr sz="1425" b="0">
                <a:solidFill>
                  <a:srgbClr val="546573"/>
                </a:solidFill>
                <a:latin typeface="Arial"/>
                <a:ea typeface="Arial"/>
                <a:cs typeface="Arial"/>
              </a:defRPr>
            </a:pPr>
            <a:r>
              <a:t>Read or change the process-local switch.</a:t>
            </a:r>
          </a:p>
        </p:txBody>
      </p:sp>
      <p:sp>
        <p:nvSpPr>
          <p:cNvPr id="15" name="text-14">
            <a:extLst>
              <a:ext uri="{FF2B5EF4-FFF2-40B4-BE49-F238E27FC236}">
                <a16:creationId xmlns:a16="http://schemas.microsoft.com/office/drawing/2014/main" id="{73FD7715-95D4-4BCF-8863-02CFE25A62D9}"/>
              </a:ext>
            </a:extLst>
          </p:cNvPr>
          <p:cNvSpPr>
            <a:spLocks noGrp="1"/>
          </p:cNvSpPr>
          <p:nvPr/>
        </p:nvSpPr>
        <p:spPr>
          <a:xfrm>
            <a:off x="609600" y="4962525"/>
            <a:ext cx="5381625" cy="295275"/>
          </a:xfrm>
          <a:prstGeom prst="rect">
            <a:avLst/>
          </a:prstGeom>
        </p:spPr>
        <p:txBody>
          <a:bodyPr wrap="square" lIns="0" tIns="0" rIns="0" bIns="0" anchor="t"/>
          <a:lstStyle/>
          <a:p>
            <a:pPr>
              <a:defRPr sz="1575" b="1">
                <a:solidFill>
                  <a:srgbClr val="00766B"/>
                </a:solidFill>
                <a:latin typeface="Consolas"/>
                <a:ea typeface="Consolas"/>
                <a:cs typeface="Consolas"/>
              </a:defRPr>
            </a:pPr>
            <a:r>
              <a:t>GET /docs</a:t>
            </a:r>
          </a:p>
        </p:txBody>
      </p:sp>
      <p:sp>
        <p:nvSpPr>
          <p:cNvPr id="16" name="text-15">
            <a:extLst>
              <a:ext uri="{FF2B5EF4-FFF2-40B4-BE49-F238E27FC236}">
                <a16:creationId xmlns:a16="http://schemas.microsoft.com/office/drawing/2014/main" id="{6EA16BA5-F54C-4C04-9CEA-2E8BC4DA1DF3}"/>
              </a:ext>
            </a:extLst>
          </p:cNvPr>
          <p:cNvSpPr>
            <a:spLocks noGrp="1"/>
          </p:cNvSpPr>
          <p:nvPr/>
        </p:nvSpPr>
        <p:spPr>
          <a:xfrm>
            <a:off x="609600" y="5286375"/>
            <a:ext cx="5381625" cy="352425"/>
          </a:xfrm>
          <a:prstGeom prst="rect">
            <a:avLst/>
          </a:prstGeom>
        </p:spPr>
        <p:txBody>
          <a:bodyPr wrap="square" lIns="0" tIns="0" rIns="0" bIns="0" anchor="t"/>
          <a:lstStyle/>
          <a:p>
            <a:pPr>
              <a:defRPr sz="1425" b="0">
                <a:solidFill>
                  <a:srgbClr val="546573"/>
                </a:solidFill>
                <a:latin typeface="Arial"/>
                <a:ea typeface="Arial"/>
                <a:cs typeface="Arial"/>
              </a:defRPr>
            </a:pPr>
            <a:r>
              <a:t>Open interactive Swagger documentation.</a:t>
            </a:r>
          </a:p>
        </p:txBody>
      </p:sp>
      <p:sp>
        <p:nvSpPr>
          <p:cNvPr id="17" name="shape-16">
            <a:extLst>
              <a:ext uri="{FF2B5EF4-FFF2-40B4-BE49-F238E27FC236}">
                <a16:creationId xmlns:a16="http://schemas.microsoft.com/office/drawing/2014/main" id="{132E68CA-C50C-4E08-BB0D-5E34E69BB1A3}"/>
              </a:ext>
            </a:extLst>
          </p:cNvPr>
          <p:cNvSpPr>
            <a:spLocks noGrp="1"/>
          </p:cNvSpPr>
          <p:nvPr/>
        </p:nvSpPr>
        <p:spPr>
          <a:xfrm>
            <a:off x="6334125" y="2047875"/>
            <a:ext cx="5248275" cy="3609975"/>
          </a:xfrm>
          <a:prstGeom prst="rect">
            <a:avLst/>
          </a:prstGeom>
          <a:solidFill>
            <a:srgbClr val="173047"/>
          </a:solidFill>
        </p:spPr>
      </p:sp>
      <p:sp>
        <p:nvSpPr>
          <p:cNvPr id="18" name="text-17">
            <a:extLst>
              <a:ext uri="{FF2B5EF4-FFF2-40B4-BE49-F238E27FC236}">
                <a16:creationId xmlns:a16="http://schemas.microsoft.com/office/drawing/2014/main" id="{DF285EBC-FA55-428F-A2E1-28D153F2C0B5}"/>
              </a:ext>
            </a:extLst>
          </p:cNvPr>
          <p:cNvSpPr>
            <a:spLocks noGrp="1"/>
          </p:cNvSpPr>
          <p:nvPr/>
        </p:nvSpPr>
        <p:spPr>
          <a:xfrm>
            <a:off x="6562725" y="2266950"/>
            <a:ext cx="4667250" cy="228600"/>
          </a:xfrm>
          <a:prstGeom prst="rect">
            <a:avLst/>
          </a:prstGeom>
        </p:spPr>
        <p:txBody>
          <a:bodyPr wrap="square" lIns="0" tIns="0" rIns="0" bIns="0" anchor="t"/>
          <a:lstStyle/>
          <a:p>
            <a:pPr>
              <a:defRPr sz="975" b="1">
                <a:solidFill>
                  <a:srgbClr val="D7E6E4"/>
                </a:solidFill>
                <a:latin typeface="Arial"/>
                <a:ea typeface="Arial"/>
                <a:cs typeface="Arial"/>
              </a:defRPr>
            </a:pPr>
            <a:r>
              <a:t>TICKET IN · EXAMPLE FIELDS</a:t>
            </a:r>
          </a:p>
        </p:txBody>
      </p:sp>
      <p:sp>
        <p:nvSpPr>
          <p:cNvPr id="19" name="text-18">
            <a:extLst>
              <a:ext uri="{FF2B5EF4-FFF2-40B4-BE49-F238E27FC236}">
                <a16:creationId xmlns:a16="http://schemas.microsoft.com/office/drawing/2014/main" id="{E6A69E71-4A31-41C4-B7B5-8684013098DD}"/>
              </a:ext>
            </a:extLst>
          </p:cNvPr>
          <p:cNvSpPr>
            <a:spLocks noGrp="1"/>
          </p:cNvSpPr>
          <p:nvPr/>
        </p:nvSpPr>
        <p:spPr>
          <a:xfrm>
            <a:off x="6562725" y="2676525"/>
            <a:ext cx="4762500" cy="1524000"/>
          </a:xfrm>
          <a:prstGeom prst="rect">
            <a:avLst/>
          </a:prstGeom>
        </p:spPr>
        <p:txBody>
          <a:bodyPr wrap="square" lIns="0" tIns="0" rIns="0" bIns="0" anchor="t"/>
          <a:lstStyle/>
          <a:p>
            <a:pPr>
              <a:defRPr sz="1500" b="0">
                <a:solidFill>
                  <a:srgbClr val="FFFFFF"/>
                </a:solidFill>
                <a:latin typeface="Consolas"/>
                <a:ea typeface="Consolas"/>
                <a:cs typeface="Consolas"/>
              </a:defRPr>
            </a:pPr>
            <a:r>
              <a:t>ticket_id: "DEMO-01"</a:t>
            </a:r>
          </a:p>
          <a:p>
            <a:pPr>
              <a:defRPr sz="1500" b="0">
                <a:solidFill>
                  <a:srgbClr val="FFFFFF"/>
                </a:solidFill>
                <a:latin typeface="Consolas"/>
                <a:ea typeface="Consolas"/>
                <a:cs typeface="Consolas"/>
              </a:defRPr>
            </a:pPr>
            <a:r>
              <a:t>channel: "email"</a:t>
            </a:r>
          </a:p>
          <a:p>
            <a:pPr>
              <a:defRPr sz="1500" b="0">
                <a:solidFill>
                  <a:srgbClr val="FFFFFF"/>
                </a:solidFill>
                <a:latin typeface="Consolas"/>
                <a:ea typeface="Consolas"/>
                <a:cs typeface="Consolas"/>
              </a:defRPr>
            </a:pPr>
            <a:r>
              <a:t>subject: "API pagination"</a:t>
            </a:r>
          </a:p>
          <a:p>
            <a:pPr>
              <a:defRPr sz="1500" b="0">
                <a:solidFill>
                  <a:srgbClr val="FFFFFF"/>
                </a:solidFill>
                <a:latin typeface="Consolas"/>
                <a:ea typeface="Consolas"/>
                <a:cs typeface="Consolas"/>
              </a:defRPr>
            </a:pPr>
            <a:r>
              <a:t>body: "How do I fetch the next page?"</a:t>
            </a:r>
          </a:p>
        </p:txBody>
      </p:sp>
      <p:sp>
        <p:nvSpPr>
          <p:cNvPr id="20" name="text-19">
            <a:extLst>
              <a:ext uri="{FF2B5EF4-FFF2-40B4-BE49-F238E27FC236}">
                <a16:creationId xmlns:a16="http://schemas.microsoft.com/office/drawing/2014/main" id="{DD94290A-8D21-45CE-A7C8-C946D1DC0E58}"/>
              </a:ext>
            </a:extLst>
          </p:cNvPr>
          <p:cNvSpPr>
            <a:spLocks noGrp="1"/>
          </p:cNvSpPr>
          <p:nvPr/>
        </p:nvSpPr>
        <p:spPr>
          <a:xfrm>
            <a:off x="6562725" y="4591050"/>
            <a:ext cx="4286250" cy="228600"/>
          </a:xfrm>
          <a:prstGeom prst="rect">
            <a:avLst/>
          </a:prstGeom>
        </p:spPr>
        <p:txBody>
          <a:bodyPr wrap="square" lIns="0" tIns="0" rIns="0" bIns="0" anchor="t"/>
          <a:lstStyle/>
          <a:p>
            <a:pPr>
              <a:defRPr sz="975" b="1">
                <a:solidFill>
                  <a:srgbClr val="E7BD80"/>
                </a:solidFill>
                <a:latin typeface="Arial"/>
                <a:ea typeface="Arial"/>
                <a:cs typeface="Arial"/>
              </a:defRPr>
            </a:pPr>
            <a:r>
              <a:t>DECISION OUT</a:t>
            </a:r>
          </a:p>
        </p:txBody>
      </p:sp>
      <p:sp>
        <p:nvSpPr>
          <p:cNvPr id="21" name="text-20">
            <a:extLst>
              <a:ext uri="{FF2B5EF4-FFF2-40B4-BE49-F238E27FC236}">
                <a16:creationId xmlns:a16="http://schemas.microsoft.com/office/drawing/2014/main" id="{EE937732-02B1-463E-95FD-6E0CC2A2811E}"/>
              </a:ext>
            </a:extLst>
          </p:cNvPr>
          <p:cNvSpPr>
            <a:spLocks noGrp="1"/>
          </p:cNvSpPr>
          <p:nvPr/>
        </p:nvSpPr>
        <p:spPr>
          <a:xfrm>
            <a:off x="6562725" y="4953000"/>
            <a:ext cx="4762500" cy="571500"/>
          </a:xfrm>
          <a:prstGeom prst="rect">
            <a:avLst/>
          </a:prstGeom>
        </p:spPr>
        <p:txBody>
          <a:bodyPr wrap="square" lIns="0" tIns="0" rIns="0" bIns="0" anchor="t"/>
          <a:lstStyle/>
          <a:p>
            <a:pPr>
              <a:defRPr sz="1725" b="0">
                <a:solidFill>
                  <a:srgbClr val="FFFFFF"/>
                </a:solidFill>
                <a:latin typeface="Arial"/>
                <a:ea typeface="Arial"/>
                <a:cs typeface="Arial"/>
              </a:defRPr>
            </a:pPr>
            <a:r>
              <a:t>route · draft · citations</a:t>
            </a:r>
          </a:p>
          <a:p>
            <a:pPr>
              <a:defRPr sz="1725" b="0">
                <a:solidFill>
                  <a:srgbClr val="FFFFFF"/>
                </a:solidFill>
                <a:latin typeface="Arial"/>
                <a:ea typeface="Arial"/>
                <a:cs typeface="Arial"/>
              </a:defRPr>
            </a:pPr>
            <a:r>
              <a:t>handover · decision ID</a:t>
            </a:r>
          </a:p>
        </p:txBody>
      </p:sp>
      <p:sp>
        <p:nvSpPr>
          <p:cNvPr id="22" name="text-21">
            <a:extLst>
              <a:ext uri="{FF2B5EF4-FFF2-40B4-BE49-F238E27FC236}">
                <a16:creationId xmlns:a16="http://schemas.microsoft.com/office/drawing/2014/main" id="{D9834592-6A50-4F98-87EB-8E9A4089EBBD}"/>
              </a:ext>
            </a:extLst>
          </p:cNvPr>
          <p:cNvSpPr>
            <a:spLocks noGrp="1"/>
          </p:cNvSpPr>
          <p:nvPr/>
        </p:nvSpPr>
        <p:spPr>
          <a:xfrm>
            <a:off x="609600" y="5905500"/>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Demo: http://127.0.0.1:8000/docs · API response is not proof of customer delivery.</a:t>
            </a:r>
          </a:p>
        </p:txBody>
      </p:sp>
    </p:spTree>
    <p:extLst>
      <p:ext uri="{BB962C8B-B14F-4D97-AF65-F5344CB8AC3E}">
        <p14:creationId xmlns:p14="http://schemas.microsoft.com/office/powerpoint/2010/main" val="545189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9" name="kicker-marker">
            <a:extLst>
              <a:ext uri="{FF2B5EF4-FFF2-40B4-BE49-F238E27FC236}">
                <a16:creationId xmlns:a16="http://schemas.microsoft.com/office/drawing/2014/main" id="{055A57B5-D6AF-4003-8186-6B2F315159E8}"/>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86C9292E-3123-49D0-9D20-5FEA2A563F1F}"/>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EVALUATION HARNESS</a:t>
            </a:r>
          </a:p>
        </p:txBody>
      </p:sp>
      <p:sp>
        <p:nvSpPr>
          <p:cNvPr id="3" name="text-2">
            <a:extLst>
              <a:ext uri="{FF2B5EF4-FFF2-40B4-BE49-F238E27FC236}">
                <a16:creationId xmlns:a16="http://schemas.microsoft.com/office/drawing/2014/main" id="{A8474AFA-6495-45DB-8211-2DAADCE4B954}"/>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Batch evaluation joins each input</a:t>
            </a:r>
          </a:p>
          <a:p>
            <a:pPr>
              <a:defRPr sz="3150" b="0">
                <a:solidFill>
                  <a:srgbClr val="173047"/>
                </a:solidFill>
                <a:latin typeface="Georgia"/>
                <a:ea typeface="Georgia"/>
                <a:cs typeface="Georgia"/>
              </a:defRPr>
            </a:pPr>
            <a:r>
              <a:t>to a recorded decision</a:t>
            </a:r>
          </a:p>
        </p:txBody>
      </p:sp>
      <p:sp>
        <p:nvSpPr>
          <p:cNvPr id="4" name="shape-3">
            <a:extLst>
              <a:ext uri="{FF2B5EF4-FFF2-40B4-BE49-F238E27FC236}">
                <a16:creationId xmlns:a16="http://schemas.microsoft.com/office/drawing/2014/main" id="{8B13E220-4F2B-4B78-A2E2-4171AF218C80}"/>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330713E0-1203-4E75-A986-851CFE977BF4}"/>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evaluation/harness.py; evaluation/results/latest_report.json; SQLite audit implementation</a:t>
            </a:r>
          </a:p>
        </p:txBody>
      </p:sp>
      <p:sp>
        <p:nvSpPr>
          <p:cNvPr id="6" name="text-5">
            <a:extLst>
              <a:ext uri="{FF2B5EF4-FFF2-40B4-BE49-F238E27FC236}">
                <a16:creationId xmlns:a16="http://schemas.microsoft.com/office/drawing/2014/main" id="{E06C5AB2-C792-4988-A1FC-85DA7739369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18</a:t>
            </a:r>
          </a:p>
        </p:txBody>
      </p:sp>
      <p:sp>
        <p:nvSpPr>
          <p:cNvPr id="7" name="text-6">
            <a:extLst>
              <a:ext uri="{FF2B5EF4-FFF2-40B4-BE49-F238E27FC236}">
                <a16:creationId xmlns:a16="http://schemas.microsoft.com/office/drawing/2014/main" id="{C6542219-20DA-4A7C-B6C0-7E3A5436F55D}"/>
              </a:ext>
            </a:extLst>
          </p:cNvPr>
          <p:cNvSpPr>
            <a:spLocks noGrp="1"/>
          </p:cNvSpPr>
          <p:nvPr/>
        </p:nvSpPr>
        <p:spPr>
          <a:xfrm>
            <a:off x="609600" y="2038350"/>
            <a:ext cx="10572750" cy="228600"/>
          </a:xfrm>
          <a:prstGeom prst="rect">
            <a:avLst/>
          </a:prstGeom>
        </p:spPr>
        <p:txBody>
          <a:bodyPr wrap="square" lIns="0" tIns="0" rIns="0" bIns="0" anchor="t"/>
          <a:lstStyle/>
          <a:p>
            <a:pPr>
              <a:defRPr sz="975" b="1">
                <a:solidFill>
                  <a:srgbClr val="00766B"/>
                </a:solidFill>
                <a:latin typeface="Arial"/>
                <a:ea typeface="Arial"/>
                <a:cs typeface="Arial"/>
              </a:defRPr>
            </a:pPr>
            <a:r>
              <a:t>REPEATABLE DEMO · SEPARATE OUTPUT DIRECTORY</a:t>
            </a:r>
          </a:p>
        </p:txBody>
      </p:sp>
      <p:sp>
        <p:nvSpPr>
          <p:cNvPr id="8" name="shape-7">
            <a:extLst>
              <a:ext uri="{FF2B5EF4-FFF2-40B4-BE49-F238E27FC236}">
                <a16:creationId xmlns:a16="http://schemas.microsoft.com/office/drawing/2014/main" id="{82F4D322-3F48-4B58-9E42-FCC4D44DC5E0}"/>
              </a:ext>
            </a:extLst>
          </p:cNvPr>
          <p:cNvSpPr>
            <a:spLocks noGrp="1"/>
          </p:cNvSpPr>
          <p:nvPr/>
        </p:nvSpPr>
        <p:spPr>
          <a:xfrm>
            <a:off x="609600" y="2409825"/>
            <a:ext cx="10972800" cy="1123950"/>
          </a:xfrm>
          <a:prstGeom prst="rect">
            <a:avLst/>
          </a:prstGeom>
          <a:solidFill>
            <a:srgbClr val="173047"/>
          </a:solidFill>
        </p:spPr>
      </p:sp>
      <p:sp>
        <p:nvSpPr>
          <p:cNvPr id="9" name="text-8">
            <a:extLst>
              <a:ext uri="{FF2B5EF4-FFF2-40B4-BE49-F238E27FC236}">
                <a16:creationId xmlns:a16="http://schemas.microsoft.com/office/drawing/2014/main" id="{0CD669B0-CE28-403F-B35D-9EEB5BA630B3}"/>
              </a:ext>
            </a:extLst>
          </p:cNvPr>
          <p:cNvSpPr>
            <a:spLocks noGrp="1"/>
          </p:cNvSpPr>
          <p:nvPr/>
        </p:nvSpPr>
        <p:spPr>
          <a:xfrm>
            <a:off x="819150" y="2581275"/>
            <a:ext cx="10572750" cy="857250"/>
          </a:xfrm>
          <a:prstGeom prst="rect">
            <a:avLst/>
          </a:prstGeom>
        </p:spPr>
        <p:txBody>
          <a:bodyPr wrap="square" lIns="0" tIns="0" rIns="0" bIns="0" anchor="t"/>
          <a:lstStyle/>
          <a:p>
            <a:pPr>
              <a:defRPr sz="1650" b="0">
                <a:solidFill>
                  <a:srgbClr val="FFFFFF"/>
                </a:solidFill>
                <a:latin typeface="Consolas"/>
                <a:ea typeface="Consolas"/>
                <a:cs typeface="Consolas"/>
              </a:defRPr>
            </a:pPr>
            <a:r>
              <a:rPr dirty="0" err="1"/>
              <a:t>uv</a:t>
            </a:r>
            <a:r>
              <a:rPr dirty="0"/>
              <a:t> run python -m </a:t>
            </a:r>
            <a:r>
              <a:rPr dirty="0" err="1"/>
              <a:t>evaluation.harness</a:t>
            </a:r>
            <a:r>
              <a:rPr dirty="0"/>
              <a:t> </a:t>
            </a:r>
          </a:p>
          <a:p>
            <a:pPr>
              <a:defRPr sz="1650" b="0">
                <a:solidFill>
                  <a:srgbClr val="FFFFFF"/>
                </a:solidFill>
                <a:latin typeface="Consolas"/>
                <a:ea typeface="Consolas"/>
                <a:cs typeface="Consolas"/>
              </a:defRPr>
            </a:pPr>
            <a:r>
              <a:rPr dirty="0"/>
              <a:t>  --input data/</a:t>
            </a:r>
            <a:r>
              <a:rPr dirty="0" err="1"/>
              <a:t>development_tickets.json</a:t>
            </a:r>
            <a:r>
              <a:rPr dirty="0"/>
              <a:t> </a:t>
            </a:r>
          </a:p>
          <a:p>
            <a:pPr>
              <a:defRPr sz="1650" b="0">
                <a:solidFill>
                  <a:srgbClr val="FFFFFF"/>
                </a:solidFill>
                <a:latin typeface="Consolas"/>
                <a:ea typeface="Consolas"/>
                <a:cs typeface="Consolas"/>
              </a:defRPr>
            </a:pPr>
            <a:r>
              <a:rPr dirty="0"/>
              <a:t>  --output evaluation/result</a:t>
            </a:r>
            <a:r>
              <a:rPr lang="en-US" dirty="0"/>
              <a:t>s</a:t>
            </a:r>
            <a:endParaRPr dirty="0"/>
          </a:p>
        </p:txBody>
      </p:sp>
      <p:sp>
        <p:nvSpPr>
          <p:cNvPr id="10" name="batch">
            <a:extLst>
              <a:ext uri="{FF2B5EF4-FFF2-40B4-BE49-F238E27FC236}">
                <a16:creationId xmlns:a16="http://schemas.microsoft.com/office/drawing/2014/main" id="{BA464C99-80D6-49DF-91EC-D51DEF455D3D}"/>
              </a:ext>
            </a:extLst>
          </p:cNvPr>
          <p:cNvSpPr>
            <a:spLocks noGrp="1"/>
          </p:cNvSpPr>
          <p:nvPr/>
        </p:nvSpPr>
        <p:spPr>
          <a:xfrm>
            <a:off x="609600" y="4019550"/>
            <a:ext cx="2266950" cy="838200"/>
          </a:xfrm>
          <a:prstGeom prst="rect">
            <a:avLst/>
          </a:prstGeom>
          <a:solidFill>
            <a:srgbClr val="00766B"/>
          </a:solidFill>
        </p:spPr>
      </p:sp>
      <p:sp>
        <p:nvSpPr>
          <p:cNvPr id="11" name="text-10">
            <a:extLst>
              <a:ext uri="{FF2B5EF4-FFF2-40B4-BE49-F238E27FC236}">
                <a16:creationId xmlns:a16="http://schemas.microsoft.com/office/drawing/2014/main" id="{A259AA8F-FB8F-4294-AB6A-D64829F00292}"/>
              </a:ext>
            </a:extLst>
          </p:cNvPr>
          <p:cNvSpPr>
            <a:spLocks noGrp="1"/>
          </p:cNvSpPr>
          <p:nvPr/>
        </p:nvSpPr>
        <p:spPr>
          <a:xfrm>
            <a:off x="762000" y="4152900"/>
            <a:ext cx="1962150" cy="276225"/>
          </a:xfrm>
          <a:prstGeom prst="rect">
            <a:avLst/>
          </a:prstGeom>
        </p:spPr>
        <p:txBody>
          <a:bodyPr wrap="square" lIns="0" tIns="0" rIns="0" bIns="0" anchor="t"/>
          <a:lstStyle/>
          <a:p>
            <a:pPr>
              <a:defRPr sz="1575" b="1">
                <a:solidFill>
                  <a:srgbClr val="FFFFFF"/>
                </a:solidFill>
                <a:latin typeface="Arial"/>
                <a:ea typeface="Arial"/>
                <a:cs typeface="Arial"/>
              </a:defRPr>
            </a:pPr>
            <a:r>
              <a:t>Inputs</a:t>
            </a:r>
          </a:p>
        </p:txBody>
      </p:sp>
      <p:sp>
        <p:nvSpPr>
          <p:cNvPr id="12" name="text-11">
            <a:extLst>
              <a:ext uri="{FF2B5EF4-FFF2-40B4-BE49-F238E27FC236}">
                <a16:creationId xmlns:a16="http://schemas.microsoft.com/office/drawing/2014/main" id="{5F93C968-E493-4F68-87D9-1361780F251D}"/>
              </a:ext>
            </a:extLst>
          </p:cNvPr>
          <p:cNvSpPr>
            <a:spLocks noGrp="1"/>
          </p:cNvSpPr>
          <p:nvPr/>
        </p:nvSpPr>
        <p:spPr>
          <a:xfrm>
            <a:off x="762000" y="4467225"/>
            <a:ext cx="1962150" cy="209550"/>
          </a:xfrm>
          <a:prstGeom prst="rect">
            <a:avLst/>
          </a:prstGeom>
        </p:spPr>
        <p:txBody>
          <a:bodyPr wrap="square" lIns="0" tIns="0" rIns="0" bIns="0" anchor="t"/>
          <a:lstStyle/>
          <a:p>
            <a:pPr>
              <a:defRPr sz="1200" b="0">
                <a:solidFill>
                  <a:srgbClr val="FFFFFF"/>
                </a:solidFill>
                <a:latin typeface="Arial"/>
                <a:ea typeface="Arial"/>
                <a:cs typeface="Arial"/>
              </a:defRPr>
            </a:pPr>
            <a:r>
              <a:t>Dataset + positions</a:t>
            </a:r>
          </a:p>
        </p:txBody>
      </p:sp>
      <p:sp>
        <p:nvSpPr>
          <p:cNvPr id="13" name="process">
            <a:extLst>
              <a:ext uri="{FF2B5EF4-FFF2-40B4-BE49-F238E27FC236}">
                <a16:creationId xmlns:a16="http://schemas.microsoft.com/office/drawing/2014/main" id="{9854E91C-2EF9-4BC3-8E36-FC933AE458AB}"/>
              </a:ext>
            </a:extLst>
          </p:cNvPr>
          <p:cNvSpPr>
            <a:spLocks noGrp="1"/>
          </p:cNvSpPr>
          <p:nvPr/>
        </p:nvSpPr>
        <p:spPr>
          <a:xfrm>
            <a:off x="3371850" y="4019550"/>
            <a:ext cx="2409825" cy="838200"/>
          </a:xfrm>
          <a:prstGeom prst="rect">
            <a:avLst/>
          </a:prstGeom>
          <a:solidFill>
            <a:srgbClr val="00766B"/>
          </a:solidFill>
        </p:spPr>
      </p:sp>
      <p:sp>
        <p:nvSpPr>
          <p:cNvPr id="14" name="text-13">
            <a:extLst>
              <a:ext uri="{FF2B5EF4-FFF2-40B4-BE49-F238E27FC236}">
                <a16:creationId xmlns:a16="http://schemas.microsoft.com/office/drawing/2014/main" id="{30FE70B8-ABA3-493B-9BE6-7948C973BD7E}"/>
              </a:ext>
            </a:extLst>
          </p:cNvPr>
          <p:cNvSpPr>
            <a:spLocks noGrp="1"/>
          </p:cNvSpPr>
          <p:nvPr/>
        </p:nvSpPr>
        <p:spPr>
          <a:xfrm>
            <a:off x="3524250" y="4152900"/>
            <a:ext cx="2105025" cy="276225"/>
          </a:xfrm>
          <a:prstGeom prst="rect">
            <a:avLst/>
          </a:prstGeom>
        </p:spPr>
        <p:txBody>
          <a:bodyPr wrap="square" lIns="0" tIns="0" rIns="0" bIns="0" anchor="t"/>
          <a:lstStyle/>
          <a:p>
            <a:pPr>
              <a:defRPr sz="1575" b="1">
                <a:solidFill>
                  <a:srgbClr val="FFFFFF"/>
                </a:solidFill>
                <a:latin typeface="Arial"/>
                <a:ea typeface="Arial"/>
                <a:cs typeface="Arial"/>
              </a:defRPr>
            </a:pPr>
            <a:r>
              <a:t>Shared workflow</a:t>
            </a:r>
          </a:p>
        </p:txBody>
      </p:sp>
      <p:sp>
        <p:nvSpPr>
          <p:cNvPr id="15" name="text-14">
            <a:extLst>
              <a:ext uri="{FF2B5EF4-FFF2-40B4-BE49-F238E27FC236}">
                <a16:creationId xmlns:a16="http://schemas.microsoft.com/office/drawing/2014/main" id="{7D35EFD6-6F54-4D87-A151-D6487B691AA3}"/>
              </a:ext>
            </a:extLst>
          </p:cNvPr>
          <p:cNvSpPr>
            <a:spLocks noGrp="1"/>
          </p:cNvSpPr>
          <p:nvPr/>
        </p:nvSpPr>
        <p:spPr>
          <a:xfrm>
            <a:off x="3524250" y="4467225"/>
            <a:ext cx="2105025" cy="209550"/>
          </a:xfrm>
          <a:prstGeom prst="rect">
            <a:avLst/>
          </a:prstGeom>
        </p:spPr>
        <p:txBody>
          <a:bodyPr wrap="square" lIns="0" tIns="0" rIns="0" bIns="0" anchor="t"/>
          <a:lstStyle/>
          <a:p>
            <a:pPr>
              <a:defRPr sz="1200" b="0">
                <a:solidFill>
                  <a:srgbClr val="FFFFFF"/>
                </a:solidFill>
                <a:latin typeface="Arial"/>
                <a:ea typeface="Arial"/>
                <a:cs typeface="Arial"/>
              </a:defRPr>
            </a:pPr>
            <a:r>
              <a:t>One decision per input</a:t>
            </a:r>
          </a:p>
        </p:txBody>
      </p:sp>
      <p:sp>
        <p:nvSpPr>
          <p:cNvPr id="16" name="record">
            <a:extLst>
              <a:ext uri="{FF2B5EF4-FFF2-40B4-BE49-F238E27FC236}">
                <a16:creationId xmlns:a16="http://schemas.microsoft.com/office/drawing/2014/main" id="{9E28EB03-8D9E-4C21-BAA3-28AB502129A8}"/>
              </a:ext>
            </a:extLst>
          </p:cNvPr>
          <p:cNvSpPr>
            <a:spLocks noGrp="1"/>
          </p:cNvSpPr>
          <p:nvPr/>
        </p:nvSpPr>
        <p:spPr>
          <a:xfrm>
            <a:off x="6276975" y="4019550"/>
            <a:ext cx="2352675" cy="838200"/>
          </a:xfrm>
          <a:prstGeom prst="rect">
            <a:avLst/>
          </a:prstGeom>
          <a:solidFill>
            <a:srgbClr val="00766B"/>
          </a:solidFill>
        </p:spPr>
      </p:sp>
      <p:sp>
        <p:nvSpPr>
          <p:cNvPr id="17" name="text-16">
            <a:extLst>
              <a:ext uri="{FF2B5EF4-FFF2-40B4-BE49-F238E27FC236}">
                <a16:creationId xmlns:a16="http://schemas.microsoft.com/office/drawing/2014/main" id="{C1F50400-AE38-46DD-81C8-3E5D13B56C7A}"/>
              </a:ext>
            </a:extLst>
          </p:cNvPr>
          <p:cNvSpPr>
            <a:spLocks noGrp="1"/>
          </p:cNvSpPr>
          <p:nvPr/>
        </p:nvSpPr>
        <p:spPr>
          <a:xfrm>
            <a:off x="6429375" y="4152900"/>
            <a:ext cx="2047875" cy="276225"/>
          </a:xfrm>
          <a:prstGeom prst="rect">
            <a:avLst/>
          </a:prstGeom>
        </p:spPr>
        <p:txBody>
          <a:bodyPr wrap="square" lIns="0" tIns="0" rIns="0" bIns="0" anchor="t"/>
          <a:lstStyle/>
          <a:p>
            <a:pPr>
              <a:defRPr sz="1575" b="1">
                <a:solidFill>
                  <a:srgbClr val="FFFFFF"/>
                </a:solidFill>
                <a:latin typeface="Arial"/>
                <a:ea typeface="Arial"/>
                <a:cs typeface="Arial"/>
              </a:defRPr>
            </a:pPr>
            <a:r>
              <a:t>Audit records</a:t>
            </a:r>
          </a:p>
        </p:txBody>
      </p:sp>
      <p:sp>
        <p:nvSpPr>
          <p:cNvPr id="18" name="text-17">
            <a:extLst>
              <a:ext uri="{FF2B5EF4-FFF2-40B4-BE49-F238E27FC236}">
                <a16:creationId xmlns:a16="http://schemas.microsoft.com/office/drawing/2014/main" id="{C0CA5B5E-8578-41F2-BF7C-06E6C520AD8A}"/>
              </a:ext>
            </a:extLst>
          </p:cNvPr>
          <p:cNvSpPr>
            <a:spLocks noGrp="1"/>
          </p:cNvSpPr>
          <p:nvPr/>
        </p:nvSpPr>
        <p:spPr>
          <a:xfrm>
            <a:off x="6429375" y="4467225"/>
            <a:ext cx="2047875" cy="209550"/>
          </a:xfrm>
          <a:prstGeom prst="rect">
            <a:avLst/>
          </a:prstGeom>
        </p:spPr>
        <p:txBody>
          <a:bodyPr wrap="square" lIns="0" tIns="0" rIns="0" bIns="0" anchor="t"/>
          <a:lstStyle/>
          <a:p>
            <a:pPr>
              <a:defRPr sz="1200" b="0">
                <a:solidFill>
                  <a:srgbClr val="FFFFFF"/>
                </a:solidFill>
                <a:latin typeface="Arial"/>
                <a:ea typeface="Arial"/>
                <a:cs typeface="Arial"/>
              </a:defRPr>
            </a:pPr>
            <a:r>
              <a:t>Run + input identity</a:t>
            </a:r>
          </a:p>
        </p:txBody>
      </p:sp>
      <p:sp>
        <p:nvSpPr>
          <p:cNvPr id="19" name="reconcile">
            <a:extLst>
              <a:ext uri="{FF2B5EF4-FFF2-40B4-BE49-F238E27FC236}">
                <a16:creationId xmlns:a16="http://schemas.microsoft.com/office/drawing/2014/main" id="{D5379C7C-89D6-4805-A4D4-56D3F3CCE1DB}"/>
              </a:ext>
            </a:extLst>
          </p:cNvPr>
          <p:cNvSpPr>
            <a:spLocks noGrp="1"/>
          </p:cNvSpPr>
          <p:nvPr/>
        </p:nvSpPr>
        <p:spPr>
          <a:xfrm>
            <a:off x="9105900" y="4019550"/>
            <a:ext cx="2476500" cy="838200"/>
          </a:xfrm>
          <a:prstGeom prst="rect">
            <a:avLst/>
          </a:prstGeom>
          <a:solidFill>
            <a:srgbClr val="173047"/>
          </a:solidFill>
        </p:spPr>
      </p:sp>
      <p:sp>
        <p:nvSpPr>
          <p:cNvPr id="20" name="text-19">
            <a:extLst>
              <a:ext uri="{FF2B5EF4-FFF2-40B4-BE49-F238E27FC236}">
                <a16:creationId xmlns:a16="http://schemas.microsoft.com/office/drawing/2014/main" id="{64C3DF2C-5D7C-4722-A736-7EDFE51B824F}"/>
              </a:ext>
            </a:extLst>
          </p:cNvPr>
          <p:cNvSpPr>
            <a:spLocks noGrp="1"/>
          </p:cNvSpPr>
          <p:nvPr/>
        </p:nvSpPr>
        <p:spPr>
          <a:xfrm>
            <a:off x="9258300" y="4152900"/>
            <a:ext cx="2171700" cy="276225"/>
          </a:xfrm>
          <a:prstGeom prst="rect">
            <a:avLst/>
          </a:prstGeom>
        </p:spPr>
        <p:txBody>
          <a:bodyPr wrap="square" lIns="0" tIns="0" rIns="0" bIns="0" anchor="t"/>
          <a:lstStyle/>
          <a:p>
            <a:pPr>
              <a:defRPr sz="1575" b="1">
                <a:solidFill>
                  <a:srgbClr val="FFFFFF"/>
                </a:solidFill>
                <a:latin typeface="Arial"/>
                <a:ea typeface="Arial"/>
                <a:cs typeface="Arial"/>
              </a:defRPr>
            </a:pPr>
            <a:r>
              <a:t>Reconcile</a:t>
            </a:r>
          </a:p>
        </p:txBody>
      </p:sp>
      <p:sp>
        <p:nvSpPr>
          <p:cNvPr id="21" name="text-20">
            <a:extLst>
              <a:ext uri="{FF2B5EF4-FFF2-40B4-BE49-F238E27FC236}">
                <a16:creationId xmlns:a16="http://schemas.microsoft.com/office/drawing/2014/main" id="{0BC49C8C-5659-4D27-95B3-71B3D476DC6F}"/>
              </a:ext>
            </a:extLst>
          </p:cNvPr>
          <p:cNvSpPr>
            <a:spLocks noGrp="1"/>
          </p:cNvSpPr>
          <p:nvPr/>
        </p:nvSpPr>
        <p:spPr>
          <a:xfrm>
            <a:off x="9258300" y="4467225"/>
            <a:ext cx="2171700" cy="209550"/>
          </a:xfrm>
          <a:prstGeom prst="rect">
            <a:avLst/>
          </a:prstGeom>
        </p:spPr>
        <p:txBody>
          <a:bodyPr wrap="square" lIns="0" tIns="0" rIns="0" bIns="0" anchor="t"/>
          <a:lstStyle/>
          <a:p>
            <a:pPr>
              <a:defRPr sz="1200" b="0">
                <a:solidFill>
                  <a:srgbClr val="FFFFFF"/>
                </a:solidFill>
                <a:latin typeface="Arial"/>
                <a:ea typeface="Arial"/>
                <a:cs typeface="Arial"/>
              </a:defRPr>
            </a:pPr>
            <a:r>
              <a:t>Missing / extra / duplicate</a:t>
            </a:r>
          </a:p>
        </p:txBody>
      </p:sp>
      <p:sp>
        <p:nvSpPr>
          <p:cNvPr id="22" name="text-21">
            <a:extLst>
              <a:ext uri="{FF2B5EF4-FFF2-40B4-BE49-F238E27FC236}">
                <a16:creationId xmlns:a16="http://schemas.microsoft.com/office/drawing/2014/main" id="{A322FE71-91AE-4AB7-9434-78645EB5F791}"/>
              </a:ext>
            </a:extLst>
          </p:cNvPr>
          <p:cNvSpPr>
            <a:spLocks noGrp="1"/>
          </p:cNvSpPr>
          <p:nvPr/>
        </p:nvSpPr>
        <p:spPr>
          <a:xfrm>
            <a:off x="609600" y="5267325"/>
            <a:ext cx="5095875" cy="342900"/>
          </a:xfrm>
          <a:prstGeom prst="rect">
            <a:avLst/>
          </a:prstGeom>
        </p:spPr>
        <p:txBody>
          <a:bodyPr wrap="square" lIns="0" tIns="0" rIns="0" bIns="0" anchor="t"/>
          <a:lstStyle/>
          <a:p>
            <a:pPr>
              <a:defRPr sz="1875" b="0">
                <a:solidFill>
                  <a:srgbClr val="00766B"/>
                </a:solidFill>
                <a:latin typeface="Consolas"/>
                <a:ea typeface="Consolas"/>
                <a:cs typeface="Consolas"/>
              </a:defRPr>
            </a:pPr>
            <a:r>
              <a:t>latest_report.json</a:t>
            </a:r>
          </a:p>
        </p:txBody>
      </p:sp>
      <p:sp>
        <p:nvSpPr>
          <p:cNvPr id="23" name="text-22">
            <a:extLst>
              <a:ext uri="{FF2B5EF4-FFF2-40B4-BE49-F238E27FC236}">
                <a16:creationId xmlns:a16="http://schemas.microsoft.com/office/drawing/2014/main" id="{C156C377-1873-4C0F-852F-0C6D91F23660}"/>
              </a:ext>
            </a:extLst>
          </p:cNvPr>
          <p:cNvSpPr>
            <a:spLocks noGrp="1"/>
          </p:cNvSpPr>
          <p:nvPr/>
        </p:nvSpPr>
        <p:spPr>
          <a:xfrm>
            <a:off x="609600" y="5686425"/>
            <a:ext cx="5095875" cy="333375"/>
          </a:xfrm>
          <a:prstGeom prst="rect">
            <a:avLst/>
          </a:prstGeom>
        </p:spPr>
        <p:txBody>
          <a:bodyPr wrap="square" lIns="0" tIns="0" rIns="0" bIns="0" anchor="t"/>
          <a:lstStyle/>
          <a:p>
            <a:pPr>
              <a:defRPr sz="1575" b="0">
                <a:solidFill>
                  <a:srgbClr val="546573"/>
                </a:solidFill>
                <a:latin typeface="Arial"/>
                <a:ea typeface="Arial"/>
                <a:cs typeface="Arial"/>
              </a:defRPr>
            </a:pPr>
            <a:r>
              <a:t>Aggregate metrics and run evidence</a:t>
            </a:r>
          </a:p>
        </p:txBody>
      </p:sp>
      <p:sp>
        <p:nvSpPr>
          <p:cNvPr id="24" name="text-23">
            <a:extLst>
              <a:ext uri="{FF2B5EF4-FFF2-40B4-BE49-F238E27FC236}">
                <a16:creationId xmlns:a16="http://schemas.microsoft.com/office/drawing/2014/main" id="{C1B30C7D-4B83-43B8-BC9B-3F341C5D9804}"/>
              </a:ext>
            </a:extLst>
          </p:cNvPr>
          <p:cNvSpPr>
            <a:spLocks noGrp="1"/>
          </p:cNvSpPr>
          <p:nvPr/>
        </p:nvSpPr>
        <p:spPr>
          <a:xfrm>
            <a:off x="6276975" y="5267325"/>
            <a:ext cx="5305425" cy="342900"/>
          </a:xfrm>
          <a:prstGeom prst="rect">
            <a:avLst/>
          </a:prstGeom>
        </p:spPr>
        <p:txBody>
          <a:bodyPr wrap="square" lIns="0" tIns="0" rIns="0" bIns="0" anchor="t"/>
          <a:lstStyle/>
          <a:p>
            <a:pPr>
              <a:defRPr sz="1875" b="0">
                <a:solidFill>
                  <a:srgbClr val="00766B"/>
                </a:solidFill>
                <a:latin typeface="Consolas"/>
                <a:ea typeface="Consolas"/>
                <a:cs typeface="Consolas"/>
              </a:defRPr>
            </a:pPr>
            <a:r>
              <a:t>latest_ticket_results.json</a:t>
            </a:r>
          </a:p>
        </p:txBody>
      </p:sp>
      <p:sp>
        <p:nvSpPr>
          <p:cNvPr id="25" name="text-24">
            <a:extLst>
              <a:ext uri="{FF2B5EF4-FFF2-40B4-BE49-F238E27FC236}">
                <a16:creationId xmlns:a16="http://schemas.microsoft.com/office/drawing/2014/main" id="{B74F93A8-C6CC-4902-9B1B-81D34B7D1C80}"/>
              </a:ext>
            </a:extLst>
          </p:cNvPr>
          <p:cNvSpPr>
            <a:spLocks noGrp="1"/>
          </p:cNvSpPr>
          <p:nvPr/>
        </p:nvSpPr>
        <p:spPr>
          <a:xfrm>
            <a:off x="6276975" y="5686425"/>
            <a:ext cx="5305425" cy="333375"/>
          </a:xfrm>
          <a:prstGeom prst="rect">
            <a:avLst/>
          </a:prstGeom>
        </p:spPr>
        <p:txBody>
          <a:bodyPr wrap="square" lIns="0" tIns="0" rIns="0" bIns="0" anchor="t"/>
          <a:lstStyle/>
          <a:p>
            <a:pPr>
              <a:defRPr sz="1575" b="0">
                <a:solidFill>
                  <a:srgbClr val="546573"/>
                </a:solidFill>
                <a:latin typeface="Arial"/>
                <a:ea typeface="Arial"/>
                <a:cs typeface="Arial"/>
              </a:defRPr>
            </a:pPr>
            <a:r>
              <a:t>Per-ticket route, draft, checks and reasons</a:t>
            </a:r>
          </a:p>
        </p:txBody>
      </p:sp>
      <p:cxnSp>
        <p:nvCxnSpPr>
          <p:cNvPr id="26" name="Straight Arrow Connector 25"/>
          <p:cNvCxnSpPr>
            <a:stCxn id="10" idx="3"/>
            <a:endCxn id="13" idx="1"/>
          </p:cNvCxnSpPr>
          <p:nvPr/>
        </p:nvCxnSpPr>
        <p:spPr>
          <a:xfrm>
            <a:off x="2876550" y="4438650"/>
            <a:ext cx="495300" cy="0"/>
          </a:xfrm>
          <a:prstGeom prst="straightConnector1">
            <a:avLst/>
          </a:prstGeom>
          <a:ln w="19050">
            <a:solidFill>
              <a:srgbClr val="546573"/>
            </a:solidFill>
            <a:prstDash val="solid"/>
            <a:tailEnd type="arrow" w="med" len="med"/>
          </a:ln>
        </p:spPr>
      </p:cxnSp>
      <p:cxnSp>
        <p:nvCxnSpPr>
          <p:cNvPr id="27" name="Straight Arrow Connector 26"/>
          <p:cNvCxnSpPr>
            <a:stCxn id="13" idx="3"/>
            <a:endCxn id="16" idx="1"/>
          </p:cNvCxnSpPr>
          <p:nvPr/>
        </p:nvCxnSpPr>
        <p:spPr>
          <a:xfrm>
            <a:off x="5781675" y="4438650"/>
            <a:ext cx="495300" cy="0"/>
          </a:xfrm>
          <a:prstGeom prst="straightConnector1">
            <a:avLst/>
          </a:prstGeom>
          <a:ln w="19050">
            <a:solidFill>
              <a:srgbClr val="546573"/>
            </a:solidFill>
            <a:prstDash val="solid"/>
            <a:tailEnd type="arrow" w="med" len="med"/>
          </a:ln>
        </p:spPr>
      </p:cxnSp>
      <p:cxnSp>
        <p:nvCxnSpPr>
          <p:cNvPr id="28" name="Straight Arrow Connector 27"/>
          <p:cNvCxnSpPr>
            <a:stCxn id="16" idx="3"/>
            <a:endCxn id="19" idx="1"/>
          </p:cNvCxnSpPr>
          <p:nvPr/>
        </p:nvCxnSpPr>
        <p:spPr>
          <a:xfrm>
            <a:off x="8629650" y="4438650"/>
            <a:ext cx="476250" cy="0"/>
          </a:xfrm>
          <a:prstGeom prst="straightConnector1">
            <a:avLst/>
          </a:prstGeom>
          <a:ln w="19050">
            <a:solidFill>
              <a:srgbClr val="546573"/>
            </a:solidFill>
            <a:prstDash val="solid"/>
            <a:tailEnd type="arrow" w="med" len="med"/>
          </a:ln>
        </p:spPr>
      </p:cxnSp>
    </p:spTree>
    <p:extLst>
      <p:ext uri="{BB962C8B-B14F-4D97-AF65-F5344CB8AC3E}">
        <p14:creationId xmlns:p14="http://schemas.microsoft.com/office/powerpoint/2010/main" val="1414850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55" name="kicker-marker">
            <a:extLst>
              <a:ext uri="{FF2B5EF4-FFF2-40B4-BE49-F238E27FC236}">
                <a16:creationId xmlns:a16="http://schemas.microsoft.com/office/drawing/2014/main" id="{A24573DC-14B2-4846-B126-DEC1F8B902E9}"/>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D2CB9A1F-3411-4F30-835A-BD017E339A92}"/>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SAVED RESULTS · 80 TICKETS</a:t>
            </a:r>
          </a:p>
        </p:txBody>
      </p:sp>
      <p:sp>
        <p:nvSpPr>
          <p:cNvPr id="3" name="text-2">
            <a:extLst>
              <a:ext uri="{FF2B5EF4-FFF2-40B4-BE49-F238E27FC236}">
                <a16:creationId xmlns:a16="http://schemas.microsoft.com/office/drawing/2014/main" id="{B56A1A82-E360-4457-A64C-25CB25FC5B4A}"/>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The run passes seven operational</a:t>
            </a:r>
          </a:p>
          <a:p>
            <a:pPr>
              <a:defRPr sz="3150" b="0">
                <a:solidFill>
                  <a:srgbClr val="173047"/>
                </a:solidFill>
                <a:latin typeface="Georgia"/>
                <a:ea typeface="Georgia"/>
                <a:cs typeface="Georgia"/>
              </a:defRPr>
            </a:pPr>
            <a:r>
              <a:t>KPIs and produces 56 automatic drafts</a:t>
            </a:r>
          </a:p>
        </p:txBody>
      </p:sp>
      <p:sp>
        <p:nvSpPr>
          <p:cNvPr id="4" name="shape-3">
            <a:extLst>
              <a:ext uri="{FF2B5EF4-FFF2-40B4-BE49-F238E27FC236}">
                <a16:creationId xmlns:a16="http://schemas.microsoft.com/office/drawing/2014/main" id="{FC582B88-8571-4A26-859A-23622EF3DA76}"/>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2DA19C91-376B-41AC-BB9C-AA0496D59108}"/>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evaluation/results/latest_report.json · saved 20 Sep 2026 · legacy_operational_proxies schema 2.1</a:t>
            </a:r>
          </a:p>
        </p:txBody>
      </p:sp>
      <p:sp>
        <p:nvSpPr>
          <p:cNvPr id="6" name="text-5">
            <a:extLst>
              <a:ext uri="{FF2B5EF4-FFF2-40B4-BE49-F238E27FC236}">
                <a16:creationId xmlns:a16="http://schemas.microsoft.com/office/drawing/2014/main" id="{600B4A74-BDDB-4979-A518-782DA6D55DB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19</a:t>
            </a:r>
          </a:p>
        </p:txBody>
      </p:sp>
      <p:sp>
        <p:nvSpPr>
          <p:cNvPr id="7" name="shape-6">
            <a:extLst>
              <a:ext uri="{FF2B5EF4-FFF2-40B4-BE49-F238E27FC236}">
                <a16:creationId xmlns:a16="http://schemas.microsoft.com/office/drawing/2014/main" id="{C6FDBD35-4E64-4C18-BADE-EA8DF7E62A42}"/>
              </a:ext>
            </a:extLst>
          </p:cNvPr>
          <p:cNvSpPr>
            <a:spLocks noGrp="1"/>
          </p:cNvSpPr>
          <p:nvPr/>
        </p:nvSpPr>
        <p:spPr>
          <a:xfrm>
            <a:off x="609600" y="2076450"/>
            <a:ext cx="1973580" cy="381000"/>
          </a:xfrm>
          <a:prstGeom prst="rect">
            <a:avLst/>
          </a:prstGeom>
          <a:solidFill>
            <a:srgbClr val="00766B"/>
          </a:solidFill>
        </p:spPr>
      </p:sp>
      <p:sp>
        <p:nvSpPr>
          <p:cNvPr id="8" name="shape-7">
            <a:extLst>
              <a:ext uri="{FF2B5EF4-FFF2-40B4-BE49-F238E27FC236}">
                <a16:creationId xmlns:a16="http://schemas.microsoft.com/office/drawing/2014/main" id="{B7944BF8-3C1A-49B6-B957-D53A430362E0}"/>
              </a:ext>
            </a:extLst>
          </p:cNvPr>
          <p:cNvSpPr>
            <a:spLocks noGrp="1"/>
          </p:cNvSpPr>
          <p:nvPr/>
        </p:nvSpPr>
        <p:spPr>
          <a:xfrm>
            <a:off x="2583180" y="2076450"/>
            <a:ext cx="845820" cy="381000"/>
          </a:xfrm>
          <a:prstGeom prst="rect">
            <a:avLst/>
          </a:prstGeom>
          <a:solidFill>
            <a:srgbClr val="B87522"/>
          </a:solidFill>
        </p:spPr>
      </p:sp>
      <p:sp>
        <p:nvSpPr>
          <p:cNvPr id="9" name="text-8">
            <a:extLst>
              <a:ext uri="{FF2B5EF4-FFF2-40B4-BE49-F238E27FC236}">
                <a16:creationId xmlns:a16="http://schemas.microsoft.com/office/drawing/2014/main" id="{FDF47EE1-956A-4764-B155-F03727D20E62}"/>
              </a:ext>
            </a:extLst>
          </p:cNvPr>
          <p:cNvSpPr>
            <a:spLocks noGrp="1"/>
          </p:cNvSpPr>
          <p:nvPr/>
        </p:nvSpPr>
        <p:spPr>
          <a:xfrm>
            <a:off x="609600" y="2819400"/>
            <a:ext cx="2619375" cy="847725"/>
          </a:xfrm>
          <a:prstGeom prst="rect">
            <a:avLst/>
          </a:prstGeom>
        </p:spPr>
        <p:txBody>
          <a:bodyPr wrap="square" lIns="0" tIns="0" rIns="0" bIns="0" anchor="t"/>
          <a:lstStyle/>
          <a:p>
            <a:pPr>
              <a:defRPr sz="5400" b="0">
                <a:solidFill>
                  <a:srgbClr val="00766B"/>
                </a:solidFill>
                <a:latin typeface="Georgia"/>
                <a:ea typeface="Georgia"/>
                <a:cs typeface="Georgia"/>
              </a:defRPr>
            </a:pPr>
            <a:r>
              <a:t>56</a:t>
            </a:r>
          </a:p>
        </p:txBody>
      </p:sp>
      <p:sp>
        <p:nvSpPr>
          <p:cNvPr id="10" name="text-9">
            <a:extLst>
              <a:ext uri="{FF2B5EF4-FFF2-40B4-BE49-F238E27FC236}">
                <a16:creationId xmlns:a16="http://schemas.microsoft.com/office/drawing/2014/main" id="{8469A3A2-7FF3-454C-9763-B7A741BD88D0}"/>
              </a:ext>
            </a:extLst>
          </p:cNvPr>
          <p:cNvSpPr>
            <a:spLocks noGrp="1"/>
          </p:cNvSpPr>
          <p:nvPr/>
        </p:nvSpPr>
        <p:spPr>
          <a:xfrm>
            <a:off x="609600" y="3686175"/>
            <a:ext cx="2809875" cy="571500"/>
          </a:xfrm>
          <a:prstGeom prst="rect">
            <a:avLst/>
          </a:prstGeom>
        </p:spPr>
        <p:txBody>
          <a:bodyPr wrap="square" lIns="0" tIns="0" rIns="0" bIns="0" anchor="t"/>
          <a:lstStyle/>
          <a:p>
            <a:pPr>
              <a:defRPr sz="1650" b="0">
                <a:solidFill>
                  <a:srgbClr val="173047"/>
                </a:solidFill>
                <a:latin typeface="Arial"/>
                <a:ea typeface="Arial"/>
                <a:cs typeface="Arial"/>
              </a:defRPr>
            </a:pPr>
            <a:r>
              <a:t>automatic drafts / 70%</a:t>
            </a:r>
          </a:p>
        </p:txBody>
      </p:sp>
      <p:sp>
        <p:nvSpPr>
          <p:cNvPr id="11" name="text-10">
            <a:extLst>
              <a:ext uri="{FF2B5EF4-FFF2-40B4-BE49-F238E27FC236}">
                <a16:creationId xmlns:a16="http://schemas.microsoft.com/office/drawing/2014/main" id="{F49E6CF6-D9B7-48BA-8C0C-6683668E0F50}"/>
              </a:ext>
            </a:extLst>
          </p:cNvPr>
          <p:cNvSpPr>
            <a:spLocks noGrp="1"/>
          </p:cNvSpPr>
          <p:nvPr/>
        </p:nvSpPr>
        <p:spPr>
          <a:xfrm>
            <a:off x="609600" y="4410075"/>
            <a:ext cx="2619375" cy="847725"/>
          </a:xfrm>
          <a:prstGeom prst="rect">
            <a:avLst/>
          </a:prstGeom>
        </p:spPr>
        <p:txBody>
          <a:bodyPr wrap="square" lIns="0" tIns="0" rIns="0" bIns="0" anchor="t"/>
          <a:lstStyle/>
          <a:p>
            <a:pPr>
              <a:defRPr sz="5400" b="0">
                <a:solidFill>
                  <a:srgbClr val="B87522"/>
                </a:solidFill>
                <a:latin typeface="Georgia"/>
                <a:ea typeface="Georgia"/>
                <a:cs typeface="Georgia"/>
              </a:defRPr>
            </a:pPr>
            <a:r>
              <a:t>24</a:t>
            </a:r>
          </a:p>
        </p:txBody>
      </p:sp>
      <p:sp>
        <p:nvSpPr>
          <p:cNvPr id="12" name="text-11">
            <a:extLst>
              <a:ext uri="{FF2B5EF4-FFF2-40B4-BE49-F238E27FC236}">
                <a16:creationId xmlns:a16="http://schemas.microsoft.com/office/drawing/2014/main" id="{DC822011-50F3-47AB-AC17-EFA1D53B9E01}"/>
              </a:ext>
            </a:extLst>
          </p:cNvPr>
          <p:cNvSpPr>
            <a:spLocks noGrp="1"/>
          </p:cNvSpPr>
          <p:nvPr/>
        </p:nvSpPr>
        <p:spPr>
          <a:xfrm>
            <a:off x="609600" y="5286375"/>
            <a:ext cx="2809875" cy="457200"/>
          </a:xfrm>
          <a:prstGeom prst="rect">
            <a:avLst/>
          </a:prstGeom>
        </p:spPr>
        <p:txBody>
          <a:bodyPr wrap="square" lIns="0" tIns="0" rIns="0" bIns="0" anchor="t"/>
          <a:lstStyle/>
          <a:p>
            <a:pPr>
              <a:defRPr sz="1650" b="0">
                <a:solidFill>
                  <a:srgbClr val="173047"/>
                </a:solidFill>
                <a:latin typeface="Arial"/>
                <a:ea typeface="Arial"/>
                <a:cs typeface="Arial"/>
              </a:defRPr>
            </a:pPr>
            <a:r>
              <a:t>escalations / 30%</a:t>
            </a:r>
          </a:p>
        </p:txBody>
      </p:sp>
      <p:sp>
        <p:nvSpPr>
          <p:cNvPr id="13" name="shape-12">
            <a:extLst>
              <a:ext uri="{FF2B5EF4-FFF2-40B4-BE49-F238E27FC236}">
                <a16:creationId xmlns:a16="http://schemas.microsoft.com/office/drawing/2014/main" id="{D230C38F-B348-4216-A572-85A1A67BFCD8}"/>
              </a:ext>
            </a:extLst>
          </p:cNvPr>
          <p:cNvSpPr>
            <a:spLocks noGrp="1"/>
          </p:cNvSpPr>
          <p:nvPr/>
        </p:nvSpPr>
        <p:spPr>
          <a:xfrm>
            <a:off x="4305300" y="2028825"/>
            <a:ext cx="7277100" cy="381000"/>
          </a:xfrm>
          <a:prstGeom prst="rect">
            <a:avLst/>
          </a:prstGeom>
          <a:solidFill>
            <a:srgbClr val="E3ECE8"/>
          </a:solidFill>
        </p:spPr>
      </p:sp>
      <p:sp>
        <p:nvSpPr>
          <p:cNvPr id="14" name="text-13">
            <a:extLst>
              <a:ext uri="{FF2B5EF4-FFF2-40B4-BE49-F238E27FC236}">
                <a16:creationId xmlns:a16="http://schemas.microsoft.com/office/drawing/2014/main" id="{FEED9A27-49FC-4D4C-A5DE-485B06647FCC}"/>
              </a:ext>
            </a:extLst>
          </p:cNvPr>
          <p:cNvSpPr>
            <a:spLocks noGrp="1"/>
          </p:cNvSpPr>
          <p:nvPr/>
        </p:nvSpPr>
        <p:spPr>
          <a:xfrm>
            <a:off x="4419600" y="2143125"/>
            <a:ext cx="628650" cy="152400"/>
          </a:xfrm>
          <a:prstGeom prst="rect">
            <a:avLst/>
          </a:prstGeom>
        </p:spPr>
        <p:txBody>
          <a:bodyPr wrap="square" lIns="0" tIns="0" rIns="0" bIns="0" anchor="t"/>
          <a:lstStyle/>
          <a:p>
            <a:pPr>
              <a:defRPr sz="975" b="1">
                <a:solidFill>
                  <a:srgbClr val="00766B"/>
                </a:solidFill>
                <a:latin typeface="Arial"/>
                <a:ea typeface="Arial"/>
                <a:cs typeface="Arial"/>
              </a:defRPr>
            </a:pPr>
            <a:r>
              <a:t>KPI</a:t>
            </a:r>
          </a:p>
        </p:txBody>
      </p:sp>
      <p:sp>
        <p:nvSpPr>
          <p:cNvPr id="15" name="text-14">
            <a:extLst>
              <a:ext uri="{FF2B5EF4-FFF2-40B4-BE49-F238E27FC236}">
                <a16:creationId xmlns:a16="http://schemas.microsoft.com/office/drawing/2014/main" id="{98CA14D1-DAD3-4710-BA50-1CB91CF2B3EF}"/>
              </a:ext>
            </a:extLst>
          </p:cNvPr>
          <p:cNvSpPr>
            <a:spLocks noGrp="1"/>
          </p:cNvSpPr>
          <p:nvPr/>
        </p:nvSpPr>
        <p:spPr>
          <a:xfrm>
            <a:off x="5276850" y="2143125"/>
            <a:ext cx="3295650" cy="152400"/>
          </a:xfrm>
          <a:prstGeom prst="rect">
            <a:avLst/>
          </a:prstGeom>
        </p:spPr>
        <p:txBody>
          <a:bodyPr wrap="square" lIns="0" tIns="0" rIns="0" bIns="0" anchor="t"/>
          <a:lstStyle/>
          <a:p>
            <a:pPr>
              <a:defRPr sz="975" b="1">
                <a:solidFill>
                  <a:srgbClr val="00766B"/>
                </a:solidFill>
                <a:latin typeface="Arial"/>
                <a:ea typeface="Arial"/>
                <a:cs typeface="Arial"/>
              </a:defRPr>
            </a:pPr>
            <a:r>
              <a:t>OPERATIONAL MEASURE</a:t>
            </a:r>
          </a:p>
        </p:txBody>
      </p:sp>
      <p:sp>
        <p:nvSpPr>
          <p:cNvPr id="16" name="text-15">
            <a:extLst>
              <a:ext uri="{FF2B5EF4-FFF2-40B4-BE49-F238E27FC236}">
                <a16:creationId xmlns:a16="http://schemas.microsoft.com/office/drawing/2014/main" id="{F40AEBC0-B4AF-4009-AF0A-AB2EEF973ED9}"/>
              </a:ext>
            </a:extLst>
          </p:cNvPr>
          <p:cNvSpPr>
            <a:spLocks noGrp="1"/>
          </p:cNvSpPr>
          <p:nvPr/>
        </p:nvSpPr>
        <p:spPr>
          <a:xfrm>
            <a:off x="8801100" y="2143125"/>
            <a:ext cx="1276350" cy="152400"/>
          </a:xfrm>
          <a:prstGeom prst="rect">
            <a:avLst/>
          </a:prstGeom>
        </p:spPr>
        <p:txBody>
          <a:bodyPr wrap="square" lIns="0" tIns="0" rIns="0" bIns="0" anchor="t"/>
          <a:lstStyle/>
          <a:p>
            <a:pPr>
              <a:defRPr sz="975" b="1">
                <a:solidFill>
                  <a:srgbClr val="00766B"/>
                </a:solidFill>
                <a:latin typeface="Arial"/>
                <a:ea typeface="Arial"/>
                <a:cs typeface="Arial"/>
              </a:defRPr>
            </a:pPr>
            <a:r>
              <a:t>RESULT</a:t>
            </a:r>
          </a:p>
        </p:txBody>
      </p:sp>
      <p:sp>
        <p:nvSpPr>
          <p:cNvPr id="17" name="text-16">
            <a:extLst>
              <a:ext uri="{FF2B5EF4-FFF2-40B4-BE49-F238E27FC236}">
                <a16:creationId xmlns:a16="http://schemas.microsoft.com/office/drawing/2014/main" id="{B1706D1F-F94A-416A-AB46-1C21F9D5C272}"/>
              </a:ext>
            </a:extLst>
          </p:cNvPr>
          <p:cNvSpPr>
            <a:spLocks noGrp="1"/>
          </p:cNvSpPr>
          <p:nvPr/>
        </p:nvSpPr>
        <p:spPr>
          <a:xfrm>
            <a:off x="10306050" y="2143125"/>
            <a:ext cx="1162050" cy="152400"/>
          </a:xfrm>
          <a:prstGeom prst="rect">
            <a:avLst/>
          </a:prstGeom>
        </p:spPr>
        <p:txBody>
          <a:bodyPr wrap="square" lIns="0" tIns="0" rIns="0" bIns="0" anchor="t"/>
          <a:lstStyle/>
          <a:p>
            <a:pPr>
              <a:defRPr sz="975" b="1">
                <a:solidFill>
                  <a:srgbClr val="00766B"/>
                </a:solidFill>
                <a:latin typeface="Arial"/>
                <a:ea typeface="Arial"/>
                <a:cs typeface="Arial"/>
              </a:defRPr>
            </a:pPr>
            <a:r>
              <a:t>TARGET</a:t>
            </a:r>
          </a:p>
        </p:txBody>
      </p:sp>
      <p:sp>
        <p:nvSpPr>
          <p:cNvPr id="18" name="text-17">
            <a:extLst>
              <a:ext uri="{FF2B5EF4-FFF2-40B4-BE49-F238E27FC236}">
                <a16:creationId xmlns:a16="http://schemas.microsoft.com/office/drawing/2014/main" id="{5C62885C-1352-4C3C-AA35-4A6F8659CCCE}"/>
              </a:ext>
            </a:extLst>
          </p:cNvPr>
          <p:cNvSpPr>
            <a:spLocks noGrp="1"/>
          </p:cNvSpPr>
          <p:nvPr/>
        </p:nvSpPr>
        <p:spPr>
          <a:xfrm>
            <a:off x="4419600" y="2524125"/>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KPI-01</a:t>
            </a:r>
          </a:p>
        </p:txBody>
      </p:sp>
      <p:sp>
        <p:nvSpPr>
          <p:cNvPr id="19" name="text-18">
            <a:extLst>
              <a:ext uri="{FF2B5EF4-FFF2-40B4-BE49-F238E27FC236}">
                <a16:creationId xmlns:a16="http://schemas.microsoft.com/office/drawing/2014/main" id="{BB5DE30C-C7D3-475F-8CDE-A30BDEFD4111}"/>
              </a:ext>
            </a:extLst>
          </p:cNvPr>
          <p:cNvSpPr>
            <a:spLocks noGrp="1"/>
          </p:cNvSpPr>
          <p:nvPr/>
        </p:nvSpPr>
        <p:spPr>
          <a:xfrm>
            <a:off x="5276850" y="2524125"/>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Automation / FCR proxy</a:t>
            </a:r>
          </a:p>
        </p:txBody>
      </p:sp>
      <p:sp>
        <p:nvSpPr>
          <p:cNvPr id="20" name="text-19">
            <a:extLst>
              <a:ext uri="{FF2B5EF4-FFF2-40B4-BE49-F238E27FC236}">
                <a16:creationId xmlns:a16="http://schemas.microsoft.com/office/drawing/2014/main" id="{2AA5C44B-4248-4C55-92BA-0F3F4B707B7F}"/>
              </a:ext>
            </a:extLst>
          </p:cNvPr>
          <p:cNvSpPr>
            <a:spLocks noGrp="1"/>
          </p:cNvSpPr>
          <p:nvPr/>
        </p:nvSpPr>
        <p:spPr>
          <a:xfrm>
            <a:off x="8801100" y="2524125"/>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70.00%</a:t>
            </a:r>
          </a:p>
        </p:txBody>
      </p:sp>
      <p:sp>
        <p:nvSpPr>
          <p:cNvPr id="21" name="text-20">
            <a:extLst>
              <a:ext uri="{FF2B5EF4-FFF2-40B4-BE49-F238E27FC236}">
                <a16:creationId xmlns:a16="http://schemas.microsoft.com/office/drawing/2014/main" id="{66F66D3B-0726-49EC-B43F-E7EE9833F27A}"/>
              </a:ext>
            </a:extLst>
          </p:cNvPr>
          <p:cNvSpPr>
            <a:spLocks noGrp="1"/>
          </p:cNvSpPr>
          <p:nvPr/>
        </p:nvSpPr>
        <p:spPr>
          <a:xfrm>
            <a:off x="10306050" y="2524125"/>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≥60%</a:t>
            </a:r>
          </a:p>
        </p:txBody>
      </p:sp>
      <p:sp>
        <p:nvSpPr>
          <p:cNvPr id="22" name="shape-21">
            <a:extLst>
              <a:ext uri="{FF2B5EF4-FFF2-40B4-BE49-F238E27FC236}">
                <a16:creationId xmlns:a16="http://schemas.microsoft.com/office/drawing/2014/main" id="{46DB581B-7DB6-41D1-8941-C858C9333E76}"/>
              </a:ext>
            </a:extLst>
          </p:cNvPr>
          <p:cNvSpPr>
            <a:spLocks noGrp="1"/>
          </p:cNvSpPr>
          <p:nvPr/>
        </p:nvSpPr>
        <p:spPr>
          <a:xfrm>
            <a:off x="4305300" y="2857500"/>
            <a:ext cx="7277100" cy="9525"/>
          </a:xfrm>
          <a:prstGeom prst="rect">
            <a:avLst/>
          </a:prstGeom>
          <a:solidFill>
            <a:srgbClr val="CDD3D2"/>
          </a:solidFill>
        </p:spPr>
      </p:sp>
      <p:sp>
        <p:nvSpPr>
          <p:cNvPr id="23" name="text-22">
            <a:extLst>
              <a:ext uri="{FF2B5EF4-FFF2-40B4-BE49-F238E27FC236}">
                <a16:creationId xmlns:a16="http://schemas.microsoft.com/office/drawing/2014/main" id="{F9634DFF-631E-4ED3-A556-2511A6E0F5DE}"/>
              </a:ext>
            </a:extLst>
          </p:cNvPr>
          <p:cNvSpPr>
            <a:spLocks noGrp="1"/>
          </p:cNvSpPr>
          <p:nvPr/>
        </p:nvSpPr>
        <p:spPr>
          <a:xfrm>
            <a:off x="4419600" y="2971800"/>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KPI-02</a:t>
            </a:r>
          </a:p>
        </p:txBody>
      </p:sp>
      <p:sp>
        <p:nvSpPr>
          <p:cNvPr id="24" name="text-23">
            <a:extLst>
              <a:ext uri="{FF2B5EF4-FFF2-40B4-BE49-F238E27FC236}">
                <a16:creationId xmlns:a16="http://schemas.microsoft.com/office/drawing/2014/main" id="{6B469BAC-A4C9-460D-8D50-7548C03FD5B9}"/>
              </a:ext>
            </a:extLst>
          </p:cNvPr>
          <p:cNvSpPr>
            <a:spLocks noGrp="1"/>
          </p:cNvSpPr>
          <p:nvPr/>
        </p:nvSpPr>
        <p:spPr>
          <a:xfrm>
            <a:off x="5276850" y="2971800"/>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Escalation rate</a:t>
            </a:r>
          </a:p>
        </p:txBody>
      </p:sp>
      <p:sp>
        <p:nvSpPr>
          <p:cNvPr id="25" name="text-24">
            <a:extLst>
              <a:ext uri="{FF2B5EF4-FFF2-40B4-BE49-F238E27FC236}">
                <a16:creationId xmlns:a16="http://schemas.microsoft.com/office/drawing/2014/main" id="{AB445F3B-C058-4DE4-B434-B9F82F861CD8}"/>
              </a:ext>
            </a:extLst>
          </p:cNvPr>
          <p:cNvSpPr>
            <a:spLocks noGrp="1"/>
          </p:cNvSpPr>
          <p:nvPr/>
        </p:nvSpPr>
        <p:spPr>
          <a:xfrm>
            <a:off x="8801100" y="2971800"/>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30.00%</a:t>
            </a:r>
          </a:p>
        </p:txBody>
      </p:sp>
      <p:sp>
        <p:nvSpPr>
          <p:cNvPr id="26" name="text-25">
            <a:extLst>
              <a:ext uri="{FF2B5EF4-FFF2-40B4-BE49-F238E27FC236}">
                <a16:creationId xmlns:a16="http://schemas.microsoft.com/office/drawing/2014/main" id="{6420B781-C2B5-416D-A37B-D2FD5AB5995E}"/>
              </a:ext>
            </a:extLst>
          </p:cNvPr>
          <p:cNvSpPr>
            <a:spLocks noGrp="1"/>
          </p:cNvSpPr>
          <p:nvPr/>
        </p:nvSpPr>
        <p:spPr>
          <a:xfrm>
            <a:off x="10306050" y="2971800"/>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≤30%</a:t>
            </a:r>
          </a:p>
        </p:txBody>
      </p:sp>
      <p:sp>
        <p:nvSpPr>
          <p:cNvPr id="27" name="shape-26">
            <a:extLst>
              <a:ext uri="{FF2B5EF4-FFF2-40B4-BE49-F238E27FC236}">
                <a16:creationId xmlns:a16="http://schemas.microsoft.com/office/drawing/2014/main" id="{AAA5AA9C-E0DD-439E-B3C2-286B7F8DCF30}"/>
              </a:ext>
            </a:extLst>
          </p:cNvPr>
          <p:cNvSpPr>
            <a:spLocks noGrp="1"/>
          </p:cNvSpPr>
          <p:nvPr/>
        </p:nvSpPr>
        <p:spPr>
          <a:xfrm>
            <a:off x="4305300" y="3305175"/>
            <a:ext cx="7277100" cy="9525"/>
          </a:xfrm>
          <a:prstGeom prst="rect">
            <a:avLst/>
          </a:prstGeom>
          <a:solidFill>
            <a:srgbClr val="CDD3D2"/>
          </a:solidFill>
        </p:spPr>
      </p:sp>
      <p:sp>
        <p:nvSpPr>
          <p:cNvPr id="28" name="text-27">
            <a:extLst>
              <a:ext uri="{FF2B5EF4-FFF2-40B4-BE49-F238E27FC236}">
                <a16:creationId xmlns:a16="http://schemas.microsoft.com/office/drawing/2014/main" id="{9DDACAFA-07B0-4F53-B431-9702BB18AB80}"/>
              </a:ext>
            </a:extLst>
          </p:cNvPr>
          <p:cNvSpPr>
            <a:spLocks noGrp="1"/>
          </p:cNvSpPr>
          <p:nvPr/>
        </p:nvSpPr>
        <p:spPr>
          <a:xfrm>
            <a:off x="4419600" y="3419475"/>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KPI-03</a:t>
            </a:r>
          </a:p>
        </p:txBody>
      </p:sp>
      <p:sp>
        <p:nvSpPr>
          <p:cNvPr id="29" name="text-28">
            <a:extLst>
              <a:ext uri="{FF2B5EF4-FFF2-40B4-BE49-F238E27FC236}">
                <a16:creationId xmlns:a16="http://schemas.microsoft.com/office/drawing/2014/main" id="{8DD15786-2F01-4882-B366-3E503688B829}"/>
              </a:ext>
            </a:extLst>
          </p:cNvPr>
          <p:cNvSpPr>
            <a:spLocks noGrp="1"/>
          </p:cNvSpPr>
          <p:nvPr/>
        </p:nvSpPr>
        <p:spPr>
          <a:xfrm>
            <a:off x="5276850" y="3419475"/>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P95 processing latency</a:t>
            </a:r>
          </a:p>
        </p:txBody>
      </p:sp>
      <p:sp>
        <p:nvSpPr>
          <p:cNvPr id="30" name="text-29">
            <a:extLst>
              <a:ext uri="{FF2B5EF4-FFF2-40B4-BE49-F238E27FC236}">
                <a16:creationId xmlns:a16="http://schemas.microsoft.com/office/drawing/2014/main" id="{819EC87A-4C47-431B-8F7D-226E4FECE599}"/>
              </a:ext>
            </a:extLst>
          </p:cNvPr>
          <p:cNvSpPr>
            <a:spLocks noGrp="1"/>
          </p:cNvSpPr>
          <p:nvPr/>
        </p:nvSpPr>
        <p:spPr>
          <a:xfrm>
            <a:off x="8801100" y="3419475"/>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12.287 s</a:t>
            </a:r>
          </a:p>
        </p:txBody>
      </p:sp>
      <p:sp>
        <p:nvSpPr>
          <p:cNvPr id="31" name="text-30">
            <a:extLst>
              <a:ext uri="{FF2B5EF4-FFF2-40B4-BE49-F238E27FC236}">
                <a16:creationId xmlns:a16="http://schemas.microsoft.com/office/drawing/2014/main" id="{82379F6D-B92A-4E7E-8B6F-CC58320278CD}"/>
              </a:ext>
            </a:extLst>
          </p:cNvPr>
          <p:cNvSpPr>
            <a:spLocks noGrp="1"/>
          </p:cNvSpPr>
          <p:nvPr/>
        </p:nvSpPr>
        <p:spPr>
          <a:xfrm>
            <a:off x="10306050" y="3419475"/>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&lt;300 s*</a:t>
            </a:r>
          </a:p>
        </p:txBody>
      </p:sp>
      <p:sp>
        <p:nvSpPr>
          <p:cNvPr id="32" name="shape-31">
            <a:extLst>
              <a:ext uri="{FF2B5EF4-FFF2-40B4-BE49-F238E27FC236}">
                <a16:creationId xmlns:a16="http://schemas.microsoft.com/office/drawing/2014/main" id="{64C35AAF-5D8F-4652-9C9E-8A909606BE37}"/>
              </a:ext>
            </a:extLst>
          </p:cNvPr>
          <p:cNvSpPr>
            <a:spLocks noGrp="1"/>
          </p:cNvSpPr>
          <p:nvPr/>
        </p:nvSpPr>
        <p:spPr>
          <a:xfrm>
            <a:off x="4305300" y="3752850"/>
            <a:ext cx="7277100" cy="9525"/>
          </a:xfrm>
          <a:prstGeom prst="rect">
            <a:avLst/>
          </a:prstGeom>
          <a:solidFill>
            <a:srgbClr val="CDD3D2"/>
          </a:solidFill>
        </p:spPr>
      </p:sp>
      <p:sp>
        <p:nvSpPr>
          <p:cNvPr id="33" name="text-32">
            <a:extLst>
              <a:ext uri="{FF2B5EF4-FFF2-40B4-BE49-F238E27FC236}">
                <a16:creationId xmlns:a16="http://schemas.microsoft.com/office/drawing/2014/main" id="{D9FA3E2F-C451-4348-B3C1-3E176712F2E3}"/>
              </a:ext>
            </a:extLst>
          </p:cNvPr>
          <p:cNvSpPr>
            <a:spLocks noGrp="1"/>
          </p:cNvSpPr>
          <p:nvPr/>
        </p:nvSpPr>
        <p:spPr>
          <a:xfrm>
            <a:off x="4419600" y="3867150"/>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KPI-04</a:t>
            </a:r>
          </a:p>
        </p:txBody>
      </p:sp>
      <p:sp>
        <p:nvSpPr>
          <p:cNvPr id="34" name="text-33">
            <a:extLst>
              <a:ext uri="{FF2B5EF4-FFF2-40B4-BE49-F238E27FC236}">
                <a16:creationId xmlns:a16="http://schemas.microsoft.com/office/drawing/2014/main" id="{0332E508-B9E1-42CF-BD8E-598AADC1976B}"/>
              </a:ext>
            </a:extLst>
          </p:cNvPr>
          <p:cNvSpPr>
            <a:spLocks noGrp="1"/>
          </p:cNvSpPr>
          <p:nvPr/>
        </p:nvSpPr>
        <p:spPr>
          <a:xfrm>
            <a:off x="5276850" y="3867150"/>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Weighted intent precision</a:t>
            </a:r>
          </a:p>
        </p:txBody>
      </p:sp>
      <p:sp>
        <p:nvSpPr>
          <p:cNvPr id="35" name="text-34">
            <a:extLst>
              <a:ext uri="{FF2B5EF4-FFF2-40B4-BE49-F238E27FC236}">
                <a16:creationId xmlns:a16="http://schemas.microsoft.com/office/drawing/2014/main" id="{CAE7B392-9DFD-4A9E-A656-0332016F9050}"/>
              </a:ext>
            </a:extLst>
          </p:cNvPr>
          <p:cNvSpPr>
            <a:spLocks noGrp="1"/>
          </p:cNvSpPr>
          <p:nvPr/>
        </p:nvSpPr>
        <p:spPr>
          <a:xfrm>
            <a:off x="8801100" y="3867150"/>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88.51%</a:t>
            </a:r>
          </a:p>
        </p:txBody>
      </p:sp>
      <p:sp>
        <p:nvSpPr>
          <p:cNvPr id="36" name="text-35">
            <a:extLst>
              <a:ext uri="{FF2B5EF4-FFF2-40B4-BE49-F238E27FC236}">
                <a16:creationId xmlns:a16="http://schemas.microsoft.com/office/drawing/2014/main" id="{7EBE5906-230F-47F9-932A-524F3A28B517}"/>
              </a:ext>
            </a:extLst>
          </p:cNvPr>
          <p:cNvSpPr>
            <a:spLocks noGrp="1"/>
          </p:cNvSpPr>
          <p:nvPr/>
        </p:nvSpPr>
        <p:spPr>
          <a:xfrm>
            <a:off x="10306050" y="3867150"/>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≥85%</a:t>
            </a:r>
          </a:p>
        </p:txBody>
      </p:sp>
      <p:sp>
        <p:nvSpPr>
          <p:cNvPr id="37" name="shape-36">
            <a:extLst>
              <a:ext uri="{FF2B5EF4-FFF2-40B4-BE49-F238E27FC236}">
                <a16:creationId xmlns:a16="http://schemas.microsoft.com/office/drawing/2014/main" id="{8246FBBC-BFCC-411C-B959-2F4A054C7CBD}"/>
              </a:ext>
            </a:extLst>
          </p:cNvPr>
          <p:cNvSpPr>
            <a:spLocks noGrp="1"/>
          </p:cNvSpPr>
          <p:nvPr/>
        </p:nvSpPr>
        <p:spPr>
          <a:xfrm>
            <a:off x="4305300" y="4200525"/>
            <a:ext cx="7277100" cy="9525"/>
          </a:xfrm>
          <a:prstGeom prst="rect">
            <a:avLst/>
          </a:prstGeom>
          <a:solidFill>
            <a:srgbClr val="CDD3D2"/>
          </a:solidFill>
        </p:spPr>
      </p:sp>
      <p:sp>
        <p:nvSpPr>
          <p:cNvPr id="38" name="text-37">
            <a:extLst>
              <a:ext uri="{FF2B5EF4-FFF2-40B4-BE49-F238E27FC236}">
                <a16:creationId xmlns:a16="http://schemas.microsoft.com/office/drawing/2014/main" id="{B590E90A-BAE5-43D2-A6B3-CA6449837DCB}"/>
              </a:ext>
            </a:extLst>
          </p:cNvPr>
          <p:cNvSpPr>
            <a:spLocks noGrp="1"/>
          </p:cNvSpPr>
          <p:nvPr/>
        </p:nvSpPr>
        <p:spPr>
          <a:xfrm>
            <a:off x="4419600" y="4314825"/>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KPI-05</a:t>
            </a:r>
          </a:p>
        </p:txBody>
      </p:sp>
      <p:sp>
        <p:nvSpPr>
          <p:cNvPr id="39" name="text-38">
            <a:extLst>
              <a:ext uri="{FF2B5EF4-FFF2-40B4-BE49-F238E27FC236}">
                <a16:creationId xmlns:a16="http://schemas.microsoft.com/office/drawing/2014/main" id="{4DDB995E-B2CF-4F41-B893-88E09EE5ACA1}"/>
              </a:ext>
            </a:extLst>
          </p:cNvPr>
          <p:cNvSpPr>
            <a:spLocks noGrp="1"/>
          </p:cNvSpPr>
          <p:nvPr/>
        </p:nvSpPr>
        <p:spPr>
          <a:xfrm>
            <a:off x="5276850" y="4314825"/>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Detected draft PII</a:t>
            </a:r>
          </a:p>
        </p:txBody>
      </p:sp>
      <p:sp>
        <p:nvSpPr>
          <p:cNvPr id="40" name="text-39">
            <a:extLst>
              <a:ext uri="{FF2B5EF4-FFF2-40B4-BE49-F238E27FC236}">
                <a16:creationId xmlns:a16="http://schemas.microsoft.com/office/drawing/2014/main" id="{85993EB9-2927-41A9-A3D5-F695521EFDCB}"/>
              </a:ext>
            </a:extLst>
          </p:cNvPr>
          <p:cNvSpPr>
            <a:spLocks noGrp="1"/>
          </p:cNvSpPr>
          <p:nvPr/>
        </p:nvSpPr>
        <p:spPr>
          <a:xfrm>
            <a:off x="8801100" y="4314825"/>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0</a:t>
            </a:r>
          </a:p>
        </p:txBody>
      </p:sp>
      <p:sp>
        <p:nvSpPr>
          <p:cNvPr id="41" name="text-40">
            <a:extLst>
              <a:ext uri="{FF2B5EF4-FFF2-40B4-BE49-F238E27FC236}">
                <a16:creationId xmlns:a16="http://schemas.microsoft.com/office/drawing/2014/main" id="{8C6E5287-7B52-4C25-B860-6F283EC89B7E}"/>
              </a:ext>
            </a:extLst>
          </p:cNvPr>
          <p:cNvSpPr>
            <a:spLocks noGrp="1"/>
          </p:cNvSpPr>
          <p:nvPr/>
        </p:nvSpPr>
        <p:spPr>
          <a:xfrm>
            <a:off x="10306050" y="4314825"/>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0</a:t>
            </a:r>
          </a:p>
        </p:txBody>
      </p:sp>
      <p:sp>
        <p:nvSpPr>
          <p:cNvPr id="42" name="shape-41">
            <a:extLst>
              <a:ext uri="{FF2B5EF4-FFF2-40B4-BE49-F238E27FC236}">
                <a16:creationId xmlns:a16="http://schemas.microsoft.com/office/drawing/2014/main" id="{6A59A209-2FE5-4BAC-ADC8-737118F2D24F}"/>
              </a:ext>
            </a:extLst>
          </p:cNvPr>
          <p:cNvSpPr>
            <a:spLocks noGrp="1"/>
          </p:cNvSpPr>
          <p:nvPr/>
        </p:nvSpPr>
        <p:spPr>
          <a:xfrm>
            <a:off x="4305300" y="4648200"/>
            <a:ext cx="7277100" cy="9525"/>
          </a:xfrm>
          <a:prstGeom prst="rect">
            <a:avLst/>
          </a:prstGeom>
          <a:solidFill>
            <a:srgbClr val="CDD3D2"/>
          </a:solidFill>
        </p:spPr>
      </p:sp>
      <p:sp>
        <p:nvSpPr>
          <p:cNvPr id="43" name="text-42">
            <a:extLst>
              <a:ext uri="{FF2B5EF4-FFF2-40B4-BE49-F238E27FC236}">
                <a16:creationId xmlns:a16="http://schemas.microsoft.com/office/drawing/2014/main" id="{DB64D4D5-391C-49F5-B135-7B2B76C2F6A6}"/>
              </a:ext>
            </a:extLst>
          </p:cNvPr>
          <p:cNvSpPr>
            <a:spLocks noGrp="1"/>
          </p:cNvSpPr>
          <p:nvPr/>
        </p:nvSpPr>
        <p:spPr>
          <a:xfrm>
            <a:off x="4419600" y="4762500"/>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KPI-06</a:t>
            </a:r>
          </a:p>
        </p:txBody>
      </p:sp>
      <p:sp>
        <p:nvSpPr>
          <p:cNvPr id="44" name="text-43">
            <a:extLst>
              <a:ext uri="{FF2B5EF4-FFF2-40B4-BE49-F238E27FC236}">
                <a16:creationId xmlns:a16="http://schemas.microsoft.com/office/drawing/2014/main" id="{BD5B161E-94E1-47B6-87EE-B7C37809CF00}"/>
              </a:ext>
            </a:extLst>
          </p:cNvPr>
          <p:cNvSpPr>
            <a:spLocks noGrp="1"/>
          </p:cNvSpPr>
          <p:nvPr/>
        </p:nvSpPr>
        <p:spPr>
          <a:xfrm>
            <a:off x="5276850" y="4762500"/>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Exact audit reconciliation</a:t>
            </a:r>
          </a:p>
        </p:txBody>
      </p:sp>
      <p:sp>
        <p:nvSpPr>
          <p:cNvPr id="45" name="text-44">
            <a:extLst>
              <a:ext uri="{FF2B5EF4-FFF2-40B4-BE49-F238E27FC236}">
                <a16:creationId xmlns:a16="http://schemas.microsoft.com/office/drawing/2014/main" id="{6795B74F-65B2-4C19-9128-EEC3940AC882}"/>
              </a:ext>
            </a:extLst>
          </p:cNvPr>
          <p:cNvSpPr>
            <a:spLocks noGrp="1"/>
          </p:cNvSpPr>
          <p:nvPr/>
        </p:nvSpPr>
        <p:spPr>
          <a:xfrm>
            <a:off x="8801100" y="4762500"/>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100%</a:t>
            </a:r>
          </a:p>
        </p:txBody>
      </p:sp>
      <p:sp>
        <p:nvSpPr>
          <p:cNvPr id="46" name="text-45">
            <a:extLst>
              <a:ext uri="{FF2B5EF4-FFF2-40B4-BE49-F238E27FC236}">
                <a16:creationId xmlns:a16="http://schemas.microsoft.com/office/drawing/2014/main" id="{6770FA7C-881B-4000-B96E-6FFF8608557C}"/>
              </a:ext>
            </a:extLst>
          </p:cNvPr>
          <p:cNvSpPr>
            <a:spLocks noGrp="1"/>
          </p:cNvSpPr>
          <p:nvPr/>
        </p:nvSpPr>
        <p:spPr>
          <a:xfrm>
            <a:off x="10306050" y="4762500"/>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100%</a:t>
            </a:r>
          </a:p>
        </p:txBody>
      </p:sp>
      <p:sp>
        <p:nvSpPr>
          <p:cNvPr id="47" name="shape-46">
            <a:extLst>
              <a:ext uri="{FF2B5EF4-FFF2-40B4-BE49-F238E27FC236}">
                <a16:creationId xmlns:a16="http://schemas.microsoft.com/office/drawing/2014/main" id="{05D75B7A-568E-4B86-B245-9E981FFED7EA}"/>
              </a:ext>
            </a:extLst>
          </p:cNvPr>
          <p:cNvSpPr>
            <a:spLocks noGrp="1"/>
          </p:cNvSpPr>
          <p:nvPr/>
        </p:nvSpPr>
        <p:spPr>
          <a:xfrm>
            <a:off x="4305300" y="5095875"/>
            <a:ext cx="7277100" cy="9525"/>
          </a:xfrm>
          <a:prstGeom prst="rect">
            <a:avLst/>
          </a:prstGeom>
          <a:solidFill>
            <a:srgbClr val="CDD3D2"/>
          </a:solidFill>
        </p:spPr>
      </p:sp>
      <p:sp>
        <p:nvSpPr>
          <p:cNvPr id="48" name="text-47">
            <a:extLst>
              <a:ext uri="{FF2B5EF4-FFF2-40B4-BE49-F238E27FC236}">
                <a16:creationId xmlns:a16="http://schemas.microsoft.com/office/drawing/2014/main" id="{805821C1-4551-4E27-8F06-84EFECB0F241}"/>
              </a:ext>
            </a:extLst>
          </p:cNvPr>
          <p:cNvSpPr>
            <a:spLocks noGrp="1"/>
          </p:cNvSpPr>
          <p:nvPr/>
        </p:nvSpPr>
        <p:spPr>
          <a:xfrm>
            <a:off x="4419600" y="5210175"/>
            <a:ext cx="628650" cy="295275"/>
          </a:xfrm>
          <a:prstGeom prst="rect">
            <a:avLst/>
          </a:prstGeom>
        </p:spPr>
        <p:txBody>
          <a:bodyPr wrap="square" lIns="0" tIns="0" rIns="0" bIns="0" anchor="t"/>
          <a:lstStyle/>
          <a:p>
            <a:pPr>
              <a:defRPr sz="1275" b="1">
                <a:solidFill>
                  <a:srgbClr val="173047"/>
                </a:solidFill>
                <a:latin typeface="Arial"/>
                <a:ea typeface="Arial"/>
                <a:cs typeface="Arial"/>
              </a:defRPr>
            </a:pPr>
            <a:r>
              <a:t>KPI-07</a:t>
            </a:r>
          </a:p>
        </p:txBody>
      </p:sp>
      <p:sp>
        <p:nvSpPr>
          <p:cNvPr id="49" name="text-48">
            <a:extLst>
              <a:ext uri="{FF2B5EF4-FFF2-40B4-BE49-F238E27FC236}">
                <a16:creationId xmlns:a16="http://schemas.microsoft.com/office/drawing/2014/main" id="{190E99D8-A4F3-48EC-B3DC-42ED6821E4B4}"/>
              </a:ext>
            </a:extLst>
          </p:cNvPr>
          <p:cNvSpPr>
            <a:spLocks noGrp="1"/>
          </p:cNvSpPr>
          <p:nvPr/>
        </p:nvSpPr>
        <p:spPr>
          <a:xfrm>
            <a:off x="5276850" y="5210175"/>
            <a:ext cx="3295650" cy="295275"/>
          </a:xfrm>
          <a:prstGeom prst="rect">
            <a:avLst/>
          </a:prstGeom>
        </p:spPr>
        <p:txBody>
          <a:bodyPr wrap="square" lIns="0" tIns="0" rIns="0" bIns="0" anchor="t"/>
          <a:lstStyle/>
          <a:p>
            <a:pPr>
              <a:defRPr sz="1275" b="0">
                <a:solidFill>
                  <a:srgbClr val="546573"/>
                </a:solidFill>
                <a:latin typeface="Arial"/>
                <a:ea typeface="Arial"/>
                <a:cs typeface="Arial"/>
              </a:defRPr>
            </a:pPr>
            <a:r>
              <a:t>Citation ID validity</a:t>
            </a:r>
          </a:p>
        </p:txBody>
      </p:sp>
      <p:sp>
        <p:nvSpPr>
          <p:cNvPr id="50" name="text-49">
            <a:extLst>
              <a:ext uri="{FF2B5EF4-FFF2-40B4-BE49-F238E27FC236}">
                <a16:creationId xmlns:a16="http://schemas.microsoft.com/office/drawing/2014/main" id="{E40DD295-4F81-464B-AE03-60C9D7CC365E}"/>
              </a:ext>
            </a:extLst>
          </p:cNvPr>
          <p:cNvSpPr>
            <a:spLocks noGrp="1"/>
          </p:cNvSpPr>
          <p:nvPr/>
        </p:nvSpPr>
        <p:spPr>
          <a:xfrm>
            <a:off x="8801100" y="5210175"/>
            <a:ext cx="1276350" cy="295275"/>
          </a:xfrm>
          <a:prstGeom prst="rect">
            <a:avLst/>
          </a:prstGeom>
        </p:spPr>
        <p:txBody>
          <a:bodyPr wrap="square" lIns="0" tIns="0" rIns="0" bIns="0" anchor="t"/>
          <a:lstStyle/>
          <a:p>
            <a:pPr>
              <a:defRPr sz="1275" b="0">
                <a:solidFill>
                  <a:srgbClr val="546573"/>
                </a:solidFill>
                <a:latin typeface="Arial"/>
                <a:ea typeface="Arial"/>
                <a:cs typeface="Arial"/>
              </a:defRPr>
            </a:pPr>
            <a:r>
              <a:t>100%</a:t>
            </a:r>
          </a:p>
        </p:txBody>
      </p:sp>
      <p:sp>
        <p:nvSpPr>
          <p:cNvPr id="51" name="text-50">
            <a:extLst>
              <a:ext uri="{FF2B5EF4-FFF2-40B4-BE49-F238E27FC236}">
                <a16:creationId xmlns:a16="http://schemas.microsoft.com/office/drawing/2014/main" id="{BEFFC7B7-2A63-404E-AE86-558AE6FCD314}"/>
              </a:ext>
            </a:extLst>
          </p:cNvPr>
          <p:cNvSpPr>
            <a:spLocks noGrp="1"/>
          </p:cNvSpPr>
          <p:nvPr/>
        </p:nvSpPr>
        <p:spPr>
          <a:xfrm>
            <a:off x="10306050" y="5210175"/>
            <a:ext cx="1162050" cy="295275"/>
          </a:xfrm>
          <a:prstGeom prst="rect">
            <a:avLst/>
          </a:prstGeom>
        </p:spPr>
        <p:txBody>
          <a:bodyPr wrap="square" lIns="0" tIns="0" rIns="0" bIns="0" anchor="t"/>
          <a:lstStyle/>
          <a:p>
            <a:pPr>
              <a:defRPr sz="1275" b="0">
                <a:solidFill>
                  <a:srgbClr val="546573"/>
                </a:solidFill>
                <a:latin typeface="Arial"/>
                <a:ea typeface="Arial"/>
                <a:cs typeface="Arial"/>
              </a:defRPr>
            </a:pPr>
            <a:r>
              <a:t>≥95%</a:t>
            </a:r>
          </a:p>
        </p:txBody>
      </p:sp>
      <p:sp>
        <p:nvSpPr>
          <p:cNvPr id="52" name="shape-51">
            <a:extLst>
              <a:ext uri="{FF2B5EF4-FFF2-40B4-BE49-F238E27FC236}">
                <a16:creationId xmlns:a16="http://schemas.microsoft.com/office/drawing/2014/main" id="{4A18E261-975B-48A4-9AAA-48418C371A54}"/>
              </a:ext>
            </a:extLst>
          </p:cNvPr>
          <p:cNvSpPr>
            <a:spLocks noGrp="1"/>
          </p:cNvSpPr>
          <p:nvPr/>
        </p:nvSpPr>
        <p:spPr>
          <a:xfrm>
            <a:off x="4305300" y="5543550"/>
            <a:ext cx="7277100" cy="9525"/>
          </a:xfrm>
          <a:prstGeom prst="rect">
            <a:avLst/>
          </a:prstGeom>
          <a:solidFill>
            <a:srgbClr val="CDD3D2"/>
          </a:solidFill>
        </p:spPr>
      </p:sp>
      <p:sp>
        <p:nvSpPr>
          <p:cNvPr id="53" name="text-52">
            <a:extLst>
              <a:ext uri="{FF2B5EF4-FFF2-40B4-BE49-F238E27FC236}">
                <a16:creationId xmlns:a16="http://schemas.microsoft.com/office/drawing/2014/main" id="{38E0FDF3-5265-4CBC-8CCF-E15D1570742E}"/>
              </a:ext>
            </a:extLst>
          </p:cNvPr>
          <p:cNvSpPr>
            <a:spLocks noGrp="1"/>
          </p:cNvSpPr>
          <p:nvPr/>
        </p:nvSpPr>
        <p:spPr>
          <a:xfrm>
            <a:off x="4419600" y="5629275"/>
            <a:ext cx="6953250" cy="295275"/>
          </a:xfrm>
          <a:prstGeom prst="rect">
            <a:avLst/>
          </a:prstGeom>
        </p:spPr>
        <p:txBody>
          <a:bodyPr wrap="square" lIns="0" tIns="0" rIns="0" bIns="0" anchor="t"/>
          <a:lstStyle/>
          <a:p>
            <a:pPr>
              <a:defRPr sz="1425" b="1">
                <a:solidFill>
                  <a:srgbClr val="00766B"/>
                </a:solidFill>
                <a:latin typeface="Arial"/>
                <a:ea typeface="Arial"/>
                <a:cs typeface="Arial"/>
              </a:defRPr>
            </a:pPr>
            <a:r>
              <a:t>7 / 7 PASS under configured operational definitions</a:t>
            </a:r>
          </a:p>
        </p:txBody>
      </p:sp>
      <p:sp>
        <p:nvSpPr>
          <p:cNvPr id="54" name="text-53">
            <a:extLst>
              <a:ext uri="{FF2B5EF4-FFF2-40B4-BE49-F238E27FC236}">
                <a16:creationId xmlns:a16="http://schemas.microsoft.com/office/drawing/2014/main" id="{BE5824EB-8748-4FF1-80D6-AAE6D6E7850E}"/>
              </a:ext>
            </a:extLst>
          </p:cNvPr>
          <p:cNvSpPr>
            <a:spLocks noGrp="1"/>
          </p:cNvSpPr>
          <p:nvPr/>
        </p:nvSpPr>
        <p:spPr>
          <a:xfrm>
            <a:off x="4419600" y="5962650"/>
            <a:ext cx="6953250" cy="257175"/>
          </a:xfrm>
          <a:prstGeom prst="rect">
            <a:avLst/>
          </a:prstGeom>
        </p:spPr>
        <p:txBody>
          <a:bodyPr wrap="square" lIns="0" tIns="0" rIns="0" bIns="0" anchor="t"/>
          <a:lstStyle/>
          <a:p>
            <a:pPr>
              <a:defRPr sz="1200" b="0">
                <a:solidFill>
                  <a:srgbClr val="546573"/>
                </a:solidFill>
                <a:latin typeface="Arial"/>
                <a:ea typeface="Arial"/>
                <a:cs typeface="Arial"/>
              </a:defRPr>
            </a:pPr>
            <a:r>
              <a:t>* Legacy latency target; original PRD is &lt;3 s.</a:t>
            </a:r>
          </a:p>
        </p:txBody>
      </p:sp>
    </p:spTree>
    <p:extLst>
      <p:ext uri="{BB962C8B-B14F-4D97-AF65-F5344CB8AC3E}">
        <p14:creationId xmlns:p14="http://schemas.microsoft.com/office/powerpoint/2010/main" val="1254975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1" name="kicker-marker">
            <a:extLst>
              <a:ext uri="{FF2B5EF4-FFF2-40B4-BE49-F238E27FC236}">
                <a16:creationId xmlns:a16="http://schemas.microsoft.com/office/drawing/2014/main" id="{9D2E1176-14EB-496A-B276-3D113F2B425F}"/>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FF86DEF5-63BF-4CF8-B21D-EC7912674009}"/>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READING THE METRICS</a:t>
            </a:r>
          </a:p>
        </p:txBody>
      </p:sp>
      <p:sp>
        <p:nvSpPr>
          <p:cNvPr id="3" name="text-2">
            <a:extLst>
              <a:ext uri="{FF2B5EF4-FFF2-40B4-BE49-F238E27FC236}">
                <a16:creationId xmlns:a16="http://schemas.microsoft.com/office/drawing/2014/main" id="{676ECAA4-7D8C-462E-BB3E-B266770D62DA}"/>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A green proxy is useful evidence,</a:t>
            </a:r>
          </a:p>
          <a:p>
            <a:pPr>
              <a:defRPr sz="3150" b="0">
                <a:solidFill>
                  <a:srgbClr val="173047"/>
                </a:solidFill>
                <a:latin typeface="Georgia"/>
                <a:ea typeface="Georgia"/>
                <a:cs typeface="Georgia"/>
              </a:defRPr>
            </a:pPr>
            <a:r>
              <a:t>but it answers a narrower question</a:t>
            </a:r>
          </a:p>
        </p:txBody>
      </p:sp>
      <p:sp>
        <p:nvSpPr>
          <p:cNvPr id="4" name="shape-3">
            <a:extLst>
              <a:ext uri="{FF2B5EF4-FFF2-40B4-BE49-F238E27FC236}">
                <a16:creationId xmlns:a16="http://schemas.microsoft.com/office/drawing/2014/main" id="{F6B78ADF-1D70-48B5-94AF-B6F09EDBF1F7}"/>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685DABEC-2C73-4243-93A5-8903E40F213A}"/>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Saved report definitions; original PRD and Evaluation_Framework.docx</a:t>
            </a:r>
          </a:p>
        </p:txBody>
      </p:sp>
      <p:sp>
        <p:nvSpPr>
          <p:cNvPr id="6" name="text-5">
            <a:extLst>
              <a:ext uri="{FF2B5EF4-FFF2-40B4-BE49-F238E27FC236}">
                <a16:creationId xmlns:a16="http://schemas.microsoft.com/office/drawing/2014/main" id="{DAAA9F4F-C4D0-42FA-8F18-7F6ED5DEBC4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20</a:t>
            </a:r>
          </a:p>
        </p:txBody>
      </p:sp>
      <p:sp>
        <p:nvSpPr>
          <p:cNvPr id="7" name="shape-6">
            <a:extLst>
              <a:ext uri="{FF2B5EF4-FFF2-40B4-BE49-F238E27FC236}">
                <a16:creationId xmlns:a16="http://schemas.microsoft.com/office/drawing/2014/main" id="{19F342BE-B390-4877-929A-DDE7DBF07B26}"/>
              </a:ext>
            </a:extLst>
          </p:cNvPr>
          <p:cNvSpPr>
            <a:spLocks noGrp="1"/>
          </p:cNvSpPr>
          <p:nvPr/>
        </p:nvSpPr>
        <p:spPr>
          <a:xfrm>
            <a:off x="609600" y="2085975"/>
            <a:ext cx="10972800" cy="381000"/>
          </a:xfrm>
          <a:prstGeom prst="rect">
            <a:avLst/>
          </a:prstGeom>
          <a:solidFill>
            <a:srgbClr val="E3ECE8"/>
          </a:solidFill>
        </p:spPr>
      </p:sp>
      <p:sp>
        <p:nvSpPr>
          <p:cNvPr id="8" name="text-7">
            <a:extLst>
              <a:ext uri="{FF2B5EF4-FFF2-40B4-BE49-F238E27FC236}">
                <a16:creationId xmlns:a16="http://schemas.microsoft.com/office/drawing/2014/main" id="{F8AE6433-3F80-4146-9B47-9FE90579F908}"/>
              </a:ext>
            </a:extLst>
          </p:cNvPr>
          <p:cNvSpPr>
            <a:spLocks noGrp="1"/>
          </p:cNvSpPr>
          <p:nvPr/>
        </p:nvSpPr>
        <p:spPr>
          <a:xfrm>
            <a:off x="723900" y="2200275"/>
            <a:ext cx="2457450" cy="152400"/>
          </a:xfrm>
          <a:prstGeom prst="rect">
            <a:avLst/>
          </a:prstGeom>
        </p:spPr>
        <p:txBody>
          <a:bodyPr wrap="square" lIns="0" tIns="0" rIns="0" bIns="0" anchor="t"/>
          <a:lstStyle/>
          <a:p>
            <a:pPr>
              <a:defRPr sz="975" b="1">
                <a:solidFill>
                  <a:srgbClr val="00766B"/>
                </a:solidFill>
                <a:latin typeface="Arial"/>
                <a:ea typeface="Arial"/>
                <a:cs typeface="Arial"/>
              </a:defRPr>
            </a:pPr>
            <a:r>
              <a:t>REPORTED RESULT</a:t>
            </a:r>
          </a:p>
        </p:txBody>
      </p:sp>
      <p:sp>
        <p:nvSpPr>
          <p:cNvPr id="9" name="text-8">
            <a:extLst>
              <a:ext uri="{FF2B5EF4-FFF2-40B4-BE49-F238E27FC236}">
                <a16:creationId xmlns:a16="http://schemas.microsoft.com/office/drawing/2014/main" id="{9F8B2F23-E78F-44C1-8778-6E44D5C66AA0}"/>
              </a:ext>
            </a:extLst>
          </p:cNvPr>
          <p:cNvSpPr>
            <a:spLocks noGrp="1"/>
          </p:cNvSpPr>
          <p:nvPr/>
        </p:nvSpPr>
        <p:spPr>
          <a:xfrm>
            <a:off x="3409950" y="2200275"/>
            <a:ext cx="3762375" cy="152400"/>
          </a:xfrm>
          <a:prstGeom prst="rect">
            <a:avLst/>
          </a:prstGeom>
        </p:spPr>
        <p:txBody>
          <a:bodyPr wrap="square" lIns="0" tIns="0" rIns="0" bIns="0" anchor="t"/>
          <a:lstStyle/>
          <a:p>
            <a:pPr>
              <a:defRPr sz="975" b="1">
                <a:solidFill>
                  <a:srgbClr val="00766B"/>
                </a:solidFill>
                <a:latin typeface="Arial"/>
                <a:ea typeface="Arial"/>
                <a:cs typeface="Arial"/>
              </a:defRPr>
            </a:pPr>
            <a:r>
              <a:t>WHAT IT MEASURES</a:t>
            </a:r>
          </a:p>
        </p:txBody>
      </p:sp>
      <p:sp>
        <p:nvSpPr>
          <p:cNvPr id="10" name="text-9">
            <a:extLst>
              <a:ext uri="{FF2B5EF4-FFF2-40B4-BE49-F238E27FC236}">
                <a16:creationId xmlns:a16="http://schemas.microsoft.com/office/drawing/2014/main" id="{F1DBBFFF-C04F-41AD-8B6A-8203153F3BD8}"/>
              </a:ext>
            </a:extLst>
          </p:cNvPr>
          <p:cNvSpPr>
            <a:spLocks noGrp="1"/>
          </p:cNvSpPr>
          <p:nvPr/>
        </p:nvSpPr>
        <p:spPr>
          <a:xfrm>
            <a:off x="7400925" y="2200275"/>
            <a:ext cx="4067175" cy="152400"/>
          </a:xfrm>
          <a:prstGeom prst="rect">
            <a:avLst/>
          </a:prstGeom>
        </p:spPr>
        <p:txBody>
          <a:bodyPr wrap="square" lIns="0" tIns="0" rIns="0" bIns="0" anchor="t"/>
          <a:lstStyle/>
          <a:p>
            <a:pPr>
              <a:defRPr sz="975" b="1">
                <a:solidFill>
                  <a:srgbClr val="00766B"/>
                </a:solidFill>
                <a:latin typeface="Arial"/>
                <a:ea typeface="Arial"/>
                <a:cs typeface="Arial"/>
              </a:defRPr>
            </a:pPr>
            <a:r>
              <a:t>WHAT IT DOES NOT ESTABLISH</a:t>
            </a:r>
          </a:p>
        </p:txBody>
      </p:sp>
      <p:sp>
        <p:nvSpPr>
          <p:cNvPr id="11" name="text-10">
            <a:extLst>
              <a:ext uri="{FF2B5EF4-FFF2-40B4-BE49-F238E27FC236}">
                <a16:creationId xmlns:a16="http://schemas.microsoft.com/office/drawing/2014/main" id="{E9EBC817-72B4-43CF-897B-1D3674A3AE10}"/>
              </a:ext>
            </a:extLst>
          </p:cNvPr>
          <p:cNvSpPr>
            <a:spLocks noGrp="1"/>
          </p:cNvSpPr>
          <p:nvPr/>
        </p:nvSpPr>
        <p:spPr>
          <a:xfrm>
            <a:off x="723900" y="2581275"/>
            <a:ext cx="2457450" cy="514350"/>
          </a:xfrm>
          <a:prstGeom prst="rect">
            <a:avLst/>
          </a:prstGeom>
        </p:spPr>
        <p:txBody>
          <a:bodyPr wrap="square" lIns="0" tIns="0" rIns="0" bIns="0" anchor="t"/>
          <a:lstStyle/>
          <a:p>
            <a:pPr>
              <a:defRPr sz="1575" b="1">
                <a:solidFill>
                  <a:srgbClr val="173047"/>
                </a:solidFill>
                <a:latin typeface="Arial"/>
                <a:ea typeface="Arial"/>
                <a:cs typeface="Arial"/>
              </a:defRPr>
            </a:pPr>
            <a:r>
              <a:t>70% automation</a:t>
            </a:r>
          </a:p>
        </p:txBody>
      </p:sp>
      <p:sp>
        <p:nvSpPr>
          <p:cNvPr id="12" name="text-11">
            <a:extLst>
              <a:ext uri="{FF2B5EF4-FFF2-40B4-BE49-F238E27FC236}">
                <a16:creationId xmlns:a16="http://schemas.microsoft.com/office/drawing/2014/main" id="{6785EE89-E263-443C-AAFD-779FD7F34308}"/>
              </a:ext>
            </a:extLst>
          </p:cNvPr>
          <p:cNvSpPr>
            <a:spLocks noGrp="1"/>
          </p:cNvSpPr>
          <p:nvPr/>
        </p:nvSpPr>
        <p:spPr>
          <a:xfrm>
            <a:off x="3409950" y="2581275"/>
            <a:ext cx="3762375" cy="514350"/>
          </a:xfrm>
          <a:prstGeom prst="rect">
            <a:avLst/>
          </a:prstGeom>
        </p:spPr>
        <p:txBody>
          <a:bodyPr wrap="square" lIns="0" tIns="0" rIns="0" bIns="0" anchor="t"/>
          <a:lstStyle/>
          <a:p>
            <a:pPr>
              <a:defRPr sz="1575" b="0">
                <a:solidFill>
                  <a:srgbClr val="546573"/>
                </a:solidFill>
                <a:latin typeface="Arial"/>
                <a:ea typeface="Arial"/>
                <a:cs typeface="Arial"/>
              </a:defRPr>
            </a:pPr>
            <a:r>
              <a:t>56 of 80 routes produced drafts.</a:t>
            </a:r>
          </a:p>
        </p:txBody>
      </p:sp>
      <p:sp>
        <p:nvSpPr>
          <p:cNvPr id="13" name="text-12">
            <a:extLst>
              <a:ext uri="{FF2B5EF4-FFF2-40B4-BE49-F238E27FC236}">
                <a16:creationId xmlns:a16="http://schemas.microsoft.com/office/drawing/2014/main" id="{09276ECA-20AA-4826-A353-A0231A0E033A}"/>
              </a:ext>
            </a:extLst>
          </p:cNvPr>
          <p:cNvSpPr>
            <a:spLocks noGrp="1"/>
          </p:cNvSpPr>
          <p:nvPr/>
        </p:nvSpPr>
        <p:spPr>
          <a:xfrm>
            <a:off x="7400925" y="2581275"/>
            <a:ext cx="4067175" cy="514350"/>
          </a:xfrm>
          <a:prstGeom prst="rect">
            <a:avLst/>
          </a:prstGeom>
        </p:spPr>
        <p:txBody>
          <a:bodyPr wrap="square" lIns="0" tIns="0" rIns="0" bIns="0" anchor="t"/>
          <a:lstStyle/>
          <a:p>
            <a:pPr>
              <a:defRPr sz="1575" b="0">
                <a:solidFill>
                  <a:srgbClr val="546573"/>
                </a:solidFill>
                <a:latin typeface="Arial"/>
                <a:ea typeface="Arial"/>
                <a:cs typeface="Arial"/>
              </a:defRPr>
            </a:pPr>
            <a:r>
              <a:t>Not confirmed first-contact resolution.</a:t>
            </a:r>
          </a:p>
        </p:txBody>
      </p:sp>
      <p:sp>
        <p:nvSpPr>
          <p:cNvPr id="14" name="shape-13">
            <a:extLst>
              <a:ext uri="{FF2B5EF4-FFF2-40B4-BE49-F238E27FC236}">
                <a16:creationId xmlns:a16="http://schemas.microsoft.com/office/drawing/2014/main" id="{E421A255-4D4B-48A8-BAB7-A595C919CA3E}"/>
              </a:ext>
            </a:extLst>
          </p:cNvPr>
          <p:cNvSpPr>
            <a:spLocks noGrp="1"/>
          </p:cNvSpPr>
          <p:nvPr/>
        </p:nvSpPr>
        <p:spPr>
          <a:xfrm>
            <a:off x="609600" y="3133725"/>
            <a:ext cx="10972800" cy="9525"/>
          </a:xfrm>
          <a:prstGeom prst="rect">
            <a:avLst/>
          </a:prstGeom>
          <a:solidFill>
            <a:srgbClr val="CDD3D2"/>
          </a:solidFill>
        </p:spPr>
      </p:sp>
      <p:sp>
        <p:nvSpPr>
          <p:cNvPr id="15" name="text-14">
            <a:extLst>
              <a:ext uri="{FF2B5EF4-FFF2-40B4-BE49-F238E27FC236}">
                <a16:creationId xmlns:a16="http://schemas.microsoft.com/office/drawing/2014/main" id="{3527D504-5F06-488E-B9FB-A11861FF9785}"/>
              </a:ext>
            </a:extLst>
          </p:cNvPr>
          <p:cNvSpPr>
            <a:spLocks noGrp="1"/>
          </p:cNvSpPr>
          <p:nvPr/>
        </p:nvSpPr>
        <p:spPr>
          <a:xfrm>
            <a:off x="723900" y="3248025"/>
            <a:ext cx="2457450" cy="514350"/>
          </a:xfrm>
          <a:prstGeom prst="rect">
            <a:avLst/>
          </a:prstGeom>
        </p:spPr>
        <p:txBody>
          <a:bodyPr wrap="square" lIns="0" tIns="0" rIns="0" bIns="0" anchor="t"/>
          <a:lstStyle/>
          <a:p>
            <a:pPr>
              <a:defRPr sz="1575" b="1">
                <a:solidFill>
                  <a:srgbClr val="173047"/>
                </a:solidFill>
                <a:latin typeface="Arial"/>
                <a:ea typeface="Arial"/>
                <a:cs typeface="Arial"/>
              </a:defRPr>
            </a:pPr>
            <a:r>
              <a:t>88.51% weighted precision</a:t>
            </a:r>
          </a:p>
        </p:txBody>
      </p:sp>
      <p:sp>
        <p:nvSpPr>
          <p:cNvPr id="16" name="text-15">
            <a:extLst>
              <a:ext uri="{FF2B5EF4-FFF2-40B4-BE49-F238E27FC236}">
                <a16:creationId xmlns:a16="http://schemas.microsoft.com/office/drawing/2014/main" id="{4B26A22E-33CD-49CD-8E9E-4CBC503D31F6}"/>
              </a:ext>
            </a:extLst>
          </p:cNvPr>
          <p:cNvSpPr>
            <a:spLocks noGrp="1"/>
          </p:cNvSpPr>
          <p:nvPr/>
        </p:nvSpPr>
        <p:spPr>
          <a:xfrm>
            <a:off x="3409950" y="3248025"/>
            <a:ext cx="3762375" cy="514350"/>
          </a:xfrm>
          <a:prstGeom prst="rect">
            <a:avLst/>
          </a:prstGeom>
        </p:spPr>
        <p:txBody>
          <a:bodyPr wrap="square" lIns="0" tIns="0" rIns="0" bIns="0" anchor="t"/>
          <a:lstStyle/>
          <a:p>
            <a:pPr>
              <a:defRPr sz="1575" b="0">
                <a:solidFill>
                  <a:srgbClr val="546573"/>
                </a:solidFill>
                <a:latin typeface="Arial"/>
                <a:ea typeface="Arial"/>
                <a:cs typeface="Arial"/>
              </a:defRPr>
            </a:pPr>
            <a:r>
              <a:t>Intent precision weighted by class support.</a:t>
            </a:r>
          </a:p>
        </p:txBody>
      </p:sp>
      <p:sp>
        <p:nvSpPr>
          <p:cNvPr id="17" name="text-16">
            <a:extLst>
              <a:ext uri="{FF2B5EF4-FFF2-40B4-BE49-F238E27FC236}">
                <a16:creationId xmlns:a16="http://schemas.microsoft.com/office/drawing/2014/main" id="{D537B2B1-1755-43DF-ACB0-782C59E33237}"/>
              </a:ext>
            </a:extLst>
          </p:cNvPr>
          <p:cNvSpPr>
            <a:spLocks noGrp="1"/>
          </p:cNvSpPr>
          <p:nvPr/>
        </p:nvSpPr>
        <p:spPr>
          <a:xfrm>
            <a:off x="7400925" y="3248025"/>
            <a:ext cx="4067175" cy="514350"/>
          </a:xfrm>
          <a:prstGeom prst="rect">
            <a:avLst/>
          </a:prstGeom>
        </p:spPr>
        <p:txBody>
          <a:bodyPr wrap="square" lIns="0" tIns="0" rIns="0" bIns="0" anchor="t"/>
          <a:lstStyle/>
          <a:p>
            <a:pPr>
              <a:defRPr sz="1575" b="0">
                <a:solidFill>
                  <a:srgbClr val="546573"/>
                </a:solidFill>
                <a:latin typeface="Arial"/>
                <a:ea typeface="Arial"/>
                <a:cs typeface="Arial"/>
              </a:defRPr>
            </a:pPr>
            <a:r>
              <a:t>Not an 85% minimum for every intent.</a:t>
            </a:r>
          </a:p>
        </p:txBody>
      </p:sp>
      <p:sp>
        <p:nvSpPr>
          <p:cNvPr id="18" name="shape-17">
            <a:extLst>
              <a:ext uri="{FF2B5EF4-FFF2-40B4-BE49-F238E27FC236}">
                <a16:creationId xmlns:a16="http://schemas.microsoft.com/office/drawing/2014/main" id="{742C0345-FC4D-48D3-A2E7-474A01062C04}"/>
              </a:ext>
            </a:extLst>
          </p:cNvPr>
          <p:cNvSpPr>
            <a:spLocks noGrp="1"/>
          </p:cNvSpPr>
          <p:nvPr/>
        </p:nvSpPr>
        <p:spPr>
          <a:xfrm>
            <a:off x="609600" y="3800475"/>
            <a:ext cx="10972800" cy="9525"/>
          </a:xfrm>
          <a:prstGeom prst="rect">
            <a:avLst/>
          </a:prstGeom>
          <a:solidFill>
            <a:srgbClr val="CDD3D2"/>
          </a:solidFill>
        </p:spPr>
      </p:sp>
      <p:sp>
        <p:nvSpPr>
          <p:cNvPr id="19" name="text-18">
            <a:extLst>
              <a:ext uri="{FF2B5EF4-FFF2-40B4-BE49-F238E27FC236}">
                <a16:creationId xmlns:a16="http://schemas.microsoft.com/office/drawing/2014/main" id="{2268E053-38F5-4EC0-9BC9-0B07807F6015}"/>
              </a:ext>
            </a:extLst>
          </p:cNvPr>
          <p:cNvSpPr>
            <a:spLocks noGrp="1"/>
          </p:cNvSpPr>
          <p:nvPr/>
        </p:nvSpPr>
        <p:spPr>
          <a:xfrm>
            <a:off x="723900" y="3914775"/>
            <a:ext cx="2457450" cy="514350"/>
          </a:xfrm>
          <a:prstGeom prst="rect">
            <a:avLst/>
          </a:prstGeom>
        </p:spPr>
        <p:txBody>
          <a:bodyPr wrap="square" lIns="0" tIns="0" rIns="0" bIns="0" anchor="t"/>
          <a:lstStyle/>
          <a:p>
            <a:pPr>
              <a:defRPr sz="1575" b="1">
                <a:solidFill>
                  <a:srgbClr val="173047"/>
                </a:solidFill>
                <a:latin typeface="Arial"/>
                <a:ea typeface="Arial"/>
                <a:cs typeface="Arial"/>
              </a:defRPr>
            </a:pPr>
            <a:r>
              <a:t>100% citation ID validity</a:t>
            </a:r>
          </a:p>
        </p:txBody>
      </p:sp>
      <p:sp>
        <p:nvSpPr>
          <p:cNvPr id="20" name="text-19">
            <a:extLst>
              <a:ext uri="{FF2B5EF4-FFF2-40B4-BE49-F238E27FC236}">
                <a16:creationId xmlns:a16="http://schemas.microsoft.com/office/drawing/2014/main" id="{FE4C8AC2-271E-4F02-8B3A-FF3F04043BAB}"/>
              </a:ext>
            </a:extLst>
          </p:cNvPr>
          <p:cNvSpPr>
            <a:spLocks noGrp="1"/>
          </p:cNvSpPr>
          <p:nvPr/>
        </p:nvSpPr>
        <p:spPr>
          <a:xfrm>
            <a:off x="3409950" y="3914775"/>
            <a:ext cx="3762375" cy="514350"/>
          </a:xfrm>
          <a:prstGeom prst="rect">
            <a:avLst/>
          </a:prstGeom>
        </p:spPr>
        <p:txBody>
          <a:bodyPr wrap="square" lIns="0" tIns="0" rIns="0" bIns="0" anchor="t"/>
          <a:lstStyle/>
          <a:p>
            <a:pPr>
              <a:defRPr sz="1575" b="0">
                <a:solidFill>
                  <a:srgbClr val="546573"/>
                </a:solidFill>
                <a:latin typeface="Arial"/>
                <a:ea typeface="Arial"/>
                <a:cs typeface="Arial"/>
              </a:defRPr>
            </a:pPr>
            <a:r>
              <a:t>130 citation occurrences use valid IDs.</a:t>
            </a:r>
          </a:p>
        </p:txBody>
      </p:sp>
      <p:sp>
        <p:nvSpPr>
          <p:cNvPr id="21" name="text-20">
            <a:extLst>
              <a:ext uri="{FF2B5EF4-FFF2-40B4-BE49-F238E27FC236}">
                <a16:creationId xmlns:a16="http://schemas.microsoft.com/office/drawing/2014/main" id="{FDFADE96-997B-4483-B38A-ADFE1A993C75}"/>
              </a:ext>
            </a:extLst>
          </p:cNvPr>
          <p:cNvSpPr>
            <a:spLocks noGrp="1"/>
          </p:cNvSpPr>
          <p:nvPr/>
        </p:nvSpPr>
        <p:spPr>
          <a:xfrm>
            <a:off x="7400925" y="3914775"/>
            <a:ext cx="4067175" cy="514350"/>
          </a:xfrm>
          <a:prstGeom prst="rect">
            <a:avLst/>
          </a:prstGeom>
        </p:spPr>
        <p:txBody>
          <a:bodyPr wrap="square" lIns="0" tIns="0" rIns="0" bIns="0" anchor="t"/>
          <a:lstStyle/>
          <a:p>
            <a:pPr>
              <a:defRPr sz="1575" b="0">
                <a:solidFill>
                  <a:srgbClr val="546573"/>
                </a:solidFill>
                <a:latin typeface="Arial"/>
                <a:ea typeface="Arial"/>
                <a:cs typeface="Arial"/>
              </a:defRPr>
            </a:pPr>
            <a:r>
              <a:t>Not proof every sentence is supported.</a:t>
            </a:r>
          </a:p>
        </p:txBody>
      </p:sp>
      <p:sp>
        <p:nvSpPr>
          <p:cNvPr id="22" name="shape-21">
            <a:extLst>
              <a:ext uri="{FF2B5EF4-FFF2-40B4-BE49-F238E27FC236}">
                <a16:creationId xmlns:a16="http://schemas.microsoft.com/office/drawing/2014/main" id="{D146612B-BDDD-4A60-9BAE-95CD2EF912D6}"/>
              </a:ext>
            </a:extLst>
          </p:cNvPr>
          <p:cNvSpPr>
            <a:spLocks noGrp="1"/>
          </p:cNvSpPr>
          <p:nvPr/>
        </p:nvSpPr>
        <p:spPr>
          <a:xfrm>
            <a:off x="609600" y="4467225"/>
            <a:ext cx="10972800" cy="9525"/>
          </a:xfrm>
          <a:prstGeom prst="rect">
            <a:avLst/>
          </a:prstGeom>
          <a:solidFill>
            <a:srgbClr val="CDD3D2"/>
          </a:solidFill>
        </p:spPr>
      </p:sp>
      <p:sp>
        <p:nvSpPr>
          <p:cNvPr id="23" name="text-22">
            <a:extLst>
              <a:ext uri="{FF2B5EF4-FFF2-40B4-BE49-F238E27FC236}">
                <a16:creationId xmlns:a16="http://schemas.microsoft.com/office/drawing/2014/main" id="{0A7BD1E4-AE7D-4AEF-A151-18B8A7111D8B}"/>
              </a:ext>
            </a:extLst>
          </p:cNvPr>
          <p:cNvSpPr>
            <a:spLocks noGrp="1"/>
          </p:cNvSpPr>
          <p:nvPr/>
        </p:nvSpPr>
        <p:spPr>
          <a:xfrm>
            <a:off x="723900" y="4581525"/>
            <a:ext cx="2457450" cy="514350"/>
          </a:xfrm>
          <a:prstGeom prst="rect">
            <a:avLst/>
          </a:prstGeom>
        </p:spPr>
        <p:txBody>
          <a:bodyPr wrap="square" lIns="0" tIns="0" rIns="0" bIns="0" anchor="t"/>
          <a:lstStyle/>
          <a:p>
            <a:pPr>
              <a:defRPr sz="1575" b="1">
                <a:solidFill>
                  <a:srgbClr val="173047"/>
                </a:solidFill>
                <a:latin typeface="Arial"/>
                <a:ea typeface="Arial"/>
                <a:cs typeface="Arial"/>
              </a:defRPr>
            </a:pPr>
            <a:r>
              <a:t>12.287 s P95</a:t>
            </a:r>
          </a:p>
        </p:txBody>
      </p:sp>
      <p:sp>
        <p:nvSpPr>
          <p:cNvPr id="24" name="text-23">
            <a:extLst>
              <a:ext uri="{FF2B5EF4-FFF2-40B4-BE49-F238E27FC236}">
                <a16:creationId xmlns:a16="http://schemas.microsoft.com/office/drawing/2014/main" id="{B2F0CE1D-3C3C-427B-966B-5092B350ECA5}"/>
              </a:ext>
            </a:extLst>
          </p:cNvPr>
          <p:cNvSpPr>
            <a:spLocks noGrp="1"/>
          </p:cNvSpPr>
          <p:nvPr/>
        </p:nvSpPr>
        <p:spPr>
          <a:xfrm>
            <a:off x="3409950" y="4581525"/>
            <a:ext cx="3762375" cy="514350"/>
          </a:xfrm>
          <a:prstGeom prst="rect">
            <a:avLst/>
          </a:prstGeom>
        </p:spPr>
        <p:txBody>
          <a:bodyPr wrap="square" lIns="0" tIns="0" rIns="0" bIns="0" anchor="t"/>
          <a:lstStyle/>
          <a:p>
            <a:pPr>
              <a:defRPr sz="1575" b="0">
                <a:solidFill>
                  <a:srgbClr val="546573"/>
                </a:solidFill>
                <a:latin typeface="Arial"/>
                <a:ea typeface="Arial"/>
                <a:cs typeface="Arial"/>
              </a:defRPr>
            </a:pPr>
            <a:r>
              <a:t>All-ticket processing tail latency.</a:t>
            </a:r>
          </a:p>
        </p:txBody>
      </p:sp>
      <p:sp>
        <p:nvSpPr>
          <p:cNvPr id="25" name="text-24">
            <a:extLst>
              <a:ext uri="{FF2B5EF4-FFF2-40B4-BE49-F238E27FC236}">
                <a16:creationId xmlns:a16="http://schemas.microsoft.com/office/drawing/2014/main" id="{8F1CF551-3B25-4E61-8FC2-87E669F1465A}"/>
              </a:ext>
            </a:extLst>
          </p:cNvPr>
          <p:cNvSpPr>
            <a:spLocks noGrp="1"/>
          </p:cNvSpPr>
          <p:nvPr/>
        </p:nvSpPr>
        <p:spPr>
          <a:xfrm>
            <a:off x="7400925" y="4581525"/>
            <a:ext cx="4067175" cy="514350"/>
          </a:xfrm>
          <a:prstGeom prst="rect">
            <a:avLst/>
          </a:prstGeom>
        </p:spPr>
        <p:txBody>
          <a:bodyPr wrap="square" lIns="0" tIns="0" rIns="0" bIns="0" anchor="t"/>
          <a:lstStyle/>
          <a:p>
            <a:pPr>
              <a:defRPr sz="1575" b="0">
                <a:solidFill>
                  <a:srgbClr val="546573"/>
                </a:solidFill>
                <a:latin typeface="Arial"/>
                <a:ea typeface="Arial"/>
                <a:cs typeface="Arial"/>
              </a:defRPr>
            </a:pPr>
            <a:r>
              <a:t>Passes &lt;300 s; does not meet the &lt;3 s bar.</a:t>
            </a:r>
          </a:p>
        </p:txBody>
      </p:sp>
      <p:sp>
        <p:nvSpPr>
          <p:cNvPr id="26" name="shape-25">
            <a:extLst>
              <a:ext uri="{FF2B5EF4-FFF2-40B4-BE49-F238E27FC236}">
                <a16:creationId xmlns:a16="http://schemas.microsoft.com/office/drawing/2014/main" id="{2E15B53C-701E-4F9A-BBF6-646C5CB34DCB}"/>
              </a:ext>
            </a:extLst>
          </p:cNvPr>
          <p:cNvSpPr>
            <a:spLocks noGrp="1"/>
          </p:cNvSpPr>
          <p:nvPr/>
        </p:nvSpPr>
        <p:spPr>
          <a:xfrm>
            <a:off x="609600" y="5133975"/>
            <a:ext cx="10972800" cy="9525"/>
          </a:xfrm>
          <a:prstGeom prst="rect">
            <a:avLst/>
          </a:prstGeom>
          <a:solidFill>
            <a:srgbClr val="CDD3D2"/>
          </a:solidFill>
        </p:spPr>
      </p:sp>
      <p:sp>
        <p:nvSpPr>
          <p:cNvPr id="27" name="text-26">
            <a:extLst>
              <a:ext uri="{FF2B5EF4-FFF2-40B4-BE49-F238E27FC236}">
                <a16:creationId xmlns:a16="http://schemas.microsoft.com/office/drawing/2014/main" id="{C0830E6E-C26E-48DB-BB89-5320978D059A}"/>
              </a:ext>
            </a:extLst>
          </p:cNvPr>
          <p:cNvSpPr>
            <a:spLocks noGrp="1"/>
          </p:cNvSpPr>
          <p:nvPr/>
        </p:nvSpPr>
        <p:spPr>
          <a:xfrm>
            <a:off x="723900" y="5248275"/>
            <a:ext cx="2457450" cy="514350"/>
          </a:xfrm>
          <a:prstGeom prst="rect">
            <a:avLst/>
          </a:prstGeom>
        </p:spPr>
        <p:txBody>
          <a:bodyPr wrap="square" lIns="0" tIns="0" rIns="0" bIns="0" anchor="t"/>
          <a:lstStyle/>
          <a:p>
            <a:pPr>
              <a:defRPr sz="1575" b="1">
                <a:solidFill>
                  <a:srgbClr val="173047"/>
                </a:solidFill>
                <a:latin typeface="Arial"/>
                <a:ea typeface="Arial"/>
                <a:cs typeface="Arial"/>
              </a:defRPr>
            </a:pPr>
            <a:r>
              <a:t>0 detected PII patterns</a:t>
            </a:r>
          </a:p>
        </p:txBody>
      </p:sp>
      <p:sp>
        <p:nvSpPr>
          <p:cNvPr id="28" name="text-27">
            <a:extLst>
              <a:ext uri="{FF2B5EF4-FFF2-40B4-BE49-F238E27FC236}">
                <a16:creationId xmlns:a16="http://schemas.microsoft.com/office/drawing/2014/main" id="{B469BEAA-9293-4FFC-8F34-A1B531D4883C}"/>
              </a:ext>
            </a:extLst>
          </p:cNvPr>
          <p:cNvSpPr>
            <a:spLocks noGrp="1"/>
          </p:cNvSpPr>
          <p:nvPr/>
        </p:nvSpPr>
        <p:spPr>
          <a:xfrm>
            <a:off x="3409950" y="5248275"/>
            <a:ext cx="3762375" cy="514350"/>
          </a:xfrm>
          <a:prstGeom prst="rect">
            <a:avLst/>
          </a:prstGeom>
        </p:spPr>
        <p:txBody>
          <a:bodyPr wrap="square" lIns="0" tIns="0" rIns="0" bIns="0" anchor="t"/>
          <a:lstStyle/>
          <a:p>
            <a:pPr>
              <a:defRPr sz="1575" b="0">
                <a:solidFill>
                  <a:srgbClr val="546573"/>
                </a:solidFill>
                <a:latin typeface="Arial"/>
                <a:ea typeface="Arial"/>
                <a:cs typeface="Arial"/>
              </a:defRPr>
            </a:pPr>
            <a:r>
              <a:t>No matches in the implemented draft scan.</a:t>
            </a:r>
          </a:p>
        </p:txBody>
      </p:sp>
      <p:sp>
        <p:nvSpPr>
          <p:cNvPr id="29" name="text-28">
            <a:extLst>
              <a:ext uri="{FF2B5EF4-FFF2-40B4-BE49-F238E27FC236}">
                <a16:creationId xmlns:a16="http://schemas.microsoft.com/office/drawing/2014/main" id="{5CE9C94F-E11F-486B-B61F-47FA4A2E84CE}"/>
              </a:ext>
            </a:extLst>
          </p:cNvPr>
          <p:cNvSpPr>
            <a:spLocks noGrp="1"/>
          </p:cNvSpPr>
          <p:nvPr/>
        </p:nvSpPr>
        <p:spPr>
          <a:xfrm>
            <a:off x="7400925" y="5248275"/>
            <a:ext cx="4067175" cy="514350"/>
          </a:xfrm>
          <a:prstGeom prst="rect">
            <a:avLst/>
          </a:prstGeom>
        </p:spPr>
        <p:txBody>
          <a:bodyPr wrap="square" lIns="0" tIns="0" rIns="0" bIns="0" anchor="t"/>
          <a:lstStyle/>
          <a:p>
            <a:pPr>
              <a:defRPr sz="1575" b="0">
                <a:solidFill>
                  <a:srgbClr val="546573"/>
                </a:solidFill>
                <a:latin typeface="Arial"/>
                <a:ea typeface="Arial"/>
                <a:cs typeface="Arial"/>
              </a:defRPr>
            </a:pPr>
            <a:r>
              <a:t>Not verified zero outbound disclosure.</a:t>
            </a:r>
          </a:p>
        </p:txBody>
      </p:sp>
      <p:sp>
        <p:nvSpPr>
          <p:cNvPr id="30" name="shape-29">
            <a:extLst>
              <a:ext uri="{FF2B5EF4-FFF2-40B4-BE49-F238E27FC236}">
                <a16:creationId xmlns:a16="http://schemas.microsoft.com/office/drawing/2014/main" id="{CBB03B19-0A0C-4D2A-B3DC-0D246F5ECA19}"/>
              </a:ext>
            </a:extLst>
          </p:cNvPr>
          <p:cNvSpPr>
            <a:spLocks noGrp="1"/>
          </p:cNvSpPr>
          <p:nvPr/>
        </p:nvSpPr>
        <p:spPr>
          <a:xfrm>
            <a:off x="609600" y="5800725"/>
            <a:ext cx="10972800" cy="9525"/>
          </a:xfrm>
          <a:prstGeom prst="rect">
            <a:avLst/>
          </a:prstGeom>
          <a:solidFill>
            <a:srgbClr val="CDD3D2"/>
          </a:solidFill>
        </p:spPr>
      </p:sp>
    </p:spTree>
    <p:extLst>
      <p:ext uri="{BB962C8B-B14F-4D97-AF65-F5344CB8AC3E}">
        <p14:creationId xmlns:p14="http://schemas.microsoft.com/office/powerpoint/2010/main" val="1746194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7" name="kicker-marker">
            <a:extLst>
              <a:ext uri="{FF2B5EF4-FFF2-40B4-BE49-F238E27FC236}">
                <a16:creationId xmlns:a16="http://schemas.microsoft.com/office/drawing/2014/main" id="{F5643C2A-3420-4822-90F9-D1D9407D80A7}"/>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B6D2641B-3C27-41C3-A4C3-7AF38D8E0205}"/>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ERROR ANALYSIS</a:t>
            </a:r>
          </a:p>
        </p:txBody>
      </p:sp>
      <p:sp>
        <p:nvSpPr>
          <p:cNvPr id="3" name="text-2">
            <a:extLst>
              <a:ext uri="{FF2B5EF4-FFF2-40B4-BE49-F238E27FC236}">
                <a16:creationId xmlns:a16="http://schemas.microsoft.com/office/drawing/2014/main" id="{7F41BC84-FF1F-4B7B-9DEC-0221EF142D2D}"/>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Routing and urgency errors explain</a:t>
            </a:r>
          </a:p>
          <a:p>
            <a:pPr>
              <a:defRPr sz="3150" b="0">
                <a:solidFill>
                  <a:srgbClr val="173047"/>
                </a:solidFill>
                <a:latin typeface="Georgia"/>
                <a:ea typeface="Georgia"/>
                <a:cs typeface="Georgia"/>
              </a:defRPr>
            </a:pPr>
            <a:r>
              <a:t>where the next sprint should focus</a:t>
            </a:r>
          </a:p>
        </p:txBody>
      </p:sp>
      <p:sp>
        <p:nvSpPr>
          <p:cNvPr id="4" name="shape-3">
            <a:extLst>
              <a:ext uri="{FF2B5EF4-FFF2-40B4-BE49-F238E27FC236}">
                <a16:creationId xmlns:a16="http://schemas.microsoft.com/office/drawing/2014/main" id="{2CD426B9-B671-4182-9C22-E06754E684F2}"/>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A6EC2A74-74AE-48D2-A485-22637DEC434C}"/>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Paired latest_report.json and latest_ticket_results.json · 80-ticket saved evaluation</a:t>
            </a:r>
          </a:p>
        </p:txBody>
      </p:sp>
      <p:sp>
        <p:nvSpPr>
          <p:cNvPr id="6" name="text-5">
            <a:extLst>
              <a:ext uri="{FF2B5EF4-FFF2-40B4-BE49-F238E27FC236}">
                <a16:creationId xmlns:a16="http://schemas.microsoft.com/office/drawing/2014/main" id="{C7DF61BB-B398-41E3-9275-36C48211091F}"/>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21</a:t>
            </a:r>
          </a:p>
        </p:txBody>
      </p:sp>
      <p:sp>
        <p:nvSpPr>
          <p:cNvPr id="7" name="text-6">
            <a:extLst>
              <a:ext uri="{FF2B5EF4-FFF2-40B4-BE49-F238E27FC236}">
                <a16:creationId xmlns:a16="http://schemas.microsoft.com/office/drawing/2014/main" id="{F0155637-C970-4634-8799-75379890E6A6}"/>
              </a:ext>
            </a:extLst>
          </p:cNvPr>
          <p:cNvSpPr>
            <a:spLocks noGrp="1"/>
          </p:cNvSpPr>
          <p:nvPr/>
        </p:nvSpPr>
        <p:spPr>
          <a:xfrm>
            <a:off x="609600" y="2085975"/>
            <a:ext cx="6096000" cy="228600"/>
          </a:xfrm>
          <a:prstGeom prst="rect">
            <a:avLst/>
          </a:prstGeom>
        </p:spPr>
        <p:txBody>
          <a:bodyPr wrap="square" lIns="0" tIns="0" rIns="0" bIns="0" anchor="t"/>
          <a:lstStyle/>
          <a:p>
            <a:pPr>
              <a:defRPr sz="975" b="1">
                <a:solidFill>
                  <a:srgbClr val="00766B"/>
                </a:solidFill>
                <a:latin typeface="Arial"/>
                <a:ea typeface="Arial"/>
                <a:cs typeface="Arial"/>
              </a:defRPr>
            </a:pPr>
            <a:r>
              <a:t>EXPECTED LABEL → ACTUAL ROUTE</a:t>
            </a:r>
          </a:p>
        </p:txBody>
      </p:sp>
      <p:sp>
        <p:nvSpPr>
          <p:cNvPr id="8" name="text-7">
            <a:extLst>
              <a:ext uri="{FF2B5EF4-FFF2-40B4-BE49-F238E27FC236}">
                <a16:creationId xmlns:a16="http://schemas.microsoft.com/office/drawing/2014/main" id="{30339385-0B7F-41ED-B2D7-F169559F4B3E}"/>
              </a:ext>
            </a:extLst>
          </p:cNvPr>
          <p:cNvSpPr>
            <a:spLocks noGrp="1"/>
          </p:cNvSpPr>
          <p:nvPr/>
        </p:nvSpPr>
        <p:spPr>
          <a:xfrm>
            <a:off x="2647950" y="2581275"/>
            <a:ext cx="1714500" cy="228600"/>
          </a:xfrm>
          <a:prstGeom prst="rect">
            <a:avLst/>
          </a:prstGeom>
        </p:spPr>
        <p:txBody>
          <a:bodyPr wrap="square" lIns="0" tIns="0" rIns="0" bIns="0" anchor="t"/>
          <a:lstStyle/>
          <a:p>
            <a:pPr>
              <a:defRPr sz="975" b="1">
                <a:solidFill>
                  <a:srgbClr val="00766B"/>
                </a:solidFill>
                <a:latin typeface="Arial"/>
                <a:ea typeface="Arial"/>
                <a:cs typeface="Arial"/>
              </a:defRPr>
            </a:pPr>
            <a:r>
              <a:t>ACTUAL AUTO</a:t>
            </a:r>
          </a:p>
        </p:txBody>
      </p:sp>
      <p:sp>
        <p:nvSpPr>
          <p:cNvPr id="9" name="text-8">
            <a:extLst>
              <a:ext uri="{FF2B5EF4-FFF2-40B4-BE49-F238E27FC236}">
                <a16:creationId xmlns:a16="http://schemas.microsoft.com/office/drawing/2014/main" id="{3E34030F-62CA-4C51-8E15-E894AA91F908}"/>
              </a:ext>
            </a:extLst>
          </p:cNvPr>
          <p:cNvSpPr>
            <a:spLocks noGrp="1"/>
          </p:cNvSpPr>
          <p:nvPr/>
        </p:nvSpPr>
        <p:spPr>
          <a:xfrm>
            <a:off x="4476750" y="2581275"/>
            <a:ext cx="1981200" cy="228600"/>
          </a:xfrm>
          <a:prstGeom prst="rect">
            <a:avLst/>
          </a:prstGeom>
        </p:spPr>
        <p:txBody>
          <a:bodyPr wrap="square" lIns="0" tIns="0" rIns="0" bIns="0" anchor="t"/>
          <a:lstStyle/>
          <a:p>
            <a:pPr>
              <a:defRPr sz="975" b="1">
                <a:solidFill>
                  <a:srgbClr val="00766B"/>
                </a:solidFill>
                <a:latin typeface="Arial"/>
                <a:ea typeface="Arial"/>
                <a:cs typeface="Arial"/>
              </a:defRPr>
            </a:pPr>
            <a:r>
              <a:t>ACTUAL ESCALATE</a:t>
            </a:r>
          </a:p>
        </p:txBody>
      </p:sp>
      <p:sp>
        <p:nvSpPr>
          <p:cNvPr id="10" name="text-9">
            <a:extLst>
              <a:ext uri="{FF2B5EF4-FFF2-40B4-BE49-F238E27FC236}">
                <a16:creationId xmlns:a16="http://schemas.microsoft.com/office/drawing/2014/main" id="{3484AE95-96DA-4D51-8B83-F58317390C70}"/>
              </a:ext>
            </a:extLst>
          </p:cNvPr>
          <p:cNvSpPr>
            <a:spLocks noGrp="1"/>
          </p:cNvSpPr>
          <p:nvPr/>
        </p:nvSpPr>
        <p:spPr>
          <a:xfrm>
            <a:off x="609600" y="3171825"/>
            <a:ext cx="1695450" cy="762000"/>
          </a:xfrm>
          <a:prstGeom prst="rect">
            <a:avLst/>
          </a:prstGeom>
        </p:spPr>
        <p:txBody>
          <a:bodyPr wrap="square" lIns="0" tIns="0" rIns="0" bIns="0" anchor="t"/>
          <a:lstStyle/>
          <a:p>
            <a:pPr>
              <a:defRPr sz="1725" b="0">
                <a:solidFill>
                  <a:srgbClr val="173047"/>
                </a:solidFill>
                <a:latin typeface="Arial"/>
                <a:ea typeface="Arial"/>
                <a:cs typeface="Arial"/>
              </a:defRPr>
            </a:pPr>
            <a:r>
              <a:t>Expected</a:t>
            </a:r>
          </a:p>
          <a:p>
            <a:pPr>
              <a:defRPr sz="1725" b="0">
                <a:solidFill>
                  <a:srgbClr val="173047"/>
                </a:solidFill>
                <a:latin typeface="Arial"/>
                <a:ea typeface="Arial"/>
                <a:cs typeface="Arial"/>
              </a:defRPr>
            </a:pPr>
            <a:r>
              <a:t>auto</a:t>
            </a:r>
          </a:p>
        </p:txBody>
      </p:sp>
      <p:sp>
        <p:nvSpPr>
          <p:cNvPr id="11" name="text-10">
            <a:extLst>
              <a:ext uri="{FF2B5EF4-FFF2-40B4-BE49-F238E27FC236}">
                <a16:creationId xmlns:a16="http://schemas.microsoft.com/office/drawing/2014/main" id="{BF49BFF0-3CAC-4EDA-8E93-CF8354E2CCAF}"/>
              </a:ext>
            </a:extLst>
          </p:cNvPr>
          <p:cNvSpPr>
            <a:spLocks noGrp="1"/>
          </p:cNvSpPr>
          <p:nvPr/>
        </p:nvSpPr>
        <p:spPr>
          <a:xfrm>
            <a:off x="609600" y="4410075"/>
            <a:ext cx="1695450" cy="762000"/>
          </a:xfrm>
          <a:prstGeom prst="rect">
            <a:avLst/>
          </a:prstGeom>
        </p:spPr>
        <p:txBody>
          <a:bodyPr wrap="square" lIns="0" tIns="0" rIns="0" bIns="0" anchor="t"/>
          <a:lstStyle/>
          <a:p>
            <a:pPr>
              <a:defRPr sz="1725" b="0">
                <a:solidFill>
                  <a:srgbClr val="173047"/>
                </a:solidFill>
                <a:latin typeface="Arial"/>
                <a:ea typeface="Arial"/>
                <a:cs typeface="Arial"/>
              </a:defRPr>
            </a:pPr>
            <a:r>
              <a:t>Expected</a:t>
            </a:r>
          </a:p>
          <a:p>
            <a:pPr>
              <a:defRPr sz="1725" b="0">
                <a:solidFill>
                  <a:srgbClr val="173047"/>
                </a:solidFill>
                <a:latin typeface="Arial"/>
                <a:ea typeface="Arial"/>
                <a:cs typeface="Arial"/>
              </a:defRPr>
            </a:pPr>
            <a:r>
              <a:t>escalate</a:t>
            </a:r>
          </a:p>
        </p:txBody>
      </p:sp>
      <p:sp>
        <p:nvSpPr>
          <p:cNvPr id="12" name="shape-11">
            <a:extLst>
              <a:ext uri="{FF2B5EF4-FFF2-40B4-BE49-F238E27FC236}">
                <a16:creationId xmlns:a16="http://schemas.microsoft.com/office/drawing/2014/main" id="{33ACF445-E8D9-4500-BCC8-F0F41251EED8}"/>
              </a:ext>
            </a:extLst>
          </p:cNvPr>
          <p:cNvSpPr>
            <a:spLocks noGrp="1"/>
          </p:cNvSpPr>
          <p:nvPr/>
        </p:nvSpPr>
        <p:spPr>
          <a:xfrm>
            <a:off x="2419350" y="2962275"/>
            <a:ext cx="1743075" cy="1104900"/>
          </a:xfrm>
          <a:prstGeom prst="rect">
            <a:avLst/>
          </a:prstGeom>
          <a:solidFill>
            <a:srgbClr val="E3ECE8"/>
          </a:solidFill>
        </p:spPr>
      </p:sp>
      <p:sp>
        <p:nvSpPr>
          <p:cNvPr id="13" name="text-12">
            <a:extLst>
              <a:ext uri="{FF2B5EF4-FFF2-40B4-BE49-F238E27FC236}">
                <a16:creationId xmlns:a16="http://schemas.microsoft.com/office/drawing/2014/main" id="{646DFF53-D0F4-428D-A926-EBAD16DD0F93}"/>
              </a:ext>
            </a:extLst>
          </p:cNvPr>
          <p:cNvSpPr>
            <a:spLocks noGrp="1"/>
          </p:cNvSpPr>
          <p:nvPr/>
        </p:nvSpPr>
        <p:spPr>
          <a:xfrm>
            <a:off x="2657475" y="3152775"/>
            <a:ext cx="1295400" cy="742950"/>
          </a:xfrm>
          <a:prstGeom prst="rect">
            <a:avLst/>
          </a:prstGeom>
        </p:spPr>
        <p:txBody>
          <a:bodyPr wrap="square" lIns="0" tIns="0" rIns="0" bIns="0" anchor="t"/>
          <a:lstStyle/>
          <a:p>
            <a:pPr>
              <a:defRPr sz="4200" b="0">
                <a:solidFill>
                  <a:srgbClr val="173047"/>
                </a:solidFill>
                <a:latin typeface="Georgia"/>
                <a:ea typeface="Georgia"/>
                <a:cs typeface="Georgia"/>
              </a:defRPr>
            </a:pPr>
            <a:r>
              <a:t>41</a:t>
            </a:r>
          </a:p>
        </p:txBody>
      </p:sp>
      <p:sp>
        <p:nvSpPr>
          <p:cNvPr id="14" name="shape-13">
            <a:extLst>
              <a:ext uri="{FF2B5EF4-FFF2-40B4-BE49-F238E27FC236}">
                <a16:creationId xmlns:a16="http://schemas.microsoft.com/office/drawing/2014/main" id="{4DCAAB57-08DF-439E-B86F-F531AAB4E1D3}"/>
              </a:ext>
            </a:extLst>
          </p:cNvPr>
          <p:cNvSpPr>
            <a:spLocks noGrp="1"/>
          </p:cNvSpPr>
          <p:nvPr/>
        </p:nvSpPr>
        <p:spPr>
          <a:xfrm>
            <a:off x="4314825" y="2962275"/>
            <a:ext cx="1743075" cy="1104900"/>
          </a:xfrm>
          <a:prstGeom prst="rect">
            <a:avLst/>
          </a:prstGeom>
          <a:solidFill>
            <a:srgbClr val="F1E3CF"/>
          </a:solidFill>
        </p:spPr>
      </p:sp>
      <p:sp>
        <p:nvSpPr>
          <p:cNvPr id="15" name="text-14">
            <a:extLst>
              <a:ext uri="{FF2B5EF4-FFF2-40B4-BE49-F238E27FC236}">
                <a16:creationId xmlns:a16="http://schemas.microsoft.com/office/drawing/2014/main" id="{CF0AE2D2-C94A-4159-B4F8-F6C21723E4BB}"/>
              </a:ext>
            </a:extLst>
          </p:cNvPr>
          <p:cNvSpPr>
            <a:spLocks noGrp="1"/>
          </p:cNvSpPr>
          <p:nvPr/>
        </p:nvSpPr>
        <p:spPr>
          <a:xfrm>
            <a:off x="4552950" y="3152775"/>
            <a:ext cx="1295400" cy="742950"/>
          </a:xfrm>
          <a:prstGeom prst="rect">
            <a:avLst/>
          </a:prstGeom>
        </p:spPr>
        <p:txBody>
          <a:bodyPr wrap="square" lIns="0" tIns="0" rIns="0" bIns="0" anchor="t"/>
          <a:lstStyle/>
          <a:p>
            <a:pPr>
              <a:defRPr sz="4200" b="0">
                <a:solidFill>
                  <a:srgbClr val="173047"/>
                </a:solidFill>
                <a:latin typeface="Georgia"/>
                <a:ea typeface="Georgia"/>
                <a:cs typeface="Georgia"/>
              </a:defRPr>
            </a:pPr>
            <a:r>
              <a:t>7</a:t>
            </a:r>
          </a:p>
        </p:txBody>
      </p:sp>
      <p:sp>
        <p:nvSpPr>
          <p:cNvPr id="16" name="shape-15">
            <a:extLst>
              <a:ext uri="{FF2B5EF4-FFF2-40B4-BE49-F238E27FC236}">
                <a16:creationId xmlns:a16="http://schemas.microsoft.com/office/drawing/2014/main" id="{7909BDCD-6E7A-4790-A91F-8DE86651F593}"/>
              </a:ext>
            </a:extLst>
          </p:cNvPr>
          <p:cNvSpPr>
            <a:spLocks noGrp="1"/>
          </p:cNvSpPr>
          <p:nvPr/>
        </p:nvSpPr>
        <p:spPr>
          <a:xfrm>
            <a:off x="2419350" y="4229100"/>
            <a:ext cx="1743075" cy="1104900"/>
          </a:xfrm>
          <a:prstGeom prst="rect">
            <a:avLst/>
          </a:prstGeom>
          <a:solidFill>
            <a:srgbClr val="F1E3CF"/>
          </a:solidFill>
        </p:spPr>
      </p:sp>
      <p:sp>
        <p:nvSpPr>
          <p:cNvPr id="17" name="text-16">
            <a:extLst>
              <a:ext uri="{FF2B5EF4-FFF2-40B4-BE49-F238E27FC236}">
                <a16:creationId xmlns:a16="http://schemas.microsoft.com/office/drawing/2014/main" id="{F05620D7-CC4A-49A5-A962-A66588A11C2E}"/>
              </a:ext>
            </a:extLst>
          </p:cNvPr>
          <p:cNvSpPr>
            <a:spLocks noGrp="1"/>
          </p:cNvSpPr>
          <p:nvPr/>
        </p:nvSpPr>
        <p:spPr>
          <a:xfrm>
            <a:off x="2657475" y="4419600"/>
            <a:ext cx="1295400" cy="742950"/>
          </a:xfrm>
          <a:prstGeom prst="rect">
            <a:avLst/>
          </a:prstGeom>
        </p:spPr>
        <p:txBody>
          <a:bodyPr wrap="square" lIns="0" tIns="0" rIns="0" bIns="0" anchor="t"/>
          <a:lstStyle/>
          <a:p>
            <a:pPr>
              <a:defRPr sz="4200" b="0">
                <a:solidFill>
                  <a:srgbClr val="173047"/>
                </a:solidFill>
                <a:latin typeface="Georgia"/>
                <a:ea typeface="Georgia"/>
                <a:cs typeface="Georgia"/>
              </a:defRPr>
            </a:pPr>
            <a:r>
              <a:t>15</a:t>
            </a:r>
          </a:p>
        </p:txBody>
      </p:sp>
      <p:sp>
        <p:nvSpPr>
          <p:cNvPr id="18" name="shape-17">
            <a:extLst>
              <a:ext uri="{FF2B5EF4-FFF2-40B4-BE49-F238E27FC236}">
                <a16:creationId xmlns:a16="http://schemas.microsoft.com/office/drawing/2014/main" id="{CF3BE5EA-7853-44EB-B51A-AFE7E8F7DA89}"/>
              </a:ext>
            </a:extLst>
          </p:cNvPr>
          <p:cNvSpPr>
            <a:spLocks noGrp="1"/>
          </p:cNvSpPr>
          <p:nvPr/>
        </p:nvSpPr>
        <p:spPr>
          <a:xfrm>
            <a:off x="4314825" y="4229100"/>
            <a:ext cx="1743075" cy="1104900"/>
          </a:xfrm>
          <a:prstGeom prst="rect">
            <a:avLst/>
          </a:prstGeom>
          <a:solidFill>
            <a:srgbClr val="E3ECE8"/>
          </a:solidFill>
        </p:spPr>
      </p:sp>
      <p:sp>
        <p:nvSpPr>
          <p:cNvPr id="19" name="text-18">
            <a:extLst>
              <a:ext uri="{FF2B5EF4-FFF2-40B4-BE49-F238E27FC236}">
                <a16:creationId xmlns:a16="http://schemas.microsoft.com/office/drawing/2014/main" id="{6DE3BB6D-CF80-4C56-87AA-A96256DF28A8}"/>
              </a:ext>
            </a:extLst>
          </p:cNvPr>
          <p:cNvSpPr>
            <a:spLocks noGrp="1"/>
          </p:cNvSpPr>
          <p:nvPr/>
        </p:nvSpPr>
        <p:spPr>
          <a:xfrm>
            <a:off x="4552950" y="4419600"/>
            <a:ext cx="1295400" cy="742950"/>
          </a:xfrm>
          <a:prstGeom prst="rect">
            <a:avLst/>
          </a:prstGeom>
        </p:spPr>
        <p:txBody>
          <a:bodyPr wrap="square" lIns="0" tIns="0" rIns="0" bIns="0" anchor="t"/>
          <a:lstStyle/>
          <a:p>
            <a:pPr>
              <a:defRPr sz="4200" b="0">
                <a:solidFill>
                  <a:srgbClr val="173047"/>
                </a:solidFill>
                <a:latin typeface="Georgia"/>
                <a:ea typeface="Georgia"/>
                <a:cs typeface="Georgia"/>
              </a:defRPr>
            </a:pPr>
            <a:r>
              <a:t>17</a:t>
            </a:r>
          </a:p>
        </p:txBody>
      </p:sp>
      <p:sp>
        <p:nvSpPr>
          <p:cNvPr id="20" name="text-19">
            <a:extLst>
              <a:ext uri="{FF2B5EF4-FFF2-40B4-BE49-F238E27FC236}">
                <a16:creationId xmlns:a16="http://schemas.microsoft.com/office/drawing/2014/main" id="{B903B272-C97B-41FA-AFB3-2D445DB7C43A}"/>
              </a:ext>
            </a:extLst>
          </p:cNvPr>
          <p:cNvSpPr>
            <a:spLocks noGrp="1"/>
          </p:cNvSpPr>
          <p:nvPr/>
        </p:nvSpPr>
        <p:spPr>
          <a:xfrm>
            <a:off x="609600" y="5600700"/>
            <a:ext cx="5762625" cy="428625"/>
          </a:xfrm>
          <a:prstGeom prst="rect">
            <a:avLst/>
          </a:prstGeom>
        </p:spPr>
        <p:txBody>
          <a:bodyPr wrap="square" lIns="0" tIns="0" rIns="0" bIns="0" anchor="t"/>
          <a:lstStyle/>
          <a:p>
            <a:pPr>
              <a:defRPr sz="1725" b="0">
                <a:solidFill>
                  <a:srgbClr val="00766B"/>
                </a:solidFill>
                <a:latin typeface="Arial"/>
                <a:ea typeface="Arial"/>
                <a:cs typeface="Arial"/>
              </a:defRPr>
            </a:pPr>
            <a:r>
              <a:t>Route agreement: 58 / 80 = 72.5%</a:t>
            </a:r>
          </a:p>
        </p:txBody>
      </p:sp>
      <p:sp>
        <p:nvSpPr>
          <p:cNvPr id="21" name="text-20">
            <a:extLst>
              <a:ext uri="{FF2B5EF4-FFF2-40B4-BE49-F238E27FC236}">
                <a16:creationId xmlns:a16="http://schemas.microsoft.com/office/drawing/2014/main" id="{627528FD-2539-4D6C-B200-09370DA85987}"/>
              </a:ext>
            </a:extLst>
          </p:cNvPr>
          <p:cNvSpPr>
            <a:spLocks noGrp="1"/>
          </p:cNvSpPr>
          <p:nvPr/>
        </p:nvSpPr>
        <p:spPr>
          <a:xfrm>
            <a:off x="7086600" y="2181225"/>
            <a:ext cx="4429125" cy="571500"/>
          </a:xfrm>
          <a:prstGeom prst="rect">
            <a:avLst/>
          </a:prstGeom>
        </p:spPr>
        <p:txBody>
          <a:bodyPr wrap="square" lIns="0" tIns="0" rIns="0" bIns="0" anchor="t"/>
          <a:lstStyle/>
          <a:p>
            <a:pPr>
              <a:defRPr sz="3300" b="0">
                <a:solidFill>
                  <a:srgbClr val="B87522"/>
                </a:solidFill>
                <a:latin typeface="Georgia"/>
                <a:ea typeface="Georgia"/>
                <a:cs typeface="Georgia"/>
              </a:defRPr>
            </a:pPr>
            <a:r>
              <a:t>20%</a:t>
            </a:r>
          </a:p>
        </p:txBody>
      </p:sp>
      <p:sp>
        <p:nvSpPr>
          <p:cNvPr id="22" name="text-21">
            <a:extLst>
              <a:ext uri="{FF2B5EF4-FFF2-40B4-BE49-F238E27FC236}">
                <a16:creationId xmlns:a16="http://schemas.microsoft.com/office/drawing/2014/main" id="{7E3BC3B8-A29E-4352-AA2F-D29030E75ECC}"/>
              </a:ext>
            </a:extLst>
          </p:cNvPr>
          <p:cNvSpPr>
            <a:spLocks noGrp="1"/>
          </p:cNvSpPr>
          <p:nvPr/>
        </p:nvSpPr>
        <p:spPr>
          <a:xfrm>
            <a:off x="7086600" y="2752725"/>
            <a:ext cx="4429125" cy="476250"/>
          </a:xfrm>
          <a:prstGeom prst="rect">
            <a:avLst/>
          </a:prstGeom>
        </p:spPr>
        <p:txBody>
          <a:bodyPr wrap="square" lIns="0" tIns="0" rIns="0" bIns="0" anchor="t"/>
          <a:lstStyle/>
          <a:p>
            <a:pPr>
              <a:defRPr sz="1575" b="0">
                <a:solidFill>
                  <a:srgbClr val="546573"/>
                </a:solidFill>
                <a:latin typeface="Arial"/>
                <a:ea typeface="Arial"/>
                <a:cs typeface="Arial"/>
              </a:defRPr>
            </a:pPr>
            <a:r>
              <a:t>high-urgency recall · 5 / 25</a:t>
            </a:r>
          </a:p>
        </p:txBody>
      </p:sp>
      <p:sp>
        <p:nvSpPr>
          <p:cNvPr id="23" name="text-22">
            <a:extLst>
              <a:ext uri="{FF2B5EF4-FFF2-40B4-BE49-F238E27FC236}">
                <a16:creationId xmlns:a16="http://schemas.microsoft.com/office/drawing/2014/main" id="{8CAB5616-DFEA-4960-82DF-0F01EBBD6C19}"/>
              </a:ext>
            </a:extLst>
          </p:cNvPr>
          <p:cNvSpPr>
            <a:spLocks noGrp="1"/>
          </p:cNvSpPr>
          <p:nvPr/>
        </p:nvSpPr>
        <p:spPr>
          <a:xfrm>
            <a:off x="7086600" y="3448050"/>
            <a:ext cx="4429125" cy="571500"/>
          </a:xfrm>
          <a:prstGeom prst="rect">
            <a:avLst/>
          </a:prstGeom>
        </p:spPr>
        <p:txBody>
          <a:bodyPr wrap="square" lIns="0" tIns="0" rIns="0" bIns="0" anchor="t"/>
          <a:lstStyle/>
          <a:p>
            <a:pPr>
              <a:defRPr sz="3300" b="0">
                <a:solidFill>
                  <a:srgbClr val="B87522"/>
                </a:solidFill>
                <a:latin typeface="Georgia"/>
                <a:ea typeface="Georgia"/>
                <a:cs typeface="Georgia"/>
              </a:defRPr>
            </a:pPr>
            <a:r>
              <a:t>11.81 pp</a:t>
            </a:r>
          </a:p>
        </p:txBody>
      </p:sp>
      <p:sp>
        <p:nvSpPr>
          <p:cNvPr id="24" name="text-23">
            <a:extLst>
              <a:ext uri="{FF2B5EF4-FFF2-40B4-BE49-F238E27FC236}">
                <a16:creationId xmlns:a16="http://schemas.microsoft.com/office/drawing/2014/main" id="{76A3A90B-ECEB-49F4-8FB2-E91E50CC0E25}"/>
              </a:ext>
            </a:extLst>
          </p:cNvPr>
          <p:cNvSpPr>
            <a:spLocks noGrp="1"/>
          </p:cNvSpPr>
          <p:nvPr/>
        </p:nvSpPr>
        <p:spPr>
          <a:xfrm>
            <a:off x="7086600" y="4019550"/>
            <a:ext cx="4429125" cy="476250"/>
          </a:xfrm>
          <a:prstGeom prst="rect">
            <a:avLst/>
          </a:prstGeom>
        </p:spPr>
        <p:txBody>
          <a:bodyPr wrap="square" lIns="0" tIns="0" rIns="0" bIns="0" anchor="t"/>
          <a:lstStyle/>
          <a:p>
            <a:pPr>
              <a:defRPr sz="1575" b="0">
                <a:solidFill>
                  <a:srgbClr val="546573"/>
                </a:solidFill>
                <a:latin typeface="Arial"/>
                <a:ea typeface="Arial"/>
                <a:cs typeface="Arial"/>
              </a:defRPr>
            </a:pPr>
            <a:r>
              <a:t>mean confidence − accuracy</a:t>
            </a:r>
          </a:p>
        </p:txBody>
      </p:sp>
      <p:sp>
        <p:nvSpPr>
          <p:cNvPr id="25" name="text-24">
            <a:extLst>
              <a:ext uri="{FF2B5EF4-FFF2-40B4-BE49-F238E27FC236}">
                <a16:creationId xmlns:a16="http://schemas.microsoft.com/office/drawing/2014/main" id="{7171011D-0AFD-4736-9F8F-6CC918B4F0B3}"/>
              </a:ext>
            </a:extLst>
          </p:cNvPr>
          <p:cNvSpPr>
            <a:spLocks noGrp="1"/>
          </p:cNvSpPr>
          <p:nvPr/>
        </p:nvSpPr>
        <p:spPr>
          <a:xfrm>
            <a:off x="7086600" y="4714875"/>
            <a:ext cx="4429125" cy="571500"/>
          </a:xfrm>
          <a:prstGeom prst="rect">
            <a:avLst/>
          </a:prstGeom>
        </p:spPr>
        <p:txBody>
          <a:bodyPr wrap="square" lIns="0" tIns="0" rIns="0" bIns="0" anchor="t"/>
          <a:lstStyle/>
          <a:p>
            <a:pPr>
              <a:defRPr sz="3300" b="0">
                <a:solidFill>
                  <a:srgbClr val="00766B"/>
                </a:solidFill>
                <a:latin typeface="Georgia"/>
                <a:ea typeface="Georgia"/>
                <a:cs typeface="Georgia"/>
              </a:defRPr>
            </a:pPr>
            <a:r>
              <a:t>0 / 14</a:t>
            </a:r>
          </a:p>
        </p:txBody>
      </p:sp>
      <p:sp>
        <p:nvSpPr>
          <p:cNvPr id="26" name="text-25">
            <a:extLst>
              <a:ext uri="{FF2B5EF4-FFF2-40B4-BE49-F238E27FC236}">
                <a16:creationId xmlns:a16="http://schemas.microsoft.com/office/drawing/2014/main" id="{E0B2AF6E-F1A5-44AC-A71C-1C7D1AE99761}"/>
              </a:ext>
            </a:extLst>
          </p:cNvPr>
          <p:cNvSpPr>
            <a:spLocks noGrp="1"/>
          </p:cNvSpPr>
          <p:nvPr/>
        </p:nvSpPr>
        <p:spPr>
          <a:xfrm>
            <a:off x="7086600" y="5286375"/>
            <a:ext cx="4429125" cy="476250"/>
          </a:xfrm>
          <a:prstGeom prst="rect">
            <a:avLst/>
          </a:prstGeom>
        </p:spPr>
        <p:txBody>
          <a:bodyPr wrap="square" lIns="0" tIns="0" rIns="0" bIns="0" anchor="t"/>
          <a:lstStyle/>
          <a:p>
            <a:pPr>
              <a:defRPr sz="1575" b="0">
                <a:solidFill>
                  <a:srgbClr val="546573"/>
                </a:solidFill>
                <a:latin typeface="Arial"/>
                <a:ea typeface="Arial"/>
                <a:cs typeface="Arial"/>
              </a:defRPr>
            </a:pPr>
            <a:r>
              <a:t>must-not-auto violations</a:t>
            </a:r>
          </a:p>
        </p:txBody>
      </p:sp>
    </p:spTree>
    <p:extLst>
      <p:ext uri="{BB962C8B-B14F-4D97-AF65-F5344CB8AC3E}">
        <p14:creationId xmlns:p14="http://schemas.microsoft.com/office/powerpoint/2010/main" val="1112933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7" name="kicker-marker">
            <a:extLst>
              <a:ext uri="{FF2B5EF4-FFF2-40B4-BE49-F238E27FC236}">
                <a16:creationId xmlns:a16="http://schemas.microsoft.com/office/drawing/2014/main" id="{0CF2B6ED-6369-457B-8FED-D2109D73BC8C}"/>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5C3A16DF-DEAE-409F-9A9D-7C9BA203A0E4}"/>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WHY PRD REVISION 2</a:t>
            </a:r>
          </a:p>
        </p:txBody>
      </p:sp>
      <p:sp>
        <p:nvSpPr>
          <p:cNvPr id="3" name="text-2">
            <a:extLst>
              <a:ext uri="{FF2B5EF4-FFF2-40B4-BE49-F238E27FC236}">
                <a16:creationId xmlns:a16="http://schemas.microsoft.com/office/drawing/2014/main" id="{32E74A0D-A991-494E-8988-4F72AA8F6E4A}"/>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PRD v2 should turn initial</a:t>
            </a:r>
          </a:p>
          <a:p>
            <a:pPr>
              <a:defRPr sz="3150" b="0">
                <a:solidFill>
                  <a:srgbClr val="173047"/>
                </a:solidFill>
                <a:latin typeface="Georgia"/>
                <a:ea typeface="Georgia"/>
                <a:cs typeface="Georgia"/>
              </a:defRPr>
            </a:pPr>
            <a:r>
              <a:t>assumptions into testable requirements</a:t>
            </a:r>
          </a:p>
        </p:txBody>
      </p:sp>
      <p:sp>
        <p:nvSpPr>
          <p:cNvPr id="4" name="shape-3">
            <a:extLst>
              <a:ext uri="{FF2B5EF4-FFF2-40B4-BE49-F238E27FC236}">
                <a16:creationId xmlns:a16="http://schemas.microsoft.com/office/drawing/2014/main" id="{FAFF3CA6-A480-41DC-8526-BBB23F8DAD33}"/>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975F0640-BAB4-4A06-9A6B-6FDD111BA2DC}"/>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Original PRD + saved evaluation; proposed consolidation of Stage_5_PRD_Revision_Log.docx</a:t>
            </a:r>
          </a:p>
        </p:txBody>
      </p:sp>
      <p:sp>
        <p:nvSpPr>
          <p:cNvPr id="6" name="text-5">
            <a:extLst>
              <a:ext uri="{FF2B5EF4-FFF2-40B4-BE49-F238E27FC236}">
                <a16:creationId xmlns:a16="http://schemas.microsoft.com/office/drawing/2014/main" id="{81F3583E-4F2E-408D-B244-AF45F05E8DC7}"/>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22</a:t>
            </a:r>
          </a:p>
        </p:txBody>
      </p:sp>
      <p:sp>
        <p:nvSpPr>
          <p:cNvPr id="7" name="shape-6">
            <a:extLst>
              <a:ext uri="{FF2B5EF4-FFF2-40B4-BE49-F238E27FC236}">
                <a16:creationId xmlns:a16="http://schemas.microsoft.com/office/drawing/2014/main" id="{8742A23B-4073-4FB3-BD79-999F190A1EA6}"/>
              </a:ext>
            </a:extLst>
          </p:cNvPr>
          <p:cNvSpPr>
            <a:spLocks noGrp="1"/>
          </p:cNvSpPr>
          <p:nvPr/>
        </p:nvSpPr>
        <p:spPr>
          <a:xfrm>
            <a:off x="609600" y="2076450"/>
            <a:ext cx="10972800" cy="381000"/>
          </a:xfrm>
          <a:prstGeom prst="rect">
            <a:avLst/>
          </a:prstGeom>
          <a:solidFill>
            <a:srgbClr val="E3ECE8"/>
          </a:solidFill>
        </p:spPr>
      </p:sp>
      <p:sp>
        <p:nvSpPr>
          <p:cNvPr id="8" name="text-7">
            <a:extLst>
              <a:ext uri="{FF2B5EF4-FFF2-40B4-BE49-F238E27FC236}">
                <a16:creationId xmlns:a16="http://schemas.microsoft.com/office/drawing/2014/main" id="{55583EC3-E08D-4171-B839-172FC56C8856}"/>
              </a:ext>
            </a:extLst>
          </p:cNvPr>
          <p:cNvSpPr>
            <a:spLocks noGrp="1"/>
          </p:cNvSpPr>
          <p:nvPr/>
        </p:nvSpPr>
        <p:spPr>
          <a:xfrm>
            <a:off x="723900" y="2190750"/>
            <a:ext cx="3228975" cy="152400"/>
          </a:xfrm>
          <a:prstGeom prst="rect">
            <a:avLst/>
          </a:prstGeom>
        </p:spPr>
        <p:txBody>
          <a:bodyPr wrap="square" lIns="0" tIns="0" rIns="0" bIns="0" anchor="t"/>
          <a:lstStyle/>
          <a:p>
            <a:pPr>
              <a:defRPr sz="975" b="1">
                <a:solidFill>
                  <a:srgbClr val="00766B"/>
                </a:solidFill>
                <a:latin typeface="Arial"/>
                <a:ea typeface="Arial"/>
                <a:cs typeface="Arial"/>
              </a:defRPr>
            </a:pPr>
            <a:r>
              <a:t>INITIAL ASSUMPTION</a:t>
            </a:r>
          </a:p>
        </p:txBody>
      </p:sp>
      <p:sp>
        <p:nvSpPr>
          <p:cNvPr id="9" name="text-8">
            <a:extLst>
              <a:ext uri="{FF2B5EF4-FFF2-40B4-BE49-F238E27FC236}">
                <a16:creationId xmlns:a16="http://schemas.microsoft.com/office/drawing/2014/main" id="{D3734A6F-3427-4E0B-9F3C-08A4A52AD1C5}"/>
              </a:ext>
            </a:extLst>
          </p:cNvPr>
          <p:cNvSpPr>
            <a:spLocks noGrp="1"/>
          </p:cNvSpPr>
          <p:nvPr/>
        </p:nvSpPr>
        <p:spPr>
          <a:xfrm>
            <a:off x="4181475" y="2190750"/>
            <a:ext cx="3486150" cy="152400"/>
          </a:xfrm>
          <a:prstGeom prst="rect">
            <a:avLst/>
          </a:prstGeom>
        </p:spPr>
        <p:txBody>
          <a:bodyPr wrap="square" lIns="0" tIns="0" rIns="0" bIns="0" anchor="t"/>
          <a:lstStyle/>
          <a:p>
            <a:pPr>
              <a:defRPr sz="975" b="1">
                <a:solidFill>
                  <a:srgbClr val="00766B"/>
                </a:solidFill>
                <a:latin typeface="Arial"/>
                <a:ea typeface="Arial"/>
                <a:cs typeface="Arial"/>
              </a:defRPr>
            </a:pPr>
            <a:r>
              <a:t>WHAT THE EVIDENCE SAYS</a:t>
            </a:r>
          </a:p>
        </p:txBody>
      </p:sp>
      <p:sp>
        <p:nvSpPr>
          <p:cNvPr id="10" name="text-9">
            <a:extLst>
              <a:ext uri="{FF2B5EF4-FFF2-40B4-BE49-F238E27FC236}">
                <a16:creationId xmlns:a16="http://schemas.microsoft.com/office/drawing/2014/main" id="{403275B0-24BC-49D3-AA2D-B950E1EB1AF6}"/>
              </a:ext>
            </a:extLst>
          </p:cNvPr>
          <p:cNvSpPr>
            <a:spLocks noGrp="1"/>
          </p:cNvSpPr>
          <p:nvPr/>
        </p:nvSpPr>
        <p:spPr>
          <a:xfrm>
            <a:off x="7896225" y="2190750"/>
            <a:ext cx="3571875" cy="152400"/>
          </a:xfrm>
          <a:prstGeom prst="rect">
            <a:avLst/>
          </a:prstGeom>
        </p:spPr>
        <p:txBody>
          <a:bodyPr wrap="square" lIns="0" tIns="0" rIns="0" bIns="0" anchor="t"/>
          <a:lstStyle/>
          <a:p>
            <a:pPr>
              <a:defRPr sz="975" b="1">
                <a:solidFill>
                  <a:srgbClr val="00766B"/>
                </a:solidFill>
                <a:latin typeface="Arial"/>
                <a:ea typeface="Arial"/>
                <a:cs typeface="Arial"/>
              </a:defRPr>
            </a:pPr>
            <a:r>
              <a:t>REQUIREMENT IMPLICATION</a:t>
            </a:r>
          </a:p>
        </p:txBody>
      </p:sp>
      <p:sp>
        <p:nvSpPr>
          <p:cNvPr id="11" name="text-10">
            <a:extLst>
              <a:ext uri="{FF2B5EF4-FFF2-40B4-BE49-F238E27FC236}">
                <a16:creationId xmlns:a16="http://schemas.microsoft.com/office/drawing/2014/main" id="{AFE58CAC-D79B-4F7A-98DF-E2D649FF0388}"/>
              </a:ext>
            </a:extLst>
          </p:cNvPr>
          <p:cNvSpPr>
            <a:spLocks noGrp="1"/>
          </p:cNvSpPr>
          <p:nvPr/>
        </p:nvSpPr>
        <p:spPr>
          <a:xfrm>
            <a:off x="723900" y="2571750"/>
            <a:ext cx="3228975" cy="714375"/>
          </a:xfrm>
          <a:prstGeom prst="rect">
            <a:avLst/>
          </a:prstGeom>
        </p:spPr>
        <p:txBody>
          <a:bodyPr wrap="square" lIns="0" tIns="0" rIns="0" bIns="0" anchor="t"/>
          <a:lstStyle/>
          <a:p>
            <a:pPr>
              <a:defRPr sz="1575" b="1">
                <a:solidFill>
                  <a:srgbClr val="173047"/>
                </a:solidFill>
                <a:latin typeface="Arial"/>
                <a:ea typeface="Arial"/>
                <a:cs typeface="Arial"/>
              </a:defRPr>
            </a:pPr>
            <a:r>
              <a:t>“An automatic reply means success.”</a:t>
            </a:r>
          </a:p>
        </p:txBody>
      </p:sp>
      <p:sp>
        <p:nvSpPr>
          <p:cNvPr id="12" name="text-11">
            <a:extLst>
              <a:ext uri="{FF2B5EF4-FFF2-40B4-BE49-F238E27FC236}">
                <a16:creationId xmlns:a16="http://schemas.microsoft.com/office/drawing/2014/main" id="{B8998DFE-493E-4865-A54C-E67B4280B284}"/>
              </a:ext>
            </a:extLst>
          </p:cNvPr>
          <p:cNvSpPr>
            <a:spLocks noGrp="1"/>
          </p:cNvSpPr>
          <p:nvPr/>
        </p:nvSpPr>
        <p:spPr>
          <a:xfrm>
            <a:off x="4181475" y="2571750"/>
            <a:ext cx="3486150" cy="714375"/>
          </a:xfrm>
          <a:prstGeom prst="rect">
            <a:avLst/>
          </a:prstGeom>
        </p:spPr>
        <p:txBody>
          <a:bodyPr wrap="square" lIns="0" tIns="0" rIns="0" bIns="0" anchor="t"/>
          <a:lstStyle/>
          <a:p>
            <a:pPr>
              <a:defRPr sz="1575" b="0">
                <a:solidFill>
                  <a:srgbClr val="546573"/>
                </a:solidFill>
                <a:latin typeface="Arial"/>
                <a:ea typeface="Arial"/>
                <a:cs typeface="Arial"/>
              </a:defRPr>
            </a:pPr>
            <a:r>
              <a:t>70% automation; customer closure is not tracked.</a:t>
            </a:r>
          </a:p>
        </p:txBody>
      </p:sp>
      <p:sp>
        <p:nvSpPr>
          <p:cNvPr id="13" name="text-12">
            <a:extLst>
              <a:ext uri="{FF2B5EF4-FFF2-40B4-BE49-F238E27FC236}">
                <a16:creationId xmlns:a16="http://schemas.microsoft.com/office/drawing/2014/main" id="{1F4F29F1-1E0D-42BB-8875-35F58C448FD0}"/>
              </a:ext>
            </a:extLst>
          </p:cNvPr>
          <p:cNvSpPr>
            <a:spLocks noGrp="1"/>
          </p:cNvSpPr>
          <p:nvPr/>
        </p:nvSpPr>
        <p:spPr>
          <a:xfrm>
            <a:off x="7896225" y="2571750"/>
            <a:ext cx="3571875" cy="714375"/>
          </a:xfrm>
          <a:prstGeom prst="rect">
            <a:avLst/>
          </a:prstGeom>
        </p:spPr>
        <p:txBody>
          <a:bodyPr wrap="square" lIns="0" tIns="0" rIns="0" bIns="0" anchor="t"/>
          <a:lstStyle/>
          <a:p>
            <a:pPr>
              <a:defRPr sz="1575" b="0">
                <a:solidFill>
                  <a:srgbClr val="546573"/>
                </a:solidFill>
                <a:latin typeface="Arial"/>
                <a:ea typeface="Arial"/>
                <a:cs typeface="Arial"/>
              </a:defRPr>
            </a:pPr>
            <a:r>
              <a:t>Separate draft production from verified resolution.</a:t>
            </a:r>
          </a:p>
        </p:txBody>
      </p:sp>
      <p:sp>
        <p:nvSpPr>
          <p:cNvPr id="14" name="shape-13">
            <a:extLst>
              <a:ext uri="{FF2B5EF4-FFF2-40B4-BE49-F238E27FC236}">
                <a16:creationId xmlns:a16="http://schemas.microsoft.com/office/drawing/2014/main" id="{957ED209-2E67-4EAE-80FC-06AB38F02153}"/>
              </a:ext>
            </a:extLst>
          </p:cNvPr>
          <p:cNvSpPr>
            <a:spLocks noGrp="1"/>
          </p:cNvSpPr>
          <p:nvPr/>
        </p:nvSpPr>
        <p:spPr>
          <a:xfrm>
            <a:off x="609600" y="3324225"/>
            <a:ext cx="10972800" cy="9525"/>
          </a:xfrm>
          <a:prstGeom prst="rect">
            <a:avLst/>
          </a:prstGeom>
          <a:solidFill>
            <a:srgbClr val="CDD3D2"/>
          </a:solidFill>
        </p:spPr>
      </p:sp>
      <p:sp>
        <p:nvSpPr>
          <p:cNvPr id="15" name="text-14">
            <a:extLst>
              <a:ext uri="{FF2B5EF4-FFF2-40B4-BE49-F238E27FC236}">
                <a16:creationId xmlns:a16="http://schemas.microsoft.com/office/drawing/2014/main" id="{4E49CD8B-0A2A-47EC-B62F-F6EE2512B0C7}"/>
              </a:ext>
            </a:extLst>
          </p:cNvPr>
          <p:cNvSpPr>
            <a:spLocks noGrp="1"/>
          </p:cNvSpPr>
          <p:nvPr/>
        </p:nvSpPr>
        <p:spPr>
          <a:xfrm>
            <a:off x="723900" y="3438525"/>
            <a:ext cx="3228975" cy="714375"/>
          </a:xfrm>
          <a:prstGeom prst="rect">
            <a:avLst/>
          </a:prstGeom>
        </p:spPr>
        <p:txBody>
          <a:bodyPr wrap="square" lIns="0" tIns="0" rIns="0" bIns="0" anchor="t"/>
          <a:lstStyle/>
          <a:p>
            <a:pPr>
              <a:defRPr sz="1575" b="1">
                <a:solidFill>
                  <a:srgbClr val="173047"/>
                </a:solidFill>
                <a:latin typeface="Arial"/>
                <a:ea typeface="Arial"/>
                <a:cs typeface="Arial"/>
              </a:defRPr>
            </a:pPr>
            <a:r>
              <a:t>“High confidence means reliable decisions.”</a:t>
            </a:r>
          </a:p>
        </p:txBody>
      </p:sp>
      <p:sp>
        <p:nvSpPr>
          <p:cNvPr id="16" name="text-15">
            <a:extLst>
              <a:ext uri="{FF2B5EF4-FFF2-40B4-BE49-F238E27FC236}">
                <a16:creationId xmlns:a16="http://schemas.microsoft.com/office/drawing/2014/main" id="{46229D54-AC60-4C73-A9D7-40A1BECB374C}"/>
              </a:ext>
            </a:extLst>
          </p:cNvPr>
          <p:cNvSpPr>
            <a:spLocks noGrp="1"/>
          </p:cNvSpPr>
          <p:nvPr/>
        </p:nvSpPr>
        <p:spPr>
          <a:xfrm>
            <a:off x="4181475" y="3438525"/>
            <a:ext cx="3486150" cy="714375"/>
          </a:xfrm>
          <a:prstGeom prst="rect">
            <a:avLst/>
          </a:prstGeom>
        </p:spPr>
        <p:txBody>
          <a:bodyPr wrap="square" lIns="0" tIns="0" rIns="0" bIns="0" anchor="t"/>
          <a:lstStyle/>
          <a:p>
            <a:pPr>
              <a:defRPr sz="1575" b="0">
                <a:solidFill>
                  <a:srgbClr val="546573"/>
                </a:solidFill>
                <a:latin typeface="Arial"/>
                <a:ea typeface="Arial"/>
                <a:cs typeface="Arial"/>
              </a:defRPr>
            </a:pPr>
            <a:r>
              <a:t>96.81% mean confidence vs 85% intent accuracy.</a:t>
            </a:r>
          </a:p>
        </p:txBody>
      </p:sp>
      <p:sp>
        <p:nvSpPr>
          <p:cNvPr id="17" name="text-16">
            <a:extLst>
              <a:ext uri="{FF2B5EF4-FFF2-40B4-BE49-F238E27FC236}">
                <a16:creationId xmlns:a16="http://schemas.microsoft.com/office/drawing/2014/main" id="{6EB101D6-73F8-42BA-B6FA-3E3029102989}"/>
              </a:ext>
            </a:extLst>
          </p:cNvPr>
          <p:cNvSpPr>
            <a:spLocks noGrp="1"/>
          </p:cNvSpPr>
          <p:nvPr/>
        </p:nvSpPr>
        <p:spPr>
          <a:xfrm>
            <a:off x="7896225" y="3438525"/>
            <a:ext cx="3571875" cy="714375"/>
          </a:xfrm>
          <a:prstGeom prst="rect">
            <a:avLst/>
          </a:prstGeom>
        </p:spPr>
        <p:txBody>
          <a:bodyPr wrap="square" lIns="0" tIns="0" rIns="0" bIns="0" anchor="t"/>
          <a:lstStyle/>
          <a:p>
            <a:pPr>
              <a:defRPr sz="1575" b="0">
                <a:solidFill>
                  <a:srgbClr val="546573"/>
                </a:solidFill>
                <a:latin typeface="Arial"/>
                <a:ea typeface="Arial"/>
                <a:cs typeface="Arial"/>
              </a:defRPr>
            </a:pPr>
            <a:r>
              <a:t>Require calibration analysis and uncertainty handling.</a:t>
            </a:r>
          </a:p>
        </p:txBody>
      </p:sp>
      <p:sp>
        <p:nvSpPr>
          <p:cNvPr id="18" name="shape-17">
            <a:extLst>
              <a:ext uri="{FF2B5EF4-FFF2-40B4-BE49-F238E27FC236}">
                <a16:creationId xmlns:a16="http://schemas.microsoft.com/office/drawing/2014/main" id="{CFAC3BB1-28E9-4523-9ADA-147678EEE498}"/>
              </a:ext>
            </a:extLst>
          </p:cNvPr>
          <p:cNvSpPr>
            <a:spLocks noGrp="1"/>
          </p:cNvSpPr>
          <p:nvPr/>
        </p:nvSpPr>
        <p:spPr>
          <a:xfrm>
            <a:off x="609600" y="4191000"/>
            <a:ext cx="10972800" cy="9525"/>
          </a:xfrm>
          <a:prstGeom prst="rect">
            <a:avLst/>
          </a:prstGeom>
          <a:solidFill>
            <a:srgbClr val="CDD3D2"/>
          </a:solidFill>
        </p:spPr>
      </p:sp>
      <p:sp>
        <p:nvSpPr>
          <p:cNvPr id="19" name="text-18">
            <a:extLst>
              <a:ext uri="{FF2B5EF4-FFF2-40B4-BE49-F238E27FC236}">
                <a16:creationId xmlns:a16="http://schemas.microsoft.com/office/drawing/2014/main" id="{5BD21B48-5DDF-4431-9E10-74582B4C3EBC}"/>
              </a:ext>
            </a:extLst>
          </p:cNvPr>
          <p:cNvSpPr>
            <a:spLocks noGrp="1"/>
          </p:cNvSpPr>
          <p:nvPr/>
        </p:nvSpPr>
        <p:spPr>
          <a:xfrm>
            <a:off x="723900" y="4305300"/>
            <a:ext cx="3228975" cy="714375"/>
          </a:xfrm>
          <a:prstGeom prst="rect">
            <a:avLst/>
          </a:prstGeom>
        </p:spPr>
        <p:txBody>
          <a:bodyPr wrap="square" lIns="0" tIns="0" rIns="0" bIns="0" anchor="t"/>
          <a:lstStyle/>
          <a:p>
            <a:pPr>
              <a:defRPr sz="1575" b="1">
                <a:solidFill>
                  <a:srgbClr val="173047"/>
                </a:solidFill>
                <a:latin typeface="Arial"/>
                <a:ea typeface="Arial"/>
                <a:cs typeface="Arial"/>
              </a:defRPr>
            </a:pPr>
            <a:r>
              <a:t>“Valid citations mean grounded answers.”</a:t>
            </a:r>
          </a:p>
        </p:txBody>
      </p:sp>
      <p:sp>
        <p:nvSpPr>
          <p:cNvPr id="20" name="text-19">
            <a:extLst>
              <a:ext uri="{FF2B5EF4-FFF2-40B4-BE49-F238E27FC236}">
                <a16:creationId xmlns:a16="http://schemas.microsoft.com/office/drawing/2014/main" id="{34433FC5-FA77-44DC-9FA2-A1D5A0CF5F57}"/>
              </a:ext>
            </a:extLst>
          </p:cNvPr>
          <p:cNvSpPr>
            <a:spLocks noGrp="1"/>
          </p:cNvSpPr>
          <p:nvPr/>
        </p:nvSpPr>
        <p:spPr>
          <a:xfrm>
            <a:off x="4181475" y="4305300"/>
            <a:ext cx="3486150" cy="714375"/>
          </a:xfrm>
          <a:prstGeom prst="rect">
            <a:avLst/>
          </a:prstGeom>
        </p:spPr>
        <p:txBody>
          <a:bodyPr wrap="square" lIns="0" tIns="0" rIns="0" bIns="0" anchor="t"/>
          <a:lstStyle/>
          <a:p>
            <a:pPr>
              <a:defRPr sz="1575" b="0">
                <a:solidFill>
                  <a:srgbClr val="546573"/>
                </a:solidFill>
                <a:latin typeface="Arial"/>
                <a:ea typeface="Arial"/>
                <a:cs typeface="Arial"/>
              </a:defRPr>
            </a:pPr>
            <a:r>
              <a:t>IDs are valid; semantic review is inactive.</a:t>
            </a:r>
          </a:p>
        </p:txBody>
      </p:sp>
      <p:sp>
        <p:nvSpPr>
          <p:cNvPr id="21" name="text-20">
            <a:extLst>
              <a:ext uri="{FF2B5EF4-FFF2-40B4-BE49-F238E27FC236}">
                <a16:creationId xmlns:a16="http://schemas.microsoft.com/office/drawing/2014/main" id="{C53C4C8D-2491-4B4F-8DEF-EAB3A039439C}"/>
              </a:ext>
            </a:extLst>
          </p:cNvPr>
          <p:cNvSpPr>
            <a:spLocks noGrp="1"/>
          </p:cNvSpPr>
          <p:nvPr/>
        </p:nvSpPr>
        <p:spPr>
          <a:xfrm>
            <a:off x="7896225" y="4305300"/>
            <a:ext cx="3571875" cy="714375"/>
          </a:xfrm>
          <a:prstGeom prst="rect">
            <a:avLst/>
          </a:prstGeom>
        </p:spPr>
        <p:txBody>
          <a:bodyPr wrap="square" lIns="0" tIns="0" rIns="0" bIns="0" anchor="t"/>
          <a:lstStyle/>
          <a:p>
            <a:pPr>
              <a:defRPr sz="1575" b="0">
                <a:solidFill>
                  <a:srgbClr val="546573"/>
                </a:solidFill>
                <a:latin typeface="Arial"/>
                <a:ea typeface="Arial"/>
                <a:cs typeface="Arial"/>
              </a:defRPr>
            </a:pPr>
            <a:r>
              <a:t>Define independent claim-support evaluation.</a:t>
            </a:r>
          </a:p>
        </p:txBody>
      </p:sp>
      <p:sp>
        <p:nvSpPr>
          <p:cNvPr id="22" name="shape-21">
            <a:extLst>
              <a:ext uri="{FF2B5EF4-FFF2-40B4-BE49-F238E27FC236}">
                <a16:creationId xmlns:a16="http://schemas.microsoft.com/office/drawing/2014/main" id="{20BB0D8F-60E0-405D-B7BC-006C592229E3}"/>
              </a:ext>
            </a:extLst>
          </p:cNvPr>
          <p:cNvSpPr>
            <a:spLocks noGrp="1"/>
          </p:cNvSpPr>
          <p:nvPr/>
        </p:nvSpPr>
        <p:spPr>
          <a:xfrm>
            <a:off x="609600" y="5057775"/>
            <a:ext cx="10972800" cy="9525"/>
          </a:xfrm>
          <a:prstGeom prst="rect">
            <a:avLst/>
          </a:prstGeom>
          <a:solidFill>
            <a:srgbClr val="CDD3D2"/>
          </a:solidFill>
        </p:spPr>
      </p:sp>
      <p:sp>
        <p:nvSpPr>
          <p:cNvPr id="23" name="text-22">
            <a:extLst>
              <a:ext uri="{FF2B5EF4-FFF2-40B4-BE49-F238E27FC236}">
                <a16:creationId xmlns:a16="http://schemas.microsoft.com/office/drawing/2014/main" id="{17996188-C2FE-42C8-A04F-AE6D87B1D5E7}"/>
              </a:ext>
            </a:extLst>
          </p:cNvPr>
          <p:cNvSpPr>
            <a:spLocks noGrp="1"/>
          </p:cNvSpPr>
          <p:nvPr/>
        </p:nvSpPr>
        <p:spPr>
          <a:xfrm>
            <a:off x="723900" y="5172075"/>
            <a:ext cx="3228975" cy="714375"/>
          </a:xfrm>
          <a:prstGeom prst="rect">
            <a:avLst/>
          </a:prstGeom>
        </p:spPr>
        <p:txBody>
          <a:bodyPr wrap="square" lIns="0" tIns="0" rIns="0" bIns="0" anchor="t"/>
          <a:lstStyle/>
          <a:p>
            <a:pPr>
              <a:defRPr sz="1575" b="1">
                <a:solidFill>
                  <a:srgbClr val="173047"/>
                </a:solidFill>
                <a:latin typeface="Arial"/>
                <a:ea typeface="Arial"/>
                <a:cs typeface="Arial"/>
              </a:defRPr>
            </a:pPr>
            <a:r>
              <a:t>“Passing the report means meeting the PRD.”</a:t>
            </a:r>
          </a:p>
        </p:txBody>
      </p:sp>
      <p:sp>
        <p:nvSpPr>
          <p:cNvPr id="24" name="text-23">
            <a:extLst>
              <a:ext uri="{FF2B5EF4-FFF2-40B4-BE49-F238E27FC236}">
                <a16:creationId xmlns:a16="http://schemas.microsoft.com/office/drawing/2014/main" id="{7070BC15-B02A-4F79-99B8-25F80482CCE3}"/>
              </a:ext>
            </a:extLst>
          </p:cNvPr>
          <p:cNvSpPr>
            <a:spLocks noGrp="1"/>
          </p:cNvSpPr>
          <p:nvPr/>
        </p:nvSpPr>
        <p:spPr>
          <a:xfrm>
            <a:off x="4181475" y="5172075"/>
            <a:ext cx="3486150" cy="714375"/>
          </a:xfrm>
          <a:prstGeom prst="rect">
            <a:avLst/>
          </a:prstGeom>
        </p:spPr>
        <p:txBody>
          <a:bodyPr wrap="square" lIns="0" tIns="0" rIns="0" bIns="0" anchor="t"/>
          <a:lstStyle/>
          <a:p>
            <a:pPr>
              <a:defRPr sz="1575" b="0">
                <a:solidFill>
                  <a:srgbClr val="546573"/>
                </a:solidFill>
                <a:latin typeface="Arial"/>
                <a:ea typeface="Arial"/>
                <a:cs typeface="Arial"/>
              </a:defRPr>
            </a:pPr>
            <a:r>
              <a:t>12.287 s passes the legacy 300 s KPI, not the 3 s bar.</a:t>
            </a:r>
          </a:p>
        </p:txBody>
      </p:sp>
      <p:sp>
        <p:nvSpPr>
          <p:cNvPr id="25" name="text-24">
            <a:extLst>
              <a:ext uri="{FF2B5EF4-FFF2-40B4-BE49-F238E27FC236}">
                <a16:creationId xmlns:a16="http://schemas.microsoft.com/office/drawing/2014/main" id="{DD45C7EB-6A51-46A0-A61F-776DFA334CC5}"/>
              </a:ext>
            </a:extLst>
          </p:cNvPr>
          <p:cNvSpPr>
            <a:spLocks noGrp="1"/>
          </p:cNvSpPr>
          <p:nvPr/>
        </p:nvSpPr>
        <p:spPr>
          <a:xfrm>
            <a:off x="7896225" y="5172075"/>
            <a:ext cx="3571875" cy="714375"/>
          </a:xfrm>
          <a:prstGeom prst="rect">
            <a:avLst/>
          </a:prstGeom>
        </p:spPr>
        <p:txBody>
          <a:bodyPr wrap="square" lIns="0" tIns="0" rIns="0" bIns="0" anchor="t"/>
          <a:lstStyle/>
          <a:p>
            <a:pPr>
              <a:defRPr sz="1575" b="0">
                <a:solidFill>
                  <a:srgbClr val="546573"/>
                </a:solidFill>
                <a:latin typeface="Arial"/>
                <a:ea typeface="Arial"/>
                <a:cs typeface="Arial"/>
              </a:defRPr>
            </a:pPr>
            <a:r>
              <a:t>Preserve requirement targets and reconcile metric scope.</a:t>
            </a:r>
          </a:p>
        </p:txBody>
      </p:sp>
      <p:sp>
        <p:nvSpPr>
          <p:cNvPr id="26" name="shape-25">
            <a:extLst>
              <a:ext uri="{FF2B5EF4-FFF2-40B4-BE49-F238E27FC236}">
                <a16:creationId xmlns:a16="http://schemas.microsoft.com/office/drawing/2014/main" id="{3D6A47EA-27A5-4E6D-8F48-2EBB5A57DA95}"/>
              </a:ext>
            </a:extLst>
          </p:cNvPr>
          <p:cNvSpPr>
            <a:spLocks noGrp="1"/>
          </p:cNvSpPr>
          <p:nvPr/>
        </p:nvSpPr>
        <p:spPr>
          <a:xfrm>
            <a:off x="609600" y="5924550"/>
            <a:ext cx="10972800" cy="9525"/>
          </a:xfrm>
          <a:prstGeom prst="rect">
            <a:avLst/>
          </a:prstGeom>
          <a:solidFill>
            <a:srgbClr val="CDD3D2"/>
          </a:solidFill>
        </p:spPr>
      </p:sp>
    </p:spTree>
    <p:extLst>
      <p:ext uri="{BB962C8B-B14F-4D97-AF65-F5344CB8AC3E}">
        <p14:creationId xmlns:p14="http://schemas.microsoft.com/office/powerpoint/2010/main" val="521569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9" name="kicker-marker">
            <a:extLst>
              <a:ext uri="{FF2B5EF4-FFF2-40B4-BE49-F238E27FC236}">
                <a16:creationId xmlns:a16="http://schemas.microsoft.com/office/drawing/2014/main" id="{7253CE81-DADB-4AEB-9E86-C99A25376AEA}"/>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88570359-2B32-429A-949C-2EFA51540BD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PROPOSED PRD V2</a:t>
            </a:r>
          </a:p>
        </p:txBody>
      </p:sp>
      <p:sp>
        <p:nvSpPr>
          <p:cNvPr id="3" name="text-2">
            <a:extLst>
              <a:ext uri="{FF2B5EF4-FFF2-40B4-BE49-F238E27FC236}">
                <a16:creationId xmlns:a16="http://schemas.microsoft.com/office/drawing/2014/main" id="{EE7BA970-6AAA-470F-ABB1-ACA12B436765}"/>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Revise seven areas where evidence</a:t>
            </a:r>
          </a:p>
          <a:p>
            <a:pPr>
              <a:defRPr sz="3150" b="0">
                <a:solidFill>
                  <a:srgbClr val="173047"/>
                </a:solidFill>
                <a:latin typeface="Georgia"/>
                <a:ea typeface="Georgia"/>
                <a:cs typeface="Georgia"/>
              </a:defRPr>
            </a:pPr>
            <a:r>
              <a:t>changes acceptance or operation</a:t>
            </a:r>
          </a:p>
        </p:txBody>
      </p:sp>
      <p:sp>
        <p:nvSpPr>
          <p:cNvPr id="4" name="shape-3">
            <a:extLst>
              <a:ext uri="{FF2B5EF4-FFF2-40B4-BE49-F238E27FC236}">
                <a16:creationId xmlns:a16="http://schemas.microsoft.com/office/drawing/2014/main" id="{6E2AF419-083A-45A9-9B69-7210E3163329}"/>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C01B475B-D32E-45CB-BABD-A1C046FAC2B3}"/>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Proposed changes based on current code and saved results; source workbooks remain unedited</a:t>
            </a:r>
          </a:p>
        </p:txBody>
      </p:sp>
      <p:sp>
        <p:nvSpPr>
          <p:cNvPr id="6" name="text-5">
            <a:extLst>
              <a:ext uri="{FF2B5EF4-FFF2-40B4-BE49-F238E27FC236}">
                <a16:creationId xmlns:a16="http://schemas.microsoft.com/office/drawing/2014/main" id="{03480770-07E7-4821-8E1F-5F753F5293A9}"/>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23</a:t>
            </a:r>
          </a:p>
        </p:txBody>
      </p:sp>
      <p:sp>
        <p:nvSpPr>
          <p:cNvPr id="7" name="shape-6">
            <a:extLst>
              <a:ext uri="{FF2B5EF4-FFF2-40B4-BE49-F238E27FC236}">
                <a16:creationId xmlns:a16="http://schemas.microsoft.com/office/drawing/2014/main" id="{3DBC8488-4481-43D1-A79B-A0FDFF146ACD}"/>
              </a:ext>
            </a:extLst>
          </p:cNvPr>
          <p:cNvSpPr>
            <a:spLocks noGrp="1"/>
          </p:cNvSpPr>
          <p:nvPr/>
        </p:nvSpPr>
        <p:spPr>
          <a:xfrm>
            <a:off x="609600" y="2057400"/>
            <a:ext cx="10972800" cy="381000"/>
          </a:xfrm>
          <a:prstGeom prst="rect">
            <a:avLst/>
          </a:prstGeom>
          <a:solidFill>
            <a:srgbClr val="E3ECE8"/>
          </a:solidFill>
        </p:spPr>
      </p:sp>
      <p:sp>
        <p:nvSpPr>
          <p:cNvPr id="8" name="text-7">
            <a:extLst>
              <a:ext uri="{FF2B5EF4-FFF2-40B4-BE49-F238E27FC236}">
                <a16:creationId xmlns:a16="http://schemas.microsoft.com/office/drawing/2014/main" id="{2AA5AD37-0D9D-411E-A73A-7418E52C8CB4}"/>
              </a:ext>
            </a:extLst>
          </p:cNvPr>
          <p:cNvSpPr>
            <a:spLocks noGrp="1"/>
          </p:cNvSpPr>
          <p:nvPr/>
        </p:nvSpPr>
        <p:spPr>
          <a:xfrm>
            <a:off x="723900" y="2171700"/>
            <a:ext cx="1171575" cy="152400"/>
          </a:xfrm>
          <a:prstGeom prst="rect">
            <a:avLst/>
          </a:prstGeom>
        </p:spPr>
        <p:txBody>
          <a:bodyPr wrap="square" lIns="0" tIns="0" rIns="0" bIns="0" anchor="t"/>
          <a:lstStyle/>
          <a:p>
            <a:pPr>
              <a:defRPr sz="975" b="1">
                <a:solidFill>
                  <a:srgbClr val="00766B"/>
                </a:solidFill>
                <a:latin typeface="Arial"/>
                <a:ea typeface="Arial"/>
                <a:cs typeface="Arial"/>
              </a:defRPr>
            </a:pPr>
            <a:r>
              <a:t>REFERENCE</a:t>
            </a:r>
          </a:p>
        </p:txBody>
      </p:sp>
      <p:sp>
        <p:nvSpPr>
          <p:cNvPr id="9" name="text-8">
            <a:extLst>
              <a:ext uri="{FF2B5EF4-FFF2-40B4-BE49-F238E27FC236}">
                <a16:creationId xmlns:a16="http://schemas.microsoft.com/office/drawing/2014/main" id="{B9C03467-F7AD-4DD4-AC9B-681235866DAE}"/>
              </a:ext>
            </a:extLst>
          </p:cNvPr>
          <p:cNvSpPr>
            <a:spLocks noGrp="1"/>
          </p:cNvSpPr>
          <p:nvPr/>
        </p:nvSpPr>
        <p:spPr>
          <a:xfrm>
            <a:off x="2124075" y="2171700"/>
            <a:ext cx="1905000" cy="152400"/>
          </a:xfrm>
          <a:prstGeom prst="rect">
            <a:avLst/>
          </a:prstGeom>
        </p:spPr>
        <p:txBody>
          <a:bodyPr wrap="square" lIns="0" tIns="0" rIns="0" bIns="0" anchor="t"/>
          <a:lstStyle/>
          <a:p>
            <a:pPr>
              <a:defRPr sz="975" b="1">
                <a:solidFill>
                  <a:srgbClr val="00766B"/>
                </a:solidFill>
                <a:latin typeface="Arial"/>
                <a:ea typeface="Arial"/>
                <a:cs typeface="Arial"/>
              </a:defRPr>
            </a:pPr>
            <a:r>
              <a:t>CHANGE AREA</a:t>
            </a:r>
          </a:p>
        </p:txBody>
      </p:sp>
      <p:sp>
        <p:nvSpPr>
          <p:cNvPr id="10" name="text-9">
            <a:extLst>
              <a:ext uri="{FF2B5EF4-FFF2-40B4-BE49-F238E27FC236}">
                <a16:creationId xmlns:a16="http://schemas.microsoft.com/office/drawing/2014/main" id="{42B6211D-8329-417F-B693-29B5A4889D7F}"/>
              </a:ext>
            </a:extLst>
          </p:cNvPr>
          <p:cNvSpPr>
            <a:spLocks noGrp="1"/>
          </p:cNvSpPr>
          <p:nvPr/>
        </p:nvSpPr>
        <p:spPr>
          <a:xfrm>
            <a:off x="4257675" y="2171700"/>
            <a:ext cx="7210425" cy="152400"/>
          </a:xfrm>
          <a:prstGeom prst="rect">
            <a:avLst/>
          </a:prstGeom>
        </p:spPr>
        <p:txBody>
          <a:bodyPr wrap="square" lIns="0" tIns="0" rIns="0" bIns="0" anchor="t"/>
          <a:lstStyle/>
          <a:p>
            <a:pPr>
              <a:defRPr sz="975" b="1">
                <a:solidFill>
                  <a:srgbClr val="00766B"/>
                </a:solidFill>
                <a:latin typeface="Arial"/>
                <a:ea typeface="Arial"/>
                <a:cs typeface="Arial"/>
              </a:defRPr>
            </a:pPr>
            <a:r>
              <a:t>PROPOSED REQUIREMENT / ACCEPTANCE CHANGE</a:t>
            </a:r>
          </a:p>
        </p:txBody>
      </p:sp>
      <p:sp>
        <p:nvSpPr>
          <p:cNvPr id="11" name="text-10">
            <a:extLst>
              <a:ext uri="{FF2B5EF4-FFF2-40B4-BE49-F238E27FC236}">
                <a16:creationId xmlns:a16="http://schemas.microsoft.com/office/drawing/2014/main" id="{B2BBACF7-2272-4047-AA69-58AD33DBEBA5}"/>
              </a:ext>
            </a:extLst>
          </p:cNvPr>
          <p:cNvSpPr>
            <a:spLocks noGrp="1"/>
          </p:cNvSpPr>
          <p:nvPr/>
        </p:nvSpPr>
        <p:spPr>
          <a:xfrm>
            <a:off x="723900" y="255270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FR-03</a:t>
            </a:r>
          </a:p>
        </p:txBody>
      </p:sp>
      <p:sp>
        <p:nvSpPr>
          <p:cNvPr id="12" name="text-11">
            <a:extLst>
              <a:ext uri="{FF2B5EF4-FFF2-40B4-BE49-F238E27FC236}">
                <a16:creationId xmlns:a16="http://schemas.microsoft.com/office/drawing/2014/main" id="{3AA3533A-9B41-49BF-9FCA-E23A2A19A1BE}"/>
              </a:ext>
            </a:extLst>
          </p:cNvPr>
          <p:cNvSpPr>
            <a:spLocks noGrp="1"/>
          </p:cNvSpPr>
          <p:nvPr/>
        </p:nvSpPr>
        <p:spPr>
          <a:xfrm>
            <a:off x="2124075" y="255270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Retrieval threshold</a:t>
            </a:r>
          </a:p>
        </p:txBody>
      </p:sp>
      <p:sp>
        <p:nvSpPr>
          <p:cNvPr id="13" name="text-12">
            <a:extLst>
              <a:ext uri="{FF2B5EF4-FFF2-40B4-BE49-F238E27FC236}">
                <a16:creationId xmlns:a16="http://schemas.microsoft.com/office/drawing/2014/main" id="{2E1A8ACA-7A3A-4767-81C8-A94F24DBD467}"/>
              </a:ext>
            </a:extLst>
          </p:cNvPr>
          <p:cNvSpPr>
            <a:spLocks noGrp="1"/>
          </p:cNvSpPr>
          <p:nvPr/>
        </p:nvSpPr>
        <p:spPr>
          <a:xfrm>
            <a:off x="4257675" y="255270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Document retrieval and classifier thresholds separately; record run configuration.</a:t>
            </a:r>
          </a:p>
        </p:txBody>
      </p:sp>
      <p:sp>
        <p:nvSpPr>
          <p:cNvPr id="14" name="shape-13">
            <a:extLst>
              <a:ext uri="{FF2B5EF4-FFF2-40B4-BE49-F238E27FC236}">
                <a16:creationId xmlns:a16="http://schemas.microsoft.com/office/drawing/2014/main" id="{CFC68AF5-08F6-4104-85A4-32DAB90989E2}"/>
              </a:ext>
            </a:extLst>
          </p:cNvPr>
          <p:cNvSpPr>
            <a:spLocks noGrp="1"/>
          </p:cNvSpPr>
          <p:nvPr/>
        </p:nvSpPr>
        <p:spPr>
          <a:xfrm>
            <a:off x="609600" y="2952750"/>
            <a:ext cx="10972800" cy="9525"/>
          </a:xfrm>
          <a:prstGeom prst="rect">
            <a:avLst/>
          </a:prstGeom>
          <a:solidFill>
            <a:srgbClr val="CDD3D2"/>
          </a:solidFill>
        </p:spPr>
      </p:sp>
      <p:sp>
        <p:nvSpPr>
          <p:cNvPr id="15" name="text-14">
            <a:extLst>
              <a:ext uri="{FF2B5EF4-FFF2-40B4-BE49-F238E27FC236}">
                <a16:creationId xmlns:a16="http://schemas.microsoft.com/office/drawing/2014/main" id="{2160C3A9-A1C5-41AE-A65D-2DE443D8B4ED}"/>
              </a:ext>
            </a:extLst>
          </p:cNvPr>
          <p:cNvSpPr>
            <a:spLocks noGrp="1"/>
          </p:cNvSpPr>
          <p:nvPr/>
        </p:nvSpPr>
        <p:spPr>
          <a:xfrm>
            <a:off x="723900" y="306705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FR-04 / 05</a:t>
            </a:r>
          </a:p>
        </p:txBody>
      </p:sp>
      <p:sp>
        <p:nvSpPr>
          <p:cNvPr id="16" name="text-15">
            <a:extLst>
              <a:ext uri="{FF2B5EF4-FFF2-40B4-BE49-F238E27FC236}">
                <a16:creationId xmlns:a16="http://schemas.microsoft.com/office/drawing/2014/main" id="{AAFBA9FF-6210-43C6-91D7-CAAE11580883}"/>
              </a:ext>
            </a:extLst>
          </p:cNvPr>
          <p:cNvSpPr>
            <a:spLocks noGrp="1"/>
          </p:cNvSpPr>
          <p:nvPr/>
        </p:nvSpPr>
        <p:spPr>
          <a:xfrm>
            <a:off x="2124075" y="306705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Routing boundaries</a:t>
            </a:r>
          </a:p>
        </p:txBody>
      </p:sp>
      <p:sp>
        <p:nvSpPr>
          <p:cNvPr id="17" name="text-16">
            <a:extLst>
              <a:ext uri="{FF2B5EF4-FFF2-40B4-BE49-F238E27FC236}">
                <a16:creationId xmlns:a16="http://schemas.microsoft.com/office/drawing/2014/main" id="{70F0F25B-24D4-43EB-9D28-84A0B7DE78E6}"/>
              </a:ext>
            </a:extLst>
          </p:cNvPr>
          <p:cNvSpPr>
            <a:spLocks noGrp="1"/>
          </p:cNvSpPr>
          <p:nvPr/>
        </p:nvSpPr>
        <p:spPr>
          <a:xfrm>
            <a:off x="4257675" y="306705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Exclude evaluation labels from policy; review the 15 auto-route disagreements.</a:t>
            </a:r>
          </a:p>
        </p:txBody>
      </p:sp>
      <p:sp>
        <p:nvSpPr>
          <p:cNvPr id="18" name="shape-17">
            <a:extLst>
              <a:ext uri="{FF2B5EF4-FFF2-40B4-BE49-F238E27FC236}">
                <a16:creationId xmlns:a16="http://schemas.microsoft.com/office/drawing/2014/main" id="{22544D0E-8414-4716-81A8-C3AA9E2C244A}"/>
              </a:ext>
            </a:extLst>
          </p:cNvPr>
          <p:cNvSpPr>
            <a:spLocks noGrp="1"/>
          </p:cNvSpPr>
          <p:nvPr/>
        </p:nvSpPr>
        <p:spPr>
          <a:xfrm>
            <a:off x="609600" y="3467100"/>
            <a:ext cx="10972800" cy="9525"/>
          </a:xfrm>
          <a:prstGeom prst="rect">
            <a:avLst/>
          </a:prstGeom>
          <a:solidFill>
            <a:srgbClr val="CDD3D2"/>
          </a:solidFill>
        </p:spPr>
      </p:sp>
      <p:sp>
        <p:nvSpPr>
          <p:cNvPr id="19" name="text-18">
            <a:extLst>
              <a:ext uri="{FF2B5EF4-FFF2-40B4-BE49-F238E27FC236}">
                <a16:creationId xmlns:a16="http://schemas.microsoft.com/office/drawing/2014/main" id="{ED00A002-7874-4499-9A97-18693D6AD1FE}"/>
              </a:ext>
            </a:extLst>
          </p:cNvPr>
          <p:cNvSpPr>
            <a:spLocks noGrp="1"/>
          </p:cNvSpPr>
          <p:nvPr/>
        </p:nvSpPr>
        <p:spPr>
          <a:xfrm>
            <a:off x="723900" y="358140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FR-07 / 08</a:t>
            </a:r>
          </a:p>
        </p:txBody>
      </p:sp>
      <p:sp>
        <p:nvSpPr>
          <p:cNvPr id="20" name="text-19">
            <a:extLst>
              <a:ext uri="{FF2B5EF4-FFF2-40B4-BE49-F238E27FC236}">
                <a16:creationId xmlns:a16="http://schemas.microsoft.com/office/drawing/2014/main" id="{73CD53A9-2208-444D-90E0-B43042AC9220}"/>
              </a:ext>
            </a:extLst>
          </p:cNvPr>
          <p:cNvSpPr>
            <a:spLocks noGrp="1"/>
          </p:cNvSpPr>
          <p:nvPr/>
        </p:nvSpPr>
        <p:spPr>
          <a:xfrm>
            <a:off x="2124075" y="358140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Answer quality</a:t>
            </a:r>
          </a:p>
        </p:txBody>
      </p:sp>
      <p:sp>
        <p:nvSpPr>
          <p:cNvPr id="21" name="text-20">
            <a:extLst>
              <a:ext uri="{FF2B5EF4-FFF2-40B4-BE49-F238E27FC236}">
                <a16:creationId xmlns:a16="http://schemas.microsoft.com/office/drawing/2014/main" id="{A051F22C-7D78-45B4-9D9E-E2C488CC97AF}"/>
              </a:ext>
            </a:extLst>
          </p:cNvPr>
          <p:cNvSpPr>
            <a:spLocks noGrp="1"/>
          </p:cNvSpPr>
          <p:nvPr/>
        </p:nvSpPr>
        <p:spPr>
          <a:xfrm>
            <a:off x="4257675" y="358140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Keep reviewer out of routing; add independent semantic review with labelled evidence.</a:t>
            </a:r>
          </a:p>
        </p:txBody>
      </p:sp>
      <p:sp>
        <p:nvSpPr>
          <p:cNvPr id="22" name="shape-21">
            <a:extLst>
              <a:ext uri="{FF2B5EF4-FFF2-40B4-BE49-F238E27FC236}">
                <a16:creationId xmlns:a16="http://schemas.microsoft.com/office/drawing/2014/main" id="{369772B4-A216-4EF2-AD8F-696EF2A55820}"/>
              </a:ext>
            </a:extLst>
          </p:cNvPr>
          <p:cNvSpPr>
            <a:spLocks noGrp="1"/>
          </p:cNvSpPr>
          <p:nvPr/>
        </p:nvSpPr>
        <p:spPr>
          <a:xfrm>
            <a:off x="609600" y="3981450"/>
            <a:ext cx="10972800" cy="9525"/>
          </a:xfrm>
          <a:prstGeom prst="rect">
            <a:avLst/>
          </a:prstGeom>
          <a:solidFill>
            <a:srgbClr val="CDD3D2"/>
          </a:solidFill>
        </p:spPr>
      </p:sp>
      <p:sp>
        <p:nvSpPr>
          <p:cNvPr id="23" name="text-22">
            <a:extLst>
              <a:ext uri="{FF2B5EF4-FFF2-40B4-BE49-F238E27FC236}">
                <a16:creationId xmlns:a16="http://schemas.microsoft.com/office/drawing/2014/main" id="{8BEA1298-5676-4B91-A692-A053B8AA0877}"/>
              </a:ext>
            </a:extLst>
          </p:cNvPr>
          <p:cNvSpPr>
            <a:spLocks noGrp="1"/>
          </p:cNvSpPr>
          <p:nvPr/>
        </p:nvSpPr>
        <p:spPr>
          <a:xfrm>
            <a:off x="723900" y="409575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FR-09</a:t>
            </a:r>
          </a:p>
        </p:txBody>
      </p:sp>
      <p:sp>
        <p:nvSpPr>
          <p:cNvPr id="24" name="text-23">
            <a:extLst>
              <a:ext uri="{FF2B5EF4-FFF2-40B4-BE49-F238E27FC236}">
                <a16:creationId xmlns:a16="http://schemas.microsoft.com/office/drawing/2014/main" id="{5ECA3B55-CA58-4B76-B3B8-7DED3BAFCBD6}"/>
              </a:ext>
            </a:extLst>
          </p:cNvPr>
          <p:cNvSpPr>
            <a:spLocks noGrp="1"/>
          </p:cNvSpPr>
          <p:nvPr/>
        </p:nvSpPr>
        <p:spPr>
          <a:xfrm>
            <a:off x="2124075" y="409575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Audit acceptance</a:t>
            </a:r>
          </a:p>
        </p:txBody>
      </p:sp>
      <p:sp>
        <p:nvSpPr>
          <p:cNvPr id="25" name="text-24">
            <a:extLst>
              <a:ext uri="{FF2B5EF4-FFF2-40B4-BE49-F238E27FC236}">
                <a16:creationId xmlns:a16="http://schemas.microsoft.com/office/drawing/2014/main" id="{0E1180B7-E430-40F5-9879-9E4293F89D37}"/>
              </a:ext>
            </a:extLst>
          </p:cNvPr>
          <p:cNvSpPr>
            <a:spLocks noGrp="1"/>
          </p:cNvSpPr>
          <p:nvPr/>
        </p:nvSpPr>
        <p:spPr>
          <a:xfrm>
            <a:off x="4257675" y="409575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Require exact run/input reconciliation, including missing, duplicate and extra records.</a:t>
            </a:r>
          </a:p>
        </p:txBody>
      </p:sp>
      <p:sp>
        <p:nvSpPr>
          <p:cNvPr id="26" name="shape-25">
            <a:extLst>
              <a:ext uri="{FF2B5EF4-FFF2-40B4-BE49-F238E27FC236}">
                <a16:creationId xmlns:a16="http://schemas.microsoft.com/office/drawing/2014/main" id="{81FB9E4E-FF58-4ADE-95DF-135332379E77}"/>
              </a:ext>
            </a:extLst>
          </p:cNvPr>
          <p:cNvSpPr>
            <a:spLocks noGrp="1"/>
          </p:cNvSpPr>
          <p:nvPr/>
        </p:nvSpPr>
        <p:spPr>
          <a:xfrm>
            <a:off x="609600" y="4495800"/>
            <a:ext cx="10972800" cy="9525"/>
          </a:xfrm>
          <a:prstGeom prst="rect">
            <a:avLst/>
          </a:prstGeom>
          <a:solidFill>
            <a:srgbClr val="CDD3D2"/>
          </a:solidFill>
        </p:spPr>
      </p:sp>
      <p:sp>
        <p:nvSpPr>
          <p:cNvPr id="27" name="text-26">
            <a:extLst>
              <a:ext uri="{FF2B5EF4-FFF2-40B4-BE49-F238E27FC236}">
                <a16:creationId xmlns:a16="http://schemas.microsoft.com/office/drawing/2014/main" id="{F62ACAB8-1F87-4767-8732-B6DE65BD0DA3}"/>
              </a:ext>
            </a:extLst>
          </p:cNvPr>
          <p:cNvSpPr>
            <a:spLocks noGrp="1"/>
          </p:cNvSpPr>
          <p:nvPr/>
        </p:nvSpPr>
        <p:spPr>
          <a:xfrm>
            <a:off x="723900" y="461010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FR-10</a:t>
            </a:r>
          </a:p>
        </p:txBody>
      </p:sp>
      <p:sp>
        <p:nvSpPr>
          <p:cNvPr id="28" name="text-27">
            <a:extLst>
              <a:ext uri="{FF2B5EF4-FFF2-40B4-BE49-F238E27FC236}">
                <a16:creationId xmlns:a16="http://schemas.microsoft.com/office/drawing/2014/main" id="{E6813673-6B6A-4545-AE46-95C81A58E6B7}"/>
              </a:ext>
            </a:extLst>
          </p:cNvPr>
          <p:cNvSpPr>
            <a:spLocks noGrp="1"/>
          </p:cNvSpPr>
          <p:nvPr/>
        </p:nvSpPr>
        <p:spPr>
          <a:xfrm>
            <a:off x="2124075" y="461010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Metric definitions</a:t>
            </a:r>
          </a:p>
        </p:txBody>
      </p:sp>
      <p:sp>
        <p:nvSpPr>
          <p:cNvPr id="29" name="text-28">
            <a:extLst>
              <a:ext uri="{FF2B5EF4-FFF2-40B4-BE49-F238E27FC236}">
                <a16:creationId xmlns:a16="http://schemas.microsoft.com/office/drawing/2014/main" id="{5701E2D5-B523-4F74-96AC-E36BEB227FBF}"/>
              </a:ext>
            </a:extLst>
          </p:cNvPr>
          <p:cNvSpPr>
            <a:spLocks noGrp="1"/>
          </p:cNvSpPr>
          <p:nvPr/>
        </p:nvSpPr>
        <p:spPr>
          <a:xfrm>
            <a:off x="4257675" y="461010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Keep seven operational KPIs; instrument delivery and closure for business outcomes.</a:t>
            </a:r>
          </a:p>
        </p:txBody>
      </p:sp>
      <p:sp>
        <p:nvSpPr>
          <p:cNvPr id="30" name="shape-29">
            <a:extLst>
              <a:ext uri="{FF2B5EF4-FFF2-40B4-BE49-F238E27FC236}">
                <a16:creationId xmlns:a16="http://schemas.microsoft.com/office/drawing/2014/main" id="{28EAFF45-1D23-43D5-9145-39706740D613}"/>
              </a:ext>
            </a:extLst>
          </p:cNvPr>
          <p:cNvSpPr>
            <a:spLocks noGrp="1"/>
          </p:cNvSpPr>
          <p:nvPr/>
        </p:nvSpPr>
        <p:spPr>
          <a:xfrm>
            <a:off x="609600" y="5010150"/>
            <a:ext cx="10972800" cy="9525"/>
          </a:xfrm>
          <a:prstGeom prst="rect">
            <a:avLst/>
          </a:prstGeom>
          <a:solidFill>
            <a:srgbClr val="CDD3D2"/>
          </a:solidFill>
        </p:spPr>
      </p:sp>
      <p:sp>
        <p:nvSpPr>
          <p:cNvPr id="31" name="text-30">
            <a:extLst>
              <a:ext uri="{FF2B5EF4-FFF2-40B4-BE49-F238E27FC236}">
                <a16:creationId xmlns:a16="http://schemas.microsoft.com/office/drawing/2014/main" id="{9979A345-AC76-4A9A-8568-D41EC72FF94C}"/>
              </a:ext>
            </a:extLst>
          </p:cNvPr>
          <p:cNvSpPr>
            <a:spLocks noGrp="1"/>
          </p:cNvSpPr>
          <p:nvPr/>
        </p:nvSpPr>
        <p:spPr>
          <a:xfrm>
            <a:off x="723900" y="512445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NFR-01</a:t>
            </a:r>
          </a:p>
        </p:txBody>
      </p:sp>
      <p:sp>
        <p:nvSpPr>
          <p:cNvPr id="32" name="text-31">
            <a:extLst>
              <a:ext uri="{FF2B5EF4-FFF2-40B4-BE49-F238E27FC236}">
                <a16:creationId xmlns:a16="http://schemas.microsoft.com/office/drawing/2014/main" id="{D6A84282-807D-410B-AE0E-723B1AC670C4}"/>
              </a:ext>
            </a:extLst>
          </p:cNvPr>
          <p:cNvSpPr>
            <a:spLocks noGrp="1"/>
          </p:cNvSpPr>
          <p:nvPr/>
        </p:nvSpPr>
        <p:spPr>
          <a:xfrm>
            <a:off x="2124075" y="512445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Latency scope</a:t>
            </a:r>
          </a:p>
        </p:txBody>
      </p:sp>
      <p:sp>
        <p:nvSpPr>
          <p:cNvPr id="33" name="text-32">
            <a:extLst>
              <a:ext uri="{FF2B5EF4-FFF2-40B4-BE49-F238E27FC236}">
                <a16:creationId xmlns:a16="http://schemas.microsoft.com/office/drawing/2014/main" id="{E8247F9A-1661-4ECC-9EC6-555F39CB2D4B}"/>
              </a:ext>
            </a:extLst>
          </p:cNvPr>
          <p:cNvSpPr>
            <a:spLocks noGrp="1"/>
          </p:cNvSpPr>
          <p:nvPr/>
        </p:nvSpPr>
        <p:spPr>
          <a:xfrm>
            <a:off x="4257675" y="512445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Retain the 3 s goal; report mode and population, then profile bottlenecks.</a:t>
            </a:r>
          </a:p>
        </p:txBody>
      </p:sp>
      <p:sp>
        <p:nvSpPr>
          <p:cNvPr id="34" name="shape-33">
            <a:extLst>
              <a:ext uri="{FF2B5EF4-FFF2-40B4-BE49-F238E27FC236}">
                <a16:creationId xmlns:a16="http://schemas.microsoft.com/office/drawing/2014/main" id="{CA712AF2-6B92-4298-A704-C38B7DBAAB4C}"/>
              </a:ext>
            </a:extLst>
          </p:cNvPr>
          <p:cNvSpPr>
            <a:spLocks noGrp="1"/>
          </p:cNvSpPr>
          <p:nvPr/>
        </p:nvSpPr>
        <p:spPr>
          <a:xfrm>
            <a:off x="609600" y="5524500"/>
            <a:ext cx="10972800" cy="9525"/>
          </a:xfrm>
          <a:prstGeom prst="rect">
            <a:avLst/>
          </a:prstGeom>
          <a:solidFill>
            <a:srgbClr val="CDD3D2"/>
          </a:solidFill>
        </p:spPr>
      </p:sp>
      <p:sp>
        <p:nvSpPr>
          <p:cNvPr id="35" name="text-34">
            <a:extLst>
              <a:ext uri="{FF2B5EF4-FFF2-40B4-BE49-F238E27FC236}">
                <a16:creationId xmlns:a16="http://schemas.microsoft.com/office/drawing/2014/main" id="{D573182B-CB16-4AEA-9739-3589932556B2}"/>
              </a:ext>
            </a:extLst>
          </p:cNvPr>
          <p:cNvSpPr>
            <a:spLocks noGrp="1"/>
          </p:cNvSpPr>
          <p:nvPr/>
        </p:nvSpPr>
        <p:spPr>
          <a:xfrm>
            <a:off x="723900" y="5638800"/>
            <a:ext cx="1171575" cy="361950"/>
          </a:xfrm>
          <a:prstGeom prst="rect">
            <a:avLst/>
          </a:prstGeom>
        </p:spPr>
        <p:txBody>
          <a:bodyPr wrap="square" lIns="0" tIns="0" rIns="0" bIns="0" anchor="t"/>
          <a:lstStyle/>
          <a:p>
            <a:pPr>
              <a:defRPr sz="1350" b="1">
                <a:solidFill>
                  <a:srgbClr val="173047"/>
                </a:solidFill>
                <a:latin typeface="Arial"/>
                <a:ea typeface="Arial"/>
                <a:cs typeface="Arial"/>
              </a:defRPr>
            </a:pPr>
            <a:r>
              <a:t>NFR-08</a:t>
            </a:r>
          </a:p>
        </p:txBody>
      </p:sp>
      <p:sp>
        <p:nvSpPr>
          <p:cNvPr id="36" name="text-35">
            <a:extLst>
              <a:ext uri="{FF2B5EF4-FFF2-40B4-BE49-F238E27FC236}">
                <a16:creationId xmlns:a16="http://schemas.microsoft.com/office/drawing/2014/main" id="{06211978-B744-421F-AA00-02AC5E36FF07}"/>
              </a:ext>
            </a:extLst>
          </p:cNvPr>
          <p:cNvSpPr>
            <a:spLocks noGrp="1"/>
          </p:cNvSpPr>
          <p:nvPr/>
        </p:nvSpPr>
        <p:spPr>
          <a:xfrm>
            <a:off x="2124075" y="5638800"/>
            <a:ext cx="1905000" cy="361950"/>
          </a:xfrm>
          <a:prstGeom prst="rect">
            <a:avLst/>
          </a:prstGeom>
        </p:spPr>
        <p:txBody>
          <a:bodyPr wrap="square" lIns="0" tIns="0" rIns="0" bIns="0" anchor="t"/>
          <a:lstStyle/>
          <a:p>
            <a:pPr>
              <a:defRPr sz="1350" b="0">
                <a:solidFill>
                  <a:srgbClr val="546573"/>
                </a:solidFill>
                <a:latin typeface="Arial"/>
                <a:ea typeface="Arial"/>
                <a:cs typeface="Arial"/>
              </a:defRPr>
            </a:pPr>
            <a:r>
              <a:t>Confidence quality</a:t>
            </a:r>
          </a:p>
        </p:txBody>
      </p:sp>
      <p:sp>
        <p:nvSpPr>
          <p:cNvPr id="37" name="text-36">
            <a:extLst>
              <a:ext uri="{FF2B5EF4-FFF2-40B4-BE49-F238E27FC236}">
                <a16:creationId xmlns:a16="http://schemas.microsoft.com/office/drawing/2014/main" id="{754D41C0-A0A1-470D-B73D-30AA51E0A0BF}"/>
              </a:ext>
            </a:extLst>
          </p:cNvPr>
          <p:cNvSpPr>
            <a:spLocks noGrp="1"/>
          </p:cNvSpPr>
          <p:nvPr/>
        </p:nvSpPr>
        <p:spPr>
          <a:xfrm>
            <a:off x="4257675" y="5638800"/>
            <a:ext cx="7210425" cy="361950"/>
          </a:xfrm>
          <a:prstGeom prst="rect">
            <a:avLst/>
          </a:prstGeom>
        </p:spPr>
        <p:txBody>
          <a:bodyPr wrap="square" lIns="0" tIns="0" rIns="0" bIns="0" anchor="t"/>
          <a:lstStyle/>
          <a:p>
            <a:pPr>
              <a:defRPr sz="1350" b="0">
                <a:solidFill>
                  <a:srgbClr val="546573"/>
                </a:solidFill>
                <a:latin typeface="Arial"/>
                <a:ea typeface="Arial"/>
                <a:cs typeface="Arial"/>
              </a:defRPr>
            </a:pPr>
            <a:r>
              <a:t>Measure bin-level gaps; evaluate calibration before treating confidence as probability.</a:t>
            </a:r>
          </a:p>
        </p:txBody>
      </p:sp>
      <p:sp>
        <p:nvSpPr>
          <p:cNvPr id="38" name="shape-37">
            <a:extLst>
              <a:ext uri="{FF2B5EF4-FFF2-40B4-BE49-F238E27FC236}">
                <a16:creationId xmlns:a16="http://schemas.microsoft.com/office/drawing/2014/main" id="{EAEA7184-848D-4894-8083-6B71E7766094}"/>
              </a:ext>
            </a:extLst>
          </p:cNvPr>
          <p:cNvSpPr>
            <a:spLocks noGrp="1"/>
          </p:cNvSpPr>
          <p:nvPr/>
        </p:nvSpPr>
        <p:spPr>
          <a:xfrm>
            <a:off x="609600" y="6038850"/>
            <a:ext cx="10972800" cy="9525"/>
          </a:xfrm>
          <a:prstGeom prst="rect">
            <a:avLst/>
          </a:prstGeom>
          <a:solidFill>
            <a:srgbClr val="CDD3D2"/>
          </a:solidFill>
        </p:spPr>
      </p:sp>
    </p:spTree>
    <p:extLst>
      <p:ext uri="{BB962C8B-B14F-4D97-AF65-F5344CB8AC3E}">
        <p14:creationId xmlns:p14="http://schemas.microsoft.com/office/powerpoint/2010/main" val="822547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0" name="kicker-marker">
            <a:extLst>
              <a:ext uri="{FF2B5EF4-FFF2-40B4-BE49-F238E27FC236}">
                <a16:creationId xmlns:a16="http://schemas.microsoft.com/office/drawing/2014/main" id="{6E8B1144-7F0E-48BC-AE50-29DB38BE4803}"/>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54B4AACB-8E34-481A-8607-04ED2647243B}"/>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GOVERNANCE &amp; OPERATIONS</a:t>
            </a:r>
          </a:p>
        </p:txBody>
      </p:sp>
      <p:sp>
        <p:nvSpPr>
          <p:cNvPr id="3" name="text-2">
            <a:extLst>
              <a:ext uri="{FF2B5EF4-FFF2-40B4-BE49-F238E27FC236}">
                <a16:creationId xmlns:a16="http://schemas.microsoft.com/office/drawing/2014/main" id="{2008E6D5-8B1A-429D-8838-5CCEC842805F}"/>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A useful prototype still needs</a:t>
            </a:r>
          </a:p>
          <a:p>
            <a:pPr>
              <a:defRPr sz="3150" b="0">
                <a:solidFill>
                  <a:srgbClr val="173047"/>
                </a:solidFill>
                <a:latin typeface="Georgia"/>
                <a:ea typeface="Georgia"/>
                <a:cs typeface="Georgia"/>
              </a:defRPr>
            </a:pPr>
            <a:r>
              <a:t>a controlled path to production</a:t>
            </a:r>
          </a:p>
        </p:txBody>
      </p:sp>
      <p:sp>
        <p:nvSpPr>
          <p:cNvPr id="4" name="shape-3">
            <a:extLst>
              <a:ext uri="{FF2B5EF4-FFF2-40B4-BE49-F238E27FC236}">
                <a16:creationId xmlns:a16="http://schemas.microsoft.com/office/drawing/2014/main" id="{85BB6E2E-8F28-41D9-AFE7-F1DA589C46CA}"/>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841E5C49-46CA-44D4-8ABB-ECAA5462BA45}"/>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Current implementation; Governance_Framework.docx; proposed operational hardening</a:t>
            </a:r>
          </a:p>
        </p:txBody>
      </p:sp>
      <p:sp>
        <p:nvSpPr>
          <p:cNvPr id="6" name="text-5">
            <a:extLst>
              <a:ext uri="{FF2B5EF4-FFF2-40B4-BE49-F238E27FC236}">
                <a16:creationId xmlns:a16="http://schemas.microsoft.com/office/drawing/2014/main" id="{0999FDC4-EDEB-4AB4-A1B2-888C14186B8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24</a:t>
            </a:r>
          </a:p>
        </p:txBody>
      </p:sp>
      <p:sp>
        <p:nvSpPr>
          <p:cNvPr id="7" name="text-6">
            <a:extLst>
              <a:ext uri="{FF2B5EF4-FFF2-40B4-BE49-F238E27FC236}">
                <a16:creationId xmlns:a16="http://schemas.microsoft.com/office/drawing/2014/main" id="{87515321-5F5A-46A0-A984-C15F71DF74BE}"/>
              </a:ext>
            </a:extLst>
          </p:cNvPr>
          <p:cNvSpPr>
            <a:spLocks noGrp="1"/>
          </p:cNvSpPr>
          <p:nvPr/>
        </p:nvSpPr>
        <p:spPr>
          <a:xfrm>
            <a:off x="609600" y="2181225"/>
            <a:ext cx="2543175" cy="228600"/>
          </a:xfrm>
          <a:prstGeom prst="rect">
            <a:avLst/>
          </a:prstGeom>
        </p:spPr>
        <p:txBody>
          <a:bodyPr wrap="square" lIns="0" tIns="0" rIns="0" bIns="0" anchor="t"/>
          <a:lstStyle/>
          <a:p>
            <a:pPr>
              <a:defRPr sz="975" b="1">
                <a:solidFill>
                  <a:srgbClr val="00766B"/>
                </a:solidFill>
                <a:latin typeface="Arial"/>
                <a:ea typeface="Arial"/>
                <a:cs typeface="Arial"/>
              </a:defRPr>
            </a:pPr>
            <a:r>
              <a:t>BEFORE RELEASE</a:t>
            </a:r>
          </a:p>
        </p:txBody>
      </p:sp>
      <p:sp>
        <p:nvSpPr>
          <p:cNvPr id="8" name="text-7">
            <a:extLst>
              <a:ext uri="{FF2B5EF4-FFF2-40B4-BE49-F238E27FC236}">
                <a16:creationId xmlns:a16="http://schemas.microsoft.com/office/drawing/2014/main" id="{92BDED96-A942-4A6F-8170-9E6944C71601}"/>
              </a:ext>
            </a:extLst>
          </p:cNvPr>
          <p:cNvSpPr>
            <a:spLocks noGrp="1"/>
          </p:cNvSpPr>
          <p:nvPr/>
        </p:nvSpPr>
        <p:spPr>
          <a:xfrm>
            <a:off x="3448050" y="2105025"/>
            <a:ext cx="8029575" cy="714375"/>
          </a:xfrm>
          <a:prstGeom prst="rect">
            <a:avLst/>
          </a:prstGeom>
        </p:spPr>
        <p:txBody>
          <a:bodyPr wrap="square" lIns="0" tIns="0" rIns="0" bIns="0" anchor="t"/>
          <a:lstStyle/>
          <a:p>
            <a:pPr>
              <a:defRPr sz="1875" b="0">
                <a:solidFill>
                  <a:srgbClr val="173047"/>
                </a:solidFill>
                <a:latin typeface="Arial"/>
                <a:ea typeface="Arial"/>
                <a:cs typeface="Arial"/>
              </a:defRPr>
            </a:pPr>
            <a:r>
              <a:t>Authenticate API/admin actions; review provider-bound data; define retention and owners.</a:t>
            </a:r>
          </a:p>
        </p:txBody>
      </p:sp>
      <p:sp>
        <p:nvSpPr>
          <p:cNvPr id="9" name="shape-8">
            <a:extLst>
              <a:ext uri="{FF2B5EF4-FFF2-40B4-BE49-F238E27FC236}">
                <a16:creationId xmlns:a16="http://schemas.microsoft.com/office/drawing/2014/main" id="{3AF7FB17-308A-46E3-8841-5D490478E44C}"/>
              </a:ext>
            </a:extLst>
          </p:cNvPr>
          <p:cNvSpPr>
            <a:spLocks noGrp="1"/>
          </p:cNvSpPr>
          <p:nvPr/>
        </p:nvSpPr>
        <p:spPr>
          <a:xfrm>
            <a:off x="3448050" y="2876550"/>
            <a:ext cx="8029575" cy="9525"/>
          </a:xfrm>
          <a:prstGeom prst="rect">
            <a:avLst/>
          </a:prstGeom>
          <a:solidFill>
            <a:srgbClr val="CDD3D2"/>
          </a:solidFill>
        </p:spPr>
      </p:sp>
      <p:sp>
        <p:nvSpPr>
          <p:cNvPr id="10" name="text-9">
            <a:extLst>
              <a:ext uri="{FF2B5EF4-FFF2-40B4-BE49-F238E27FC236}">
                <a16:creationId xmlns:a16="http://schemas.microsoft.com/office/drawing/2014/main" id="{ECAB27B8-28B2-4C4E-8B52-99EE9BFCDDDC}"/>
              </a:ext>
            </a:extLst>
          </p:cNvPr>
          <p:cNvSpPr>
            <a:spLocks noGrp="1"/>
          </p:cNvSpPr>
          <p:nvPr/>
        </p:nvSpPr>
        <p:spPr>
          <a:xfrm>
            <a:off x="609600" y="3057525"/>
            <a:ext cx="2543175" cy="228600"/>
          </a:xfrm>
          <a:prstGeom prst="rect">
            <a:avLst/>
          </a:prstGeom>
        </p:spPr>
        <p:txBody>
          <a:bodyPr wrap="square" lIns="0" tIns="0" rIns="0" bIns="0" anchor="t"/>
          <a:lstStyle/>
          <a:p>
            <a:pPr>
              <a:defRPr sz="975" b="1">
                <a:solidFill>
                  <a:srgbClr val="00766B"/>
                </a:solidFill>
                <a:latin typeface="Arial"/>
                <a:ea typeface="Arial"/>
                <a:cs typeface="Arial"/>
              </a:defRPr>
            </a:pPr>
            <a:r>
              <a:t>DURING OPERATION</a:t>
            </a:r>
          </a:p>
        </p:txBody>
      </p:sp>
      <p:sp>
        <p:nvSpPr>
          <p:cNvPr id="11" name="text-10">
            <a:extLst>
              <a:ext uri="{FF2B5EF4-FFF2-40B4-BE49-F238E27FC236}">
                <a16:creationId xmlns:a16="http://schemas.microsoft.com/office/drawing/2014/main" id="{ACBA1F71-E888-49F9-9BD7-D0AEDF605D8C}"/>
              </a:ext>
            </a:extLst>
          </p:cNvPr>
          <p:cNvSpPr>
            <a:spLocks noGrp="1"/>
          </p:cNvSpPr>
          <p:nvPr/>
        </p:nvSpPr>
        <p:spPr>
          <a:xfrm>
            <a:off x="3448050" y="2981325"/>
            <a:ext cx="8029575" cy="714375"/>
          </a:xfrm>
          <a:prstGeom prst="rect">
            <a:avLst/>
          </a:prstGeom>
        </p:spPr>
        <p:txBody>
          <a:bodyPr wrap="square" lIns="0" tIns="0" rIns="0" bIns="0" anchor="t"/>
          <a:lstStyle/>
          <a:p>
            <a:pPr>
              <a:defRPr sz="1875" b="0">
                <a:solidFill>
                  <a:srgbClr val="173047"/>
                </a:solidFill>
                <a:latin typeface="Arial"/>
                <a:ea typeface="Arial"/>
                <a:cs typeface="Arial"/>
              </a:defRPr>
            </a:pPr>
            <a:r>
              <a:t>Collect delivery and closure events; monitor latency, costs and quality by group.</a:t>
            </a:r>
          </a:p>
        </p:txBody>
      </p:sp>
      <p:sp>
        <p:nvSpPr>
          <p:cNvPr id="12" name="shape-11">
            <a:extLst>
              <a:ext uri="{FF2B5EF4-FFF2-40B4-BE49-F238E27FC236}">
                <a16:creationId xmlns:a16="http://schemas.microsoft.com/office/drawing/2014/main" id="{5A404F3E-9CB6-4301-91BB-EFC14480A5D1}"/>
              </a:ext>
            </a:extLst>
          </p:cNvPr>
          <p:cNvSpPr>
            <a:spLocks noGrp="1"/>
          </p:cNvSpPr>
          <p:nvPr/>
        </p:nvSpPr>
        <p:spPr>
          <a:xfrm>
            <a:off x="3448050" y="3752850"/>
            <a:ext cx="8029575" cy="9525"/>
          </a:xfrm>
          <a:prstGeom prst="rect">
            <a:avLst/>
          </a:prstGeom>
          <a:solidFill>
            <a:srgbClr val="CDD3D2"/>
          </a:solidFill>
        </p:spPr>
      </p:sp>
      <p:sp>
        <p:nvSpPr>
          <p:cNvPr id="13" name="text-12">
            <a:extLst>
              <a:ext uri="{FF2B5EF4-FFF2-40B4-BE49-F238E27FC236}">
                <a16:creationId xmlns:a16="http://schemas.microsoft.com/office/drawing/2014/main" id="{1869239B-F083-4053-8217-A1EED57BC28A}"/>
              </a:ext>
            </a:extLst>
          </p:cNvPr>
          <p:cNvSpPr>
            <a:spLocks noGrp="1"/>
          </p:cNvSpPr>
          <p:nvPr/>
        </p:nvSpPr>
        <p:spPr>
          <a:xfrm>
            <a:off x="609600" y="3933825"/>
            <a:ext cx="2543175" cy="228600"/>
          </a:xfrm>
          <a:prstGeom prst="rect">
            <a:avLst/>
          </a:prstGeom>
        </p:spPr>
        <p:txBody>
          <a:bodyPr wrap="square" lIns="0" tIns="0" rIns="0" bIns="0" anchor="t"/>
          <a:lstStyle/>
          <a:p>
            <a:pPr>
              <a:defRPr sz="975" b="1">
                <a:solidFill>
                  <a:srgbClr val="B87522"/>
                </a:solidFill>
                <a:latin typeface="Arial"/>
                <a:ea typeface="Arial"/>
                <a:cs typeface="Arial"/>
              </a:defRPr>
            </a:pPr>
            <a:r>
              <a:t>ON AN INCIDENT</a:t>
            </a:r>
          </a:p>
        </p:txBody>
      </p:sp>
      <p:sp>
        <p:nvSpPr>
          <p:cNvPr id="14" name="text-13">
            <a:extLst>
              <a:ext uri="{FF2B5EF4-FFF2-40B4-BE49-F238E27FC236}">
                <a16:creationId xmlns:a16="http://schemas.microsoft.com/office/drawing/2014/main" id="{8DD2EDB5-0933-4342-B498-2712C03AEDA8}"/>
              </a:ext>
            </a:extLst>
          </p:cNvPr>
          <p:cNvSpPr>
            <a:spLocks noGrp="1"/>
          </p:cNvSpPr>
          <p:nvPr/>
        </p:nvSpPr>
        <p:spPr>
          <a:xfrm>
            <a:off x="3448050" y="3857625"/>
            <a:ext cx="8029575" cy="714375"/>
          </a:xfrm>
          <a:prstGeom prst="rect">
            <a:avLst/>
          </a:prstGeom>
        </p:spPr>
        <p:txBody>
          <a:bodyPr wrap="square" lIns="0" tIns="0" rIns="0" bIns="0" anchor="t"/>
          <a:lstStyle/>
          <a:p>
            <a:pPr>
              <a:defRPr sz="1875" b="0">
                <a:solidFill>
                  <a:srgbClr val="173047"/>
                </a:solidFill>
                <a:latin typeface="Arial"/>
                <a:ea typeface="Arial"/>
                <a:cs typeface="Arial"/>
              </a:defRPr>
            </a:pPr>
            <a:r>
              <a:t>Stop automatic drafting, preserve decision evidence, assign a human owner and review affected tickets.</a:t>
            </a:r>
          </a:p>
        </p:txBody>
      </p:sp>
      <p:sp>
        <p:nvSpPr>
          <p:cNvPr id="15" name="shape-14">
            <a:extLst>
              <a:ext uri="{FF2B5EF4-FFF2-40B4-BE49-F238E27FC236}">
                <a16:creationId xmlns:a16="http://schemas.microsoft.com/office/drawing/2014/main" id="{C50BBCE9-50ED-4F7A-8EA1-96C7ECAD95FF}"/>
              </a:ext>
            </a:extLst>
          </p:cNvPr>
          <p:cNvSpPr>
            <a:spLocks noGrp="1"/>
          </p:cNvSpPr>
          <p:nvPr/>
        </p:nvSpPr>
        <p:spPr>
          <a:xfrm>
            <a:off x="3448050" y="4629150"/>
            <a:ext cx="8029575" cy="9525"/>
          </a:xfrm>
          <a:prstGeom prst="rect">
            <a:avLst/>
          </a:prstGeom>
          <a:solidFill>
            <a:srgbClr val="CDD3D2"/>
          </a:solidFill>
        </p:spPr>
      </p:sp>
      <p:sp>
        <p:nvSpPr>
          <p:cNvPr id="16" name="text-15">
            <a:extLst>
              <a:ext uri="{FF2B5EF4-FFF2-40B4-BE49-F238E27FC236}">
                <a16:creationId xmlns:a16="http://schemas.microsoft.com/office/drawing/2014/main" id="{DD9E8387-2E28-4A3F-B18A-900C8515EAF9}"/>
              </a:ext>
            </a:extLst>
          </p:cNvPr>
          <p:cNvSpPr>
            <a:spLocks noGrp="1"/>
          </p:cNvSpPr>
          <p:nvPr/>
        </p:nvSpPr>
        <p:spPr>
          <a:xfrm>
            <a:off x="609600" y="4810125"/>
            <a:ext cx="2543175" cy="228600"/>
          </a:xfrm>
          <a:prstGeom prst="rect">
            <a:avLst/>
          </a:prstGeom>
        </p:spPr>
        <p:txBody>
          <a:bodyPr wrap="square" lIns="0" tIns="0" rIns="0" bIns="0" anchor="t"/>
          <a:lstStyle/>
          <a:p>
            <a:pPr>
              <a:defRPr sz="975" b="1">
                <a:solidFill>
                  <a:srgbClr val="00766B"/>
                </a:solidFill>
                <a:latin typeface="Arial"/>
                <a:ea typeface="Arial"/>
                <a:cs typeface="Arial"/>
              </a:defRPr>
            </a:pPr>
            <a:r>
              <a:t>BEFORE EXPANSION</a:t>
            </a:r>
          </a:p>
        </p:txBody>
      </p:sp>
      <p:sp>
        <p:nvSpPr>
          <p:cNvPr id="17" name="text-16">
            <a:extLst>
              <a:ext uri="{FF2B5EF4-FFF2-40B4-BE49-F238E27FC236}">
                <a16:creationId xmlns:a16="http://schemas.microsoft.com/office/drawing/2014/main" id="{5164F0A0-3641-4704-9CAE-3102FF5FA145}"/>
              </a:ext>
            </a:extLst>
          </p:cNvPr>
          <p:cNvSpPr>
            <a:spLocks noGrp="1"/>
          </p:cNvSpPr>
          <p:nvPr/>
        </p:nvSpPr>
        <p:spPr>
          <a:xfrm>
            <a:off x="3448050" y="4733925"/>
            <a:ext cx="8029575" cy="714375"/>
          </a:xfrm>
          <a:prstGeom prst="rect">
            <a:avLst/>
          </a:prstGeom>
        </p:spPr>
        <p:txBody>
          <a:bodyPr wrap="square" lIns="0" tIns="0" rIns="0" bIns="0" anchor="t"/>
          <a:lstStyle/>
          <a:p>
            <a:pPr>
              <a:defRPr sz="1875" b="0">
                <a:solidFill>
                  <a:srgbClr val="173047"/>
                </a:solidFill>
                <a:latin typeface="Arial"/>
                <a:ea typeface="Arial"/>
                <a:cs typeface="Arial"/>
              </a:defRPr>
            </a:pPr>
            <a:r>
              <a:t>Review semantic quality and fairness with adequate samples; validate global switch and reliability.</a:t>
            </a:r>
          </a:p>
        </p:txBody>
      </p:sp>
      <p:sp>
        <p:nvSpPr>
          <p:cNvPr id="18" name="shape-17">
            <a:extLst>
              <a:ext uri="{FF2B5EF4-FFF2-40B4-BE49-F238E27FC236}">
                <a16:creationId xmlns:a16="http://schemas.microsoft.com/office/drawing/2014/main" id="{35E15DEF-6B12-4222-B826-483B84EF863B}"/>
              </a:ext>
            </a:extLst>
          </p:cNvPr>
          <p:cNvSpPr>
            <a:spLocks noGrp="1"/>
          </p:cNvSpPr>
          <p:nvPr/>
        </p:nvSpPr>
        <p:spPr>
          <a:xfrm>
            <a:off x="3448050" y="5505450"/>
            <a:ext cx="8029575" cy="9525"/>
          </a:xfrm>
          <a:prstGeom prst="rect">
            <a:avLst/>
          </a:prstGeom>
          <a:solidFill>
            <a:srgbClr val="CDD3D2"/>
          </a:solidFill>
        </p:spPr>
      </p:sp>
      <p:sp>
        <p:nvSpPr>
          <p:cNvPr id="19" name="text-18">
            <a:extLst>
              <a:ext uri="{FF2B5EF4-FFF2-40B4-BE49-F238E27FC236}">
                <a16:creationId xmlns:a16="http://schemas.microsoft.com/office/drawing/2014/main" id="{08A8B6FB-C683-4B09-83EA-A5C206E3248F}"/>
              </a:ext>
            </a:extLst>
          </p:cNvPr>
          <p:cNvSpPr>
            <a:spLocks noGrp="1"/>
          </p:cNvSpPr>
          <p:nvPr/>
        </p:nvSpPr>
        <p:spPr>
          <a:xfrm>
            <a:off x="609600" y="5838825"/>
            <a:ext cx="10972800" cy="419100"/>
          </a:xfrm>
          <a:prstGeom prst="rect">
            <a:avLst/>
          </a:prstGeom>
        </p:spPr>
        <p:txBody>
          <a:bodyPr wrap="square" lIns="0" tIns="0" rIns="0" bIns="0" anchor="t"/>
          <a:lstStyle/>
          <a:p>
            <a:pPr>
              <a:defRPr sz="1275" b="0">
                <a:solidFill>
                  <a:srgbClr val="546573"/>
                </a:solidFill>
                <a:latin typeface="Arial"/>
                <a:ea typeface="Arial"/>
                <a:cs typeface="Arial"/>
              </a:defRPr>
            </a:pPr>
            <a:r>
              <a:t>Local JSON metrics and a process-local switch are demo controls, not a production monitoring and incident system.</a:t>
            </a:r>
          </a:p>
        </p:txBody>
      </p:sp>
    </p:spTree>
    <p:extLst>
      <p:ext uri="{BB962C8B-B14F-4D97-AF65-F5344CB8AC3E}">
        <p14:creationId xmlns:p14="http://schemas.microsoft.com/office/powerpoint/2010/main" val="1308534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50" name="kicker-marker">
            <a:extLst>
              <a:ext uri="{FF2B5EF4-FFF2-40B4-BE49-F238E27FC236}">
                <a16:creationId xmlns:a16="http://schemas.microsoft.com/office/drawing/2014/main" id="{1C88E663-3036-42AB-834C-5352F1E3D6C0}"/>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319D535A-2E42-40EB-A9AE-26A5DEFF637B}"/>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EFFORT LOG</a:t>
            </a:r>
          </a:p>
        </p:txBody>
      </p:sp>
      <p:sp>
        <p:nvSpPr>
          <p:cNvPr id="3" name="text-2">
            <a:extLst>
              <a:ext uri="{FF2B5EF4-FFF2-40B4-BE49-F238E27FC236}">
                <a16:creationId xmlns:a16="http://schemas.microsoft.com/office/drawing/2014/main" id="{E1FED026-A1F3-44C3-B498-F8361BAB5B7D}"/>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Engineering dominated the work;</a:t>
            </a:r>
          </a:p>
          <a:p>
            <a:pPr>
              <a:defRPr sz="3150" b="0">
                <a:solidFill>
                  <a:srgbClr val="173047"/>
                </a:solidFill>
                <a:latin typeface="Georgia"/>
                <a:ea typeface="Georgia"/>
                <a:cs typeface="Georgia"/>
              </a:defRPr>
            </a:pPr>
            <a:r>
              <a:t>the final effort total needs reconciliation</a:t>
            </a:r>
          </a:p>
        </p:txBody>
      </p:sp>
      <p:sp>
        <p:nvSpPr>
          <p:cNvPr id="4" name="shape-3">
            <a:extLst>
              <a:ext uri="{FF2B5EF4-FFF2-40B4-BE49-F238E27FC236}">
                <a16:creationId xmlns:a16="http://schemas.microsoft.com/office/drawing/2014/main" id="{E2CF9AC7-9CF0-49A2-9D06-3B7BDD6DE109}"/>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DDB76B59-B97B-44D5-BFF1-670D2FB2C68D}"/>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docs/Effort_Log.docx · planned and declared summary versus sum of daily entries; no source edits</a:t>
            </a:r>
          </a:p>
        </p:txBody>
      </p:sp>
      <p:sp>
        <p:nvSpPr>
          <p:cNvPr id="6" name="text-5">
            <a:extLst>
              <a:ext uri="{FF2B5EF4-FFF2-40B4-BE49-F238E27FC236}">
                <a16:creationId xmlns:a16="http://schemas.microsoft.com/office/drawing/2014/main" id="{0AF58529-17B4-41FF-9326-E2C1145CA63A}"/>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25</a:t>
            </a:r>
          </a:p>
        </p:txBody>
      </p:sp>
      <p:sp>
        <p:nvSpPr>
          <p:cNvPr id="7" name="shape-6">
            <a:extLst>
              <a:ext uri="{FF2B5EF4-FFF2-40B4-BE49-F238E27FC236}">
                <a16:creationId xmlns:a16="http://schemas.microsoft.com/office/drawing/2014/main" id="{2B9585B5-8004-42DF-8371-8FDC14ABB3DA}"/>
              </a:ext>
            </a:extLst>
          </p:cNvPr>
          <p:cNvSpPr>
            <a:spLocks noGrp="1"/>
          </p:cNvSpPr>
          <p:nvPr/>
        </p:nvSpPr>
        <p:spPr>
          <a:xfrm>
            <a:off x="609600" y="2057400"/>
            <a:ext cx="7905750" cy="381000"/>
          </a:xfrm>
          <a:prstGeom prst="rect">
            <a:avLst/>
          </a:prstGeom>
          <a:solidFill>
            <a:srgbClr val="E3ECE8"/>
          </a:solidFill>
        </p:spPr>
      </p:sp>
      <p:sp>
        <p:nvSpPr>
          <p:cNvPr id="8" name="text-7">
            <a:extLst>
              <a:ext uri="{FF2B5EF4-FFF2-40B4-BE49-F238E27FC236}">
                <a16:creationId xmlns:a16="http://schemas.microsoft.com/office/drawing/2014/main" id="{9E71F1BE-6141-476A-8BAD-EC45D9BE7B77}"/>
              </a:ext>
            </a:extLst>
          </p:cNvPr>
          <p:cNvSpPr>
            <a:spLocks noGrp="1"/>
          </p:cNvSpPr>
          <p:nvPr/>
        </p:nvSpPr>
        <p:spPr>
          <a:xfrm>
            <a:off x="723900" y="2171700"/>
            <a:ext cx="3171825" cy="152400"/>
          </a:xfrm>
          <a:prstGeom prst="rect">
            <a:avLst/>
          </a:prstGeom>
        </p:spPr>
        <p:txBody>
          <a:bodyPr wrap="square" lIns="0" tIns="0" rIns="0" bIns="0" anchor="t"/>
          <a:lstStyle/>
          <a:p>
            <a:pPr>
              <a:defRPr sz="975" b="1">
                <a:solidFill>
                  <a:srgbClr val="00766B"/>
                </a:solidFill>
                <a:latin typeface="Arial"/>
                <a:ea typeface="Arial"/>
                <a:cs typeface="Arial"/>
              </a:defRPr>
            </a:pPr>
            <a:r>
              <a:t>STAGE</a:t>
            </a:r>
          </a:p>
        </p:txBody>
      </p:sp>
      <p:sp>
        <p:nvSpPr>
          <p:cNvPr id="9" name="text-8">
            <a:extLst>
              <a:ext uri="{FF2B5EF4-FFF2-40B4-BE49-F238E27FC236}">
                <a16:creationId xmlns:a16="http://schemas.microsoft.com/office/drawing/2014/main" id="{723FCBB0-1169-4945-83C7-31EB2167DB51}"/>
              </a:ext>
            </a:extLst>
          </p:cNvPr>
          <p:cNvSpPr>
            <a:spLocks noGrp="1"/>
          </p:cNvSpPr>
          <p:nvPr/>
        </p:nvSpPr>
        <p:spPr>
          <a:xfrm>
            <a:off x="4124325" y="2171700"/>
            <a:ext cx="971550" cy="152400"/>
          </a:xfrm>
          <a:prstGeom prst="rect">
            <a:avLst/>
          </a:prstGeom>
        </p:spPr>
        <p:txBody>
          <a:bodyPr wrap="square" lIns="0" tIns="0" rIns="0" bIns="0" anchor="t"/>
          <a:lstStyle/>
          <a:p>
            <a:pPr>
              <a:defRPr sz="975" b="1">
                <a:solidFill>
                  <a:srgbClr val="00766B"/>
                </a:solidFill>
                <a:latin typeface="Arial"/>
                <a:ea typeface="Arial"/>
                <a:cs typeface="Arial"/>
              </a:defRPr>
            </a:pPr>
            <a:r>
              <a:t>PLAN (h)</a:t>
            </a:r>
          </a:p>
        </p:txBody>
      </p:sp>
      <p:sp>
        <p:nvSpPr>
          <p:cNvPr id="10" name="text-9">
            <a:extLst>
              <a:ext uri="{FF2B5EF4-FFF2-40B4-BE49-F238E27FC236}">
                <a16:creationId xmlns:a16="http://schemas.microsoft.com/office/drawing/2014/main" id="{04655B46-E985-4796-A374-B15901E311B7}"/>
              </a:ext>
            </a:extLst>
          </p:cNvPr>
          <p:cNvSpPr>
            <a:spLocks noGrp="1"/>
          </p:cNvSpPr>
          <p:nvPr/>
        </p:nvSpPr>
        <p:spPr>
          <a:xfrm>
            <a:off x="5324475" y="2171700"/>
            <a:ext cx="1343025" cy="152400"/>
          </a:xfrm>
          <a:prstGeom prst="rect">
            <a:avLst/>
          </a:prstGeom>
        </p:spPr>
        <p:txBody>
          <a:bodyPr wrap="square" lIns="0" tIns="0" rIns="0" bIns="0" anchor="t"/>
          <a:lstStyle/>
          <a:p>
            <a:pPr>
              <a:defRPr sz="975" b="1">
                <a:solidFill>
                  <a:srgbClr val="00766B"/>
                </a:solidFill>
                <a:latin typeface="Arial"/>
                <a:ea typeface="Arial"/>
                <a:cs typeface="Arial"/>
              </a:defRPr>
            </a:pPr>
            <a:r>
              <a:t>SUMMARY (h)</a:t>
            </a:r>
          </a:p>
        </p:txBody>
      </p:sp>
      <p:sp>
        <p:nvSpPr>
          <p:cNvPr id="11" name="text-10">
            <a:extLst>
              <a:ext uri="{FF2B5EF4-FFF2-40B4-BE49-F238E27FC236}">
                <a16:creationId xmlns:a16="http://schemas.microsoft.com/office/drawing/2014/main" id="{A3D1B1AA-4675-4F3B-A9CA-3B267B7C33BA}"/>
              </a:ext>
            </a:extLst>
          </p:cNvPr>
          <p:cNvSpPr>
            <a:spLocks noGrp="1"/>
          </p:cNvSpPr>
          <p:nvPr/>
        </p:nvSpPr>
        <p:spPr>
          <a:xfrm>
            <a:off x="6896100" y="2171700"/>
            <a:ext cx="1504950" cy="152400"/>
          </a:xfrm>
          <a:prstGeom prst="rect">
            <a:avLst/>
          </a:prstGeom>
        </p:spPr>
        <p:txBody>
          <a:bodyPr wrap="square" lIns="0" tIns="0" rIns="0" bIns="0" anchor="t"/>
          <a:lstStyle/>
          <a:p>
            <a:pPr>
              <a:defRPr sz="975" b="1">
                <a:solidFill>
                  <a:srgbClr val="00766B"/>
                </a:solidFill>
                <a:latin typeface="Arial"/>
                <a:ea typeface="Arial"/>
                <a:cs typeface="Arial"/>
              </a:defRPr>
            </a:pPr>
            <a:r>
              <a:t>DAILY SUM (h)</a:t>
            </a:r>
          </a:p>
        </p:txBody>
      </p:sp>
      <p:sp>
        <p:nvSpPr>
          <p:cNvPr id="12" name="text-11">
            <a:extLst>
              <a:ext uri="{FF2B5EF4-FFF2-40B4-BE49-F238E27FC236}">
                <a16:creationId xmlns:a16="http://schemas.microsoft.com/office/drawing/2014/main" id="{E16350CD-EC47-49F0-AC41-ABA960ED0EB2}"/>
              </a:ext>
            </a:extLst>
          </p:cNvPr>
          <p:cNvSpPr>
            <a:spLocks noGrp="1"/>
          </p:cNvSpPr>
          <p:nvPr/>
        </p:nvSpPr>
        <p:spPr>
          <a:xfrm>
            <a:off x="723900" y="2552700"/>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Discovery</a:t>
            </a:r>
          </a:p>
        </p:txBody>
      </p:sp>
      <p:sp>
        <p:nvSpPr>
          <p:cNvPr id="13" name="text-12">
            <a:extLst>
              <a:ext uri="{FF2B5EF4-FFF2-40B4-BE49-F238E27FC236}">
                <a16:creationId xmlns:a16="http://schemas.microsoft.com/office/drawing/2014/main" id="{4312643B-9655-421E-94B0-17930E81D779}"/>
              </a:ext>
            </a:extLst>
          </p:cNvPr>
          <p:cNvSpPr>
            <a:spLocks noGrp="1"/>
          </p:cNvSpPr>
          <p:nvPr/>
        </p:nvSpPr>
        <p:spPr>
          <a:xfrm>
            <a:off x="4124325" y="2552700"/>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12</a:t>
            </a:r>
          </a:p>
        </p:txBody>
      </p:sp>
      <p:sp>
        <p:nvSpPr>
          <p:cNvPr id="14" name="text-13">
            <a:extLst>
              <a:ext uri="{FF2B5EF4-FFF2-40B4-BE49-F238E27FC236}">
                <a16:creationId xmlns:a16="http://schemas.microsoft.com/office/drawing/2014/main" id="{12845F56-AAA2-48BB-8F23-AF6608E751DA}"/>
              </a:ext>
            </a:extLst>
          </p:cNvPr>
          <p:cNvSpPr>
            <a:spLocks noGrp="1"/>
          </p:cNvSpPr>
          <p:nvPr/>
        </p:nvSpPr>
        <p:spPr>
          <a:xfrm>
            <a:off x="5324475" y="2552700"/>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10</a:t>
            </a:r>
          </a:p>
        </p:txBody>
      </p:sp>
      <p:sp>
        <p:nvSpPr>
          <p:cNvPr id="15" name="text-14">
            <a:extLst>
              <a:ext uri="{FF2B5EF4-FFF2-40B4-BE49-F238E27FC236}">
                <a16:creationId xmlns:a16="http://schemas.microsoft.com/office/drawing/2014/main" id="{24A6607A-BBB7-4207-AABB-0FD33FDF888B}"/>
              </a:ext>
            </a:extLst>
          </p:cNvPr>
          <p:cNvSpPr>
            <a:spLocks noGrp="1"/>
          </p:cNvSpPr>
          <p:nvPr/>
        </p:nvSpPr>
        <p:spPr>
          <a:xfrm>
            <a:off x="6896100" y="2552700"/>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12</a:t>
            </a:r>
          </a:p>
        </p:txBody>
      </p:sp>
      <p:sp>
        <p:nvSpPr>
          <p:cNvPr id="16" name="shape-15">
            <a:extLst>
              <a:ext uri="{FF2B5EF4-FFF2-40B4-BE49-F238E27FC236}">
                <a16:creationId xmlns:a16="http://schemas.microsoft.com/office/drawing/2014/main" id="{BBFF09CF-D8AA-47FB-8FAA-D70F734B36ED}"/>
              </a:ext>
            </a:extLst>
          </p:cNvPr>
          <p:cNvSpPr>
            <a:spLocks noGrp="1"/>
          </p:cNvSpPr>
          <p:nvPr/>
        </p:nvSpPr>
        <p:spPr>
          <a:xfrm>
            <a:off x="609600" y="2905125"/>
            <a:ext cx="7905750" cy="9525"/>
          </a:xfrm>
          <a:prstGeom prst="rect">
            <a:avLst/>
          </a:prstGeom>
          <a:solidFill>
            <a:srgbClr val="CDD3D2"/>
          </a:solidFill>
        </p:spPr>
      </p:sp>
      <p:sp>
        <p:nvSpPr>
          <p:cNvPr id="17" name="text-16">
            <a:extLst>
              <a:ext uri="{FF2B5EF4-FFF2-40B4-BE49-F238E27FC236}">
                <a16:creationId xmlns:a16="http://schemas.microsoft.com/office/drawing/2014/main" id="{3E338659-DA3E-46A3-95CB-1C9EBB74CA5D}"/>
              </a:ext>
            </a:extLst>
          </p:cNvPr>
          <p:cNvSpPr>
            <a:spLocks noGrp="1"/>
          </p:cNvSpPr>
          <p:nvPr/>
        </p:nvSpPr>
        <p:spPr>
          <a:xfrm>
            <a:off x="723900" y="3019425"/>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Requirements</a:t>
            </a:r>
          </a:p>
        </p:txBody>
      </p:sp>
      <p:sp>
        <p:nvSpPr>
          <p:cNvPr id="18" name="text-17">
            <a:extLst>
              <a:ext uri="{FF2B5EF4-FFF2-40B4-BE49-F238E27FC236}">
                <a16:creationId xmlns:a16="http://schemas.microsoft.com/office/drawing/2014/main" id="{5EA5BFF3-9FF3-422A-A398-352D513B583A}"/>
              </a:ext>
            </a:extLst>
          </p:cNvPr>
          <p:cNvSpPr>
            <a:spLocks noGrp="1"/>
          </p:cNvSpPr>
          <p:nvPr/>
        </p:nvSpPr>
        <p:spPr>
          <a:xfrm>
            <a:off x="4124325" y="3019425"/>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8</a:t>
            </a:r>
          </a:p>
        </p:txBody>
      </p:sp>
      <p:sp>
        <p:nvSpPr>
          <p:cNvPr id="19" name="text-18">
            <a:extLst>
              <a:ext uri="{FF2B5EF4-FFF2-40B4-BE49-F238E27FC236}">
                <a16:creationId xmlns:a16="http://schemas.microsoft.com/office/drawing/2014/main" id="{5D189FA6-EB2A-4B98-BEC9-58F35BC0094D}"/>
              </a:ext>
            </a:extLst>
          </p:cNvPr>
          <p:cNvSpPr>
            <a:spLocks noGrp="1"/>
          </p:cNvSpPr>
          <p:nvPr/>
        </p:nvSpPr>
        <p:spPr>
          <a:xfrm>
            <a:off x="5324475" y="3019425"/>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9</a:t>
            </a:r>
          </a:p>
        </p:txBody>
      </p:sp>
      <p:sp>
        <p:nvSpPr>
          <p:cNvPr id="20" name="text-19">
            <a:extLst>
              <a:ext uri="{FF2B5EF4-FFF2-40B4-BE49-F238E27FC236}">
                <a16:creationId xmlns:a16="http://schemas.microsoft.com/office/drawing/2014/main" id="{626E4F38-297D-4EB1-ACF0-97ED59355DF7}"/>
              </a:ext>
            </a:extLst>
          </p:cNvPr>
          <p:cNvSpPr>
            <a:spLocks noGrp="1"/>
          </p:cNvSpPr>
          <p:nvPr/>
        </p:nvSpPr>
        <p:spPr>
          <a:xfrm>
            <a:off x="6896100" y="3019425"/>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11</a:t>
            </a:r>
          </a:p>
        </p:txBody>
      </p:sp>
      <p:sp>
        <p:nvSpPr>
          <p:cNvPr id="21" name="shape-20">
            <a:extLst>
              <a:ext uri="{FF2B5EF4-FFF2-40B4-BE49-F238E27FC236}">
                <a16:creationId xmlns:a16="http://schemas.microsoft.com/office/drawing/2014/main" id="{A83196AD-B2C8-48E5-A1F5-6EF51D262610}"/>
              </a:ext>
            </a:extLst>
          </p:cNvPr>
          <p:cNvSpPr>
            <a:spLocks noGrp="1"/>
          </p:cNvSpPr>
          <p:nvPr/>
        </p:nvSpPr>
        <p:spPr>
          <a:xfrm>
            <a:off x="609600" y="3371850"/>
            <a:ext cx="7905750" cy="9525"/>
          </a:xfrm>
          <a:prstGeom prst="rect">
            <a:avLst/>
          </a:prstGeom>
          <a:solidFill>
            <a:srgbClr val="CDD3D2"/>
          </a:solidFill>
        </p:spPr>
      </p:sp>
      <p:sp>
        <p:nvSpPr>
          <p:cNvPr id="22" name="text-21">
            <a:extLst>
              <a:ext uri="{FF2B5EF4-FFF2-40B4-BE49-F238E27FC236}">
                <a16:creationId xmlns:a16="http://schemas.microsoft.com/office/drawing/2014/main" id="{489F26DF-2FD4-4D1F-8B10-EDDC678769CC}"/>
              </a:ext>
            </a:extLst>
          </p:cNvPr>
          <p:cNvSpPr>
            <a:spLocks noGrp="1"/>
          </p:cNvSpPr>
          <p:nvPr/>
        </p:nvSpPr>
        <p:spPr>
          <a:xfrm>
            <a:off x="723900" y="3486150"/>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Prompt library</a:t>
            </a:r>
          </a:p>
        </p:txBody>
      </p:sp>
      <p:sp>
        <p:nvSpPr>
          <p:cNvPr id="23" name="text-22">
            <a:extLst>
              <a:ext uri="{FF2B5EF4-FFF2-40B4-BE49-F238E27FC236}">
                <a16:creationId xmlns:a16="http://schemas.microsoft.com/office/drawing/2014/main" id="{54985DA5-61FA-474F-B9CD-D5E47CAA035C}"/>
              </a:ext>
            </a:extLst>
          </p:cNvPr>
          <p:cNvSpPr>
            <a:spLocks noGrp="1"/>
          </p:cNvSpPr>
          <p:nvPr/>
        </p:nvSpPr>
        <p:spPr>
          <a:xfrm>
            <a:off x="4124325" y="3486150"/>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10</a:t>
            </a:r>
          </a:p>
        </p:txBody>
      </p:sp>
      <p:sp>
        <p:nvSpPr>
          <p:cNvPr id="24" name="text-23">
            <a:extLst>
              <a:ext uri="{FF2B5EF4-FFF2-40B4-BE49-F238E27FC236}">
                <a16:creationId xmlns:a16="http://schemas.microsoft.com/office/drawing/2014/main" id="{EF778F17-D918-4830-9518-4E2C73154AE3}"/>
              </a:ext>
            </a:extLst>
          </p:cNvPr>
          <p:cNvSpPr>
            <a:spLocks noGrp="1"/>
          </p:cNvSpPr>
          <p:nvPr/>
        </p:nvSpPr>
        <p:spPr>
          <a:xfrm>
            <a:off x="5324475" y="3486150"/>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11</a:t>
            </a:r>
          </a:p>
        </p:txBody>
      </p:sp>
      <p:sp>
        <p:nvSpPr>
          <p:cNvPr id="25" name="text-24">
            <a:extLst>
              <a:ext uri="{FF2B5EF4-FFF2-40B4-BE49-F238E27FC236}">
                <a16:creationId xmlns:a16="http://schemas.microsoft.com/office/drawing/2014/main" id="{64B3053F-FEC5-4269-ABBF-1833D943E635}"/>
              </a:ext>
            </a:extLst>
          </p:cNvPr>
          <p:cNvSpPr>
            <a:spLocks noGrp="1"/>
          </p:cNvSpPr>
          <p:nvPr/>
        </p:nvSpPr>
        <p:spPr>
          <a:xfrm>
            <a:off x="6896100" y="3486150"/>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8</a:t>
            </a:r>
          </a:p>
        </p:txBody>
      </p:sp>
      <p:sp>
        <p:nvSpPr>
          <p:cNvPr id="26" name="shape-25">
            <a:extLst>
              <a:ext uri="{FF2B5EF4-FFF2-40B4-BE49-F238E27FC236}">
                <a16:creationId xmlns:a16="http://schemas.microsoft.com/office/drawing/2014/main" id="{007DBAF4-C219-4524-B501-2D1B927B5C82}"/>
              </a:ext>
            </a:extLst>
          </p:cNvPr>
          <p:cNvSpPr>
            <a:spLocks noGrp="1"/>
          </p:cNvSpPr>
          <p:nvPr/>
        </p:nvSpPr>
        <p:spPr>
          <a:xfrm>
            <a:off x="609600" y="3838575"/>
            <a:ext cx="7905750" cy="9525"/>
          </a:xfrm>
          <a:prstGeom prst="rect">
            <a:avLst/>
          </a:prstGeom>
          <a:solidFill>
            <a:srgbClr val="CDD3D2"/>
          </a:solidFill>
        </p:spPr>
      </p:sp>
      <p:sp>
        <p:nvSpPr>
          <p:cNvPr id="27" name="text-26">
            <a:extLst>
              <a:ext uri="{FF2B5EF4-FFF2-40B4-BE49-F238E27FC236}">
                <a16:creationId xmlns:a16="http://schemas.microsoft.com/office/drawing/2014/main" id="{7E3681A4-3441-4FF8-84EB-41F1FD2550B5}"/>
              </a:ext>
            </a:extLst>
          </p:cNvPr>
          <p:cNvSpPr>
            <a:spLocks noGrp="1"/>
          </p:cNvSpPr>
          <p:nvPr/>
        </p:nvSpPr>
        <p:spPr>
          <a:xfrm>
            <a:off x="723900" y="3952875"/>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Sprint planning</a:t>
            </a:r>
          </a:p>
        </p:txBody>
      </p:sp>
      <p:sp>
        <p:nvSpPr>
          <p:cNvPr id="28" name="text-27">
            <a:extLst>
              <a:ext uri="{FF2B5EF4-FFF2-40B4-BE49-F238E27FC236}">
                <a16:creationId xmlns:a16="http://schemas.microsoft.com/office/drawing/2014/main" id="{E0F1858B-E487-4A06-9611-946DF258174A}"/>
              </a:ext>
            </a:extLst>
          </p:cNvPr>
          <p:cNvSpPr>
            <a:spLocks noGrp="1"/>
          </p:cNvSpPr>
          <p:nvPr/>
        </p:nvSpPr>
        <p:spPr>
          <a:xfrm>
            <a:off x="4124325" y="3952875"/>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6</a:t>
            </a:r>
          </a:p>
        </p:txBody>
      </p:sp>
      <p:sp>
        <p:nvSpPr>
          <p:cNvPr id="29" name="text-28">
            <a:extLst>
              <a:ext uri="{FF2B5EF4-FFF2-40B4-BE49-F238E27FC236}">
                <a16:creationId xmlns:a16="http://schemas.microsoft.com/office/drawing/2014/main" id="{97CB4C1A-652D-4520-89A0-3165A006D968}"/>
              </a:ext>
            </a:extLst>
          </p:cNvPr>
          <p:cNvSpPr>
            <a:spLocks noGrp="1"/>
          </p:cNvSpPr>
          <p:nvPr/>
        </p:nvSpPr>
        <p:spPr>
          <a:xfrm>
            <a:off x="5324475" y="3952875"/>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5</a:t>
            </a:r>
          </a:p>
        </p:txBody>
      </p:sp>
      <p:sp>
        <p:nvSpPr>
          <p:cNvPr id="30" name="text-29">
            <a:extLst>
              <a:ext uri="{FF2B5EF4-FFF2-40B4-BE49-F238E27FC236}">
                <a16:creationId xmlns:a16="http://schemas.microsoft.com/office/drawing/2014/main" id="{46512046-CD35-4628-B90E-E6217A8D2047}"/>
              </a:ext>
            </a:extLst>
          </p:cNvPr>
          <p:cNvSpPr>
            <a:spLocks noGrp="1"/>
          </p:cNvSpPr>
          <p:nvPr/>
        </p:nvSpPr>
        <p:spPr>
          <a:xfrm>
            <a:off x="6896100" y="3952875"/>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5</a:t>
            </a:r>
          </a:p>
        </p:txBody>
      </p:sp>
      <p:sp>
        <p:nvSpPr>
          <p:cNvPr id="31" name="shape-30">
            <a:extLst>
              <a:ext uri="{FF2B5EF4-FFF2-40B4-BE49-F238E27FC236}">
                <a16:creationId xmlns:a16="http://schemas.microsoft.com/office/drawing/2014/main" id="{2CE042F8-D53F-4FF6-B2FB-D7CE25AF7B5D}"/>
              </a:ext>
            </a:extLst>
          </p:cNvPr>
          <p:cNvSpPr>
            <a:spLocks noGrp="1"/>
          </p:cNvSpPr>
          <p:nvPr/>
        </p:nvSpPr>
        <p:spPr>
          <a:xfrm>
            <a:off x="609600" y="4305300"/>
            <a:ext cx="7905750" cy="9525"/>
          </a:xfrm>
          <a:prstGeom prst="rect">
            <a:avLst/>
          </a:prstGeom>
          <a:solidFill>
            <a:srgbClr val="CDD3D2"/>
          </a:solidFill>
        </p:spPr>
      </p:sp>
      <p:sp>
        <p:nvSpPr>
          <p:cNvPr id="32" name="text-31">
            <a:extLst>
              <a:ext uri="{FF2B5EF4-FFF2-40B4-BE49-F238E27FC236}">
                <a16:creationId xmlns:a16="http://schemas.microsoft.com/office/drawing/2014/main" id="{9BA696A1-44A2-4147-AC22-A02A93A1AF95}"/>
              </a:ext>
            </a:extLst>
          </p:cNvPr>
          <p:cNvSpPr>
            <a:spLocks noGrp="1"/>
          </p:cNvSpPr>
          <p:nvPr/>
        </p:nvSpPr>
        <p:spPr>
          <a:xfrm>
            <a:off x="723900" y="4419600"/>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Build / test / evaluation</a:t>
            </a:r>
          </a:p>
        </p:txBody>
      </p:sp>
      <p:sp>
        <p:nvSpPr>
          <p:cNvPr id="33" name="text-32">
            <a:extLst>
              <a:ext uri="{FF2B5EF4-FFF2-40B4-BE49-F238E27FC236}">
                <a16:creationId xmlns:a16="http://schemas.microsoft.com/office/drawing/2014/main" id="{E2B460E1-C16D-43F9-86AD-6B24F502371A}"/>
              </a:ext>
            </a:extLst>
          </p:cNvPr>
          <p:cNvSpPr>
            <a:spLocks noGrp="1"/>
          </p:cNvSpPr>
          <p:nvPr/>
        </p:nvSpPr>
        <p:spPr>
          <a:xfrm>
            <a:off x="4124325" y="4419600"/>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30</a:t>
            </a:r>
          </a:p>
        </p:txBody>
      </p:sp>
      <p:sp>
        <p:nvSpPr>
          <p:cNvPr id="34" name="text-33">
            <a:extLst>
              <a:ext uri="{FF2B5EF4-FFF2-40B4-BE49-F238E27FC236}">
                <a16:creationId xmlns:a16="http://schemas.microsoft.com/office/drawing/2014/main" id="{46A83066-01DD-4650-B17C-59F868BE59BA}"/>
              </a:ext>
            </a:extLst>
          </p:cNvPr>
          <p:cNvSpPr>
            <a:spLocks noGrp="1"/>
          </p:cNvSpPr>
          <p:nvPr/>
        </p:nvSpPr>
        <p:spPr>
          <a:xfrm>
            <a:off x="5324475" y="4419600"/>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36</a:t>
            </a:r>
          </a:p>
        </p:txBody>
      </p:sp>
      <p:sp>
        <p:nvSpPr>
          <p:cNvPr id="35" name="text-34">
            <a:extLst>
              <a:ext uri="{FF2B5EF4-FFF2-40B4-BE49-F238E27FC236}">
                <a16:creationId xmlns:a16="http://schemas.microsoft.com/office/drawing/2014/main" id="{FF40A5B9-3BAC-44BE-B534-4E008BFF09AA}"/>
              </a:ext>
            </a:extLst>
          </p:cNvPr>
          <p:cNvSpPr>
            <a:spLocks noGrp="1"/>
          </p:cNvSpPr>
          <p:nvPr/>
        </p:nvSpPr>
        <p:spPr>
          <a:xfrm>
            <a:off x="6896100" y="4419600"/>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58</a:t>
            </a:r>
          </a:p>
        </p:txBody>
      </p:sp>
      <p:sp>
        <p:nvSpPr>
          <p:cNvPr id="36" name="shape-35">
            <a:extLst>
              <a:ext uri="{FF2B5EF4-FFF2-40B4-BE49-F238E27FC236}">
                <a16:creationId xmlns:a16="http://schemas.microsoft.com/office/drawing/2014/main" id="{B53A0DB7-7900-4286-9EAA-BAF60EC4C728}"/>
              </a:ext>
            </a:extLst>
          </p:cNvPr>
          <p:cNvSpPr>
            <a:spLocks noGrp="1"/>
          </p:cNvSpPr>
          <p:nvPr/>
        </p:nvSpPr>
        <p:spPr>
          <a:xfrm>
            <a:off x="609600" y="4772025"/>
            <a:ext cx="7905750" cy="9525"/>
          </a:xfrm>
          <a:prstGeom prst="rect">
            <a:avLst/>
          </a:prstGeom>
          <a:solidFill>
            <a:srgbClr val="CDD3D2"/>
          </a:solidFill>
        </p:spPr>
      </p:sp>
      <p:sp>
        <p:nvSpPr>
          <p:cNvPr id="37" name="text-36">
            <a:extLst>
              <a:ext uri="{FF2B5EF4-FFF2-40B4-BE49-F238E27FC236}">
                <a16:creationId xmlns:a16="http://schemas.microsoft.com/office/drawing/2014/main" id="{DF6B0BF0-616F-47DD-8D85-33E608762D11}"/>
              </a:ext>
            </a:extLst>
          </p:cNvPr>
          <p:cNvSpPr>
            <a:spLocks noGrp="1"/>
          </p:cNvSpPr>
          <p:nvPr/>
        </p:nvSpPr>
        <p:spPr>
          <a:xfrm>
            <a:off x="723900" y="4886325"/>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Report / video / packaging</a:t>
            </a:r>
          </a:p>
        </p:txBody>
      </p:sp>
      <p:sp>
        <p:nvSpPr>
          <p:cNvPr id="38" name="text-37">
            <a:extLst>
              <a:ext uri="{FF2B5EF4-FFF2-40B4-BE49-F238E27FC236}">
                <a16:creationId xmlns:a16="http://schemas.microsoft.com/office/drawing/2014/main" id="{D566E271-36C2-4275-BA8B-1F0BF6A7A63D}"/>
              </a:ext>
            </a:extLst>
          </p:cNvPr>
          <p:cNvSpPr>
            <a:spLocks noGrp="1"/>
          </p:cNvSpPr>
          <p:nvPr/>
        </p:nvSpPr>
        <p:spPr>
          <a:xfrm>
            <a:off x="4124325" y="4886325"/>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14</a:t>
            </a:r>
          </a:p>
        </p:txBody>
      </p:sp>
      <p:sp>
        <p:nvSpPr>
          <p:cNvPr id="39" name="text-38">
            <a:extLst>
              <a:ext uri="{FF2B5EF4-FFF2-40B4-BE49-F238E27FC236}">
                <a16:creationId xmlns:a16="http://schemas.microsoft.com/office/drawing/2014/main" id="{A4C083FB-69E9-4D46-A732-C547885BFFBB}"/>
              </a:ext>
            </a:extLst>
          </p:cNvPr>
          <p:cNvSpPr>
            <a:spLocks noGrp="1"/>
          </p:cNvSpPr>
          <p:nvPr/>
        </p:nvSpPr>
        <p:spPr>
          <a:xfrm>
            <a:off x="5324475" y="4886325"/>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13</a:t>
            </a:r>
          </a:p>
        </p:txBody>
      </p:sp>
      <p:sp>
        <p:nvSpPr>
          <p:cNvPr id="40" name="text-39">
            <a:extLst>
              <a:ext uri="{FF2B5EF4-FFF2-40B4-BE49-F238E27FC236}">
                <a16:creationId xmlns:a16="http://schemas.microsoft.com/office/drawing/2014/main" id="{5E69EDCA-6280-447D-86AD-8F14ADC6AF07}"/>
              </a:ext>
            </a:extLst>
          </p:cNvPr>
          <p:cNvSpPr>
            <a:spLocks noGrp="1"/>
          </p:cNvSpPr>
          <p:nvPr/>
        </p:nvSpPr>
        <p:spPr>
          <a:xfrm>
            <a:off x="6896100" y="4886325"/>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11</a:t>
            </a:r>
          </a:p>
        </p:txBody>
      </p:sp>
      <p:sp>
        <p:nvSpPr>
          <p:cNvPr id="41" name="shape-40">
            <a:extLst>
              <a:ext uri="{FF2B5EF4-FFF2-40B4-BE49-F238E27FC236}">
                <a16:creationId xmlns:a16="http://schemas.microsoft.com/office/drawing/2014/main" id="{B94CDC85-0492-4090-940E-4CCDC1A288CA}"/>
              </a:ext>
            </a:extLst>
          </p:cNvPr>
          <p:cNvSpPr>
            <a:spLocks noGrp="1"/>
          </p:cNvSpPr>
          <p:nvPr/>
        </p:nvSpPr>
        <p:spPr>
          <a:xfrm>
            <a:off x="609600" y="5238750"/>
            <a:ext cx="7905750" cy="9525"/>
          </a:xfrm>
          <a:prstGeom prst="rect">
            <a:avLst/>
          </a:prstGeom>
          <a:solidFill>
            <a:srgbClr val="CDD3D2"/>
          </a:solidFill>
        </p:spPr>
      </p:sp>
      <p:sp>
        <p:nvSpPr>
          <p:cNvPr id="42" name="text-41">
            <a:extLst>
              <a:ext uri="{FF2B5EF4-FFF2-40B4-BE49-F238E27FC236}">
                <a16:creationId xmlns:a16="http://schemas.microsoft.com/office/drawing/2014/main" id="{D97B2F06-03D6-4143-BB16-DB4505F920A9}"/>
              </a:ext>
            </a:extLst>
          </p:cNvPr>
          <p:cNvSpPr>
            <a:spLocks noGrp="1"/>
          </p:cNvSpPr>
          <p:nvPr/>
        </p:nvSpPr>
        <p:spPr>
          <a:xfrm>
            <a:off x="723900" y="5353050"/>
            <a:ext cx="3171825" cy="314325"/>
          </a:xfrm>
          <a:prstGeom prst="rect">
            <a:avLst/>
          </a:prstGeom>
        </p:spPr>
        <p:txBody>
          <a:bodyPr wrap="square" lIns="0" tIns="0" rIns="0" bIns="0" anchor="t"/>
          <a:lstStyle/>
          <a:p>
            <a:pPr>
              <a:defRPr sz="1500" b="1">
                <a:solidFill>
                  <a:srgbClr val="173047"/>
                </a:solidFill>
                <a:latin typeface="Arial"/>
                <a:ea typeface="Arial"/>
                <a:cs typeface="Arial"/>
              </a:defRPr>
            </a:pPr>
            <a:r>
              <a:t>TOTAL</a:t>
            </a:r>
          </a:p>
        </p:txBody>
      </p:sp>
      <p:sp>
        <p:nvSpPr>
          <p:cNvPr id="43" name="text-42">
            <a:extLst>
              <a:ext uri="{FF2B5EF4-FFF2-40B4-BE49-F238E27FC236}">
                <a16:creationId xmlns:a16="http://schemas.microsoft.com/office/drawing/2014/main" id="{118B1F4F-939D-4035-A768-6C199F13A092}"/>
              </a:ext>
            </a:extLst>
          </p:cNvPr>
          <p:cNvSpPr>
            <a:spLocks noGrp="1"/>
          </p:cNvSpPr>
          <p:nvPr/>
        </p:nvSpPr>
        <p:spPr>
          <a:xfrm>
            <a:off x="4124325" y="5353050"/>
            <a:ext cx="971550" cy="314325"/>
          </a:xfrm>
          <a:prstGeom prst="rect">
            <a:avLst/>
          </a:prstGeom>
        </p:spPr>
        <p:txBody>
          <a:bodyPr wrap="square" lIns="0" tIns="0" rIns="0" bIns="0" anchor="t"/>
          <a:lstStyle/>
          <a:p>
            <a:pPr>
              <a:defRPr sz="1500" b="0">
                <a:solidFill>
                  <a:srgbClr val="546573"/>
                </a:solidFill>
                <a:latin typeface="Arial"/>
                <a:ea typeface="Arial"/>
                <a:cs typeface="Arial"/>
              </a:defRPr>
            </a:pPr>
            <a:r>
              <a:t>80</a:t>
            </a:r>
          </a:p>
        </p:txBody>
      </p:sp>
      <p:sp>
        <p:nvSpPr>
          <p:cNvPr id="44" name="text-43">
            <a:extLst>
              <a:ext uri="{FF2B5EF4-FFF2-40B4-BE49-F238E27FC236}">
                <a16:creationId xmlns:a16="http://schemas.microsoft.com/office/drawing/2014/main" id="{08510060-F4D1-4689-AA6C-7941C185E0A5}"/>
              </a:ext>
            </a:extLst>
          </p:cNvPr>
          <p:cNvSpPr>
            <a:spLocks noGrp="1"/>
          </p:cNvSpPr>
          <p:nvPr/>
        </p:nvSpPr>
        <p:spPr>
          <a:xfrm>
            <a:off x="5324475" y="5353050"/>
            <a:ext cx="1343025" cy="314325"/>
          </a:xfrm>
          <a:prstGeom prst="rect">
            <a:avLst/>
          </a:prstGeom>
        </p:spPr>
        <p:txBody>
          <a:bodyPr wrap="square" lIns="0" tIns="0" rIns="0" bIns="0" anchor="t"/>
          <a:lstStyle/>
          <a:p>
            <a:pPr>
              <a:defRPr sz="1500" b="0">
                <a:solidFill>
                  <a:srgbClr val="546573"/>
                </a:solidFill>
                <a:latin typeface="Arial"/>
                <a:ea typeface="Arial"/>
                <a:cs typeface="Arial"/>
              </a:defRPr>
            </a:pPr>
            <a:r>
              <a:t>84</a:t>
            </a:r>
          </a:p>
        </p:txBody>
      </p:sp>
      <p:sp>
        <p:nvSpPr>
          <p:cNvPr id="45" name="text-44">
            <a:extLst>
              <a:ext uri="{FF2B5EF4-FFF2-40B4-BE49-F238E27FC236}">
                <a16:creationId xmlns:a16="http://schemas.microsoft.com/office/drawing/2014/main" id="{3602C5BF-DC41-4E44-93A7-5330C3EA2E6B}"/>
              </a:ext>
            </a:extLst>
          </p:cNvPr>
          <p:cNvSpPr>
            <a:spLocks noGrp="1"/>
          </p:cNvSpPr>
          <p:nvPr/>
        </p:nvSpPr>
        <p:spPr>
          <a:xfrm>
            <a:off x="6896100" y="5353050"/>
            <a:ext cx="1504950" cy="314325"/>
          </a:xfrm>
          <a:prstGeom prst="rect">
            <a:avLst/>
          </a:prstGeom>
        </p:spPr>
        <p:txBody>
          <a:bodyPr wrap="square" lIns="0" tIns="0" rIns="0" bIns="0" anchor="t"/>
          <a:lstStyle/>
          <a:p>
            <a:pPr>
              <a:defRPr sz="1500" b="0">
                <a:solidFill>
                  <a:srgbClr val="546573"/>
                </a:solidFill>
                <a:latin typeface="Arial"/>
                <a:ea typeface="Arial"/>
                <a:cs typeface="Arial"/>
              </a:defRPr>
            </a:pPr>
            <a:r>
              <a:t>105</a:t>
            </a:r>
          </a:p>
        </p:txBody>
      </p:sp>
      <p:sp>
        <p:nvSpPr>
          <p:cNvPr id="46" name="shape-45">
            <a:extLst>
              <a:ext uri="{FF2B5EF4-FFF2-40B4-BE49-F238E27FC236}">
                <a16:creationId xmlns:a16="http://schemas.microsoft.com/office/drawing/2014/main" id="{A2ED2C5A-DA8E-4EF5-B3B5-E7D08394E8DC}"/>
              </a:ext>
            </a:extLst>
          </p:cNvPr>
          <p:cNvSpPr>
            <a:spLocks noGrp="1"/>
          </p:cNvSpPr>
          <p:nvPr/>
        </p:nvSpPr>
        <p:spPr>
          <a:xfrm>
            <a:off x="609600" y="5705475"/>
            <a:ext cx="7905750" cy="9525"/>
          </a:xfrm>
          <a:prstGeom prst="rect">
            <a:avLst/>
          </a:prstGeom>
          <a:solidFill>
            <a:srgbClr val="CDD3D2"/>
          </a:solidFill>
        </p:spPr>
      </p:sp>
      <p:sp>
        <p:nvSpPr>
          <p:cNvPr id="47" name="text-46">
            <a:extLst>
              <a:ext uri="{FF2B5EF4-FFF2-40B4-BE49-F238E27FC236}">
                <a16:creationId xmlns:a16="http://schemas.microsoft.com/office/drawing/2014/main" id="{C6E09CD6-1DAB-4E4E-8A94-1CAEF56F86E7}"/>
              </a:ext>
            </a:extLst>
          </p:cNvPr>
          <p:cNvSpPr>
            <a:spLocks noGrp="1"/>
          </p:cNvSpPr>
          <p:nvPr/>
        </p:nvSpPr>
        <p:spPr>
          <a:xfrm>
            <a:off x="9020175" y="2419350"/>
            <a:ext cx="2667000" cy="809625"/>
          </a:xfrm>
          <a:prstGeom prst="rect">
            <a:avLst/>
          </a:prstGeom>
        </p:spPr>
        <p:txBody>
          <a:bodyPr wrap="square" lIns="0" tIns="0" rIns="0" bIns="0" anchor="t"/>
          <a:lstStyle/>
          <a:p>
            <a:pPr>
              <a:defRPr sz="4875" b="0">
                <a:solidFill>
                  <a:srgbClr val="B87522"/>
                </a:solidFill>
                <a:latin typeface="Georgia"/>
                <a:ea typeface="Georgia"/>
                <a:cs typeface="Georgia"/>
              </a:defRPr>
            </a:pPr>
            <a:r>
              <a:t>21 h</a:t>
            </a:r>
          </a:p>
        </p:txBody>
      </p:sp>
      <p:sp>
        <p:nvSpPr>
          <p:cNvPr id="48" name="text-47">
            <a:extLst>
              <a:ext uri="{FF2B5EF4-FFF2-40B4-BE49-F238E27FC236}">
                <a16:creationId xmlns:a16="http://schemas.microsoft.com/office/drawing/2014/main" id="{629988BC-D9B6-47FC-8075-A609E4A33B0D}"/>
              </a:ext>
            </a:extLst>
          </p:cNvPr>
          <p:cNvSpPr>
            <a:spLocks noGrp="1"/>
          </p:cNvSpPr>
          <p:nvPr/>
        </p:nvSpPr>
        <p:spPr>
          <a:xfrm>
            <a:off x="9020175" y="3343275"/>
            <a:ext cx="2571750" cy="942975"/>
          </a:xfrm>
          <a:prstGeom prst="rect">
            <a:avLst/>
          </a:prstGeom>
        </p:spPr>
        <p:txBody>
          <a:bodyPr wrap="square" lIns="0" tIns="0" rIns="0" bIns="0" anchor="t"/>
          <a:lstStyle/>
          <a:p>
            <a:pPr>
              <a:defRPr sz="1875" b="0">
                <a:solidFill>
                  <a:srgbClr val="173047"/>
                </a:solidFill>
                <a:latin typeface="Arial"/>
                <a:ea typeface="Arial"/>
                <a:cs typeface="Arial"/>
              </a:defRPr>
            </a:pPr>
            <a:r>
              <a:t>summary-to-daily</a:t>
            </a:r>
          </a:p>
          <a:p>
            <a:pPr>
              <a:defRPr sz="1875" b="0">
                <a:solidFill>
                  <a:srgbClr val="173047"/>
                </a:solidFill>
                <a:latin typeface="Arial"/>
                <a:ea typeface="Arial"/>
                <a:cs typeface="Arial"/>
              </a:defRPr>
            </a:pPr>
            <a:r>
              <a:t>reconciliation gap</a:t>
            </a:r>
          </a:p>
        </p:txBody>
      </p:sp>
      <p:sp>
        <p:nvSpPr>
          <p:cNvPr id="49" name="text-48">
            <a:extLst>
              <a:ext uri="{FF2B5EF4-FFF2-40B4-BE49-F238E27FC236}">
                <a16:creationId xmlns:a16="http://schemas.microsoft.com/office/drawing/2014/main" id="{2243A592-C52A-4F25-BB8B-922F84C6ED75}"/>
              </a:ext>
            </a:extLst>
          </p:cNvPr>
          <p:cNvSpPr>
            <a:spLocks noGrp="1"/>
          </p:cNvSpPr>
          <p:nvPr/>
        </p:nvSpPr>
        <p:spPr>
          <a:xfrm>
            <a:off x="9020175" y="4800600"/>
            <a:ext cx="2571750" cy="1047750"/>
          </a:xfrm>
          <a:prstGeom prst="rect">
            <a:avLst/>
          </a:prstGeom>
        </p:spPr>
        <p:txBody>
          <a:bodyPr wrap="square" lIns="0" tIns="0" rIns="0" bIns="0" anchor="t"/>
          <a:lstStyle/>
          <a:p>
            <a:pPr>
              <a:defRPr sz="1650" b="0">
                <a:solidFill>
                  <a:srgbClr val="546573"/>
                </a:solidFill>
                <a:latin typeface="Arial"/>
                <a:ea typeface="Arial"/>
                <a:cs typeface="Arial"/>
              </a:defRPr>
            </a:pPr>
            <a:r>
              <a:t>84 h is declared.</a:t>
            </a:r>
          </a:p>
          <a:p>
            <a:pPr>
              <a:defRPr sz="1650" b="0">
                <a:solidFill>
                  <a:srgbClr val="546573"/>
                </a:solidFill>
                <a:latin typeface="Arial"/>
                <a:ea typeface="Arial"/>
                <a:cs typeface="Arial"/>
              </a:defRPr>
            </a:pPr>
            <a:r>
              <a:t>105 h is the row sum.</a:t>
            </a:r>
          </a:p>
          <a:p>
            <a:pPr>
              <a:defRPr sz="1650" b="0">
                <a:solidFill>
                  <a:srgbClr val="546573"/>
                </a:solidFill>
                <a:latin typeface="Arial"/>
                <a:ea typeface="Arial"/>
                <a:cs typeface="Arial"/>
              </a:defRPr>
            </a:pPr>
            <a:r>
              <a:t>Neither is reconciled.</a:t>
            </a:r>
          </a:p>
        </p:txBody>
      </p:sp>
    </p:spTree>
    <p:extLst>
      <p:ext uri="{BB962C8B-B14F-4D97-AF65-F5344CB8AC3E}">
        <p14:creationId xmlns:p14="http://schemas.microsoft.com/office/powerpoint/2010/main" val="12768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047"/>
        </a:solidFill>
        <a:effectLst/>
      </p:bgPr>
    </p:bg>
    <p:spTree>
      <p:nvGrpSpPr>
        <p:cNvPr id="1" name=""/>
        <p:cNvGrpSpPr/>
        <p:nvPr/>
      </p:nvGrpSpPr>
      <p:grpSpPr>
        <a:xfrm>
          <a:off x="0" y="0"/>
          <a:ext cx="0" cy="0"/>
          <a:chOff x="0" y="0"/>
          <a:chExt cx="0" cy="0"/>
        </a:xfrm>
      </p:grpSpPr>
      <p:sp>
        <p:nvSpPr>
          <p:cNvPr id="15" name="kicker-marker">
            <a:extLst>
              <a:ext uri="{FF2B5EF4-FFF2-40B4-BE49-F238E27FC236}">
                <a16:creationId xmlns:a16="http://schemas.microsoft.com/office/drawing/2014/main" id="{97B24172-55A1-4DD8-B933-ECD91BD6328C}"/>
              </a:ext>
            </a:extLst>
          </p:cNvPr>
          <p:cNvSpPr>
            <a:spLocks noGrp="1"/>
          </p:cNvSpPr>
          <p:nvPr/>
        </p:nvSpPr>
        <p:spPr>
          <a:xfrm>
            <a:off x="609600" y="419100"/>
            <a:ext cx="76200" cy="76200"/>
          </a:xfrm>
          <a:prstGeom prst="rect">
            <a:avLst/>
          </a:prstGeom>
          <a:solidFill>
            <a:srgbClr val="D7E6E4"/>
          </a:solidFill>
        </p:spPr>
      </p:sp>
      <p:sp>
        <p:nvSpPr>
          <p:cNvPr id="2" name="kicker-label">
            <a:extLst>
              <a:ext uri="{FF2B5EF4-FFF2-40B4-BE49-F238E27FC236}">
                <a16:creationId xmlns:a16="http://schemas.microsoft.com/office/drawing/2014/main" id="{0E3E9046-0EF7-4969-AC10-769A36AD0304}"/>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D7E6E4"/>
                </a:solidFill>
                <a:latin typeface="Arial"/>
                <a:ea typeface="Arial"/>
                <a:cs typeface="Arial"/>
              </a:defRPr>
            </a:pPr>
            <a:r>
              <a:t>DELIVERY &amp; NEXT STEPS</a:t>
            </a:r>
          </a:p>
        </p:txBody>
      </p:sp>
      <p:sp>
        <p:nvSpPr>
          <p:cNvPr id="3" name="text-2">
            <a:extLst>
              <a:ext uri="{FF2B5EF4-FFF2-40B4-BE49-F238E27FC236}">
                <a16:creationId xmlns:a16="http://schemas.microsoft.com/office/drawing/2014/main" id="{46F199B0-F9FF-4D45-A3B8-B5579ACF2542}"/>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FFFFFF"/>
                </a:solidFill>
                <a:latin typeface="Georgia"/>
                <a:ea typeface="Georgia"/>
                <a:cs typeface="Georgia"/>
              </a:defRPr>
            </a:pPr>
            <a:r>
              <a:t>The workflow is built.</a:t>
            </a:r>
          </a:p>
          <a:p>
            <a:pPr>
              <a:defRPr sz="3150" b="0">
                <a:solidFill>
                  <a:srgbClr val="FFFFFF"/>
                </a:solidFill>
                <a:latin typeface="Georgia"/>
                <a:ea typeface="Georgia"/>
                <a:cs typeface="Georgia"/>
              </a:defRPr>
            </a:pPr>
            <a:r>
              <a:t>The next milestone is credible resolution.</a:t>
            </a:r>
          </a:p>
        </p:txBody>
      </p:sp>
      <p:sp>
        <p:nvSpPr>
          <p:cNvPr id="4" name="shape-3">
            <a:extLst>
              <a:ext uri="{FF2B5EF4-FFF2-40B4-BE49-F238E27FC236}">
                <a16:creationId xmlns:a16="http://schemas.microsoft.com/office/drawing/2014/main" id="{B53DCA77-B1E5-4592-B0FE-9717E13D20A3}"/>
              </a:ext>
            </a:extLst>
          </p:cNvPr>
          <p:cNvSpPr>
            <a:spLocks noGrp="1"/>
          </p:cNvSpPr>
          <p:nvPr/>
        </p:nvSpPr>
        <p:spPr>
          <a:xfrm>
            <a:off x="609600" y="6305550"/>
            <a:ext cx="10972800" cy="9525"/>
          </a:xfrm>
          <a:prstGeom prst="rect">
            <a:avLst/>
          </a:prstGeom>
          <a:solidFill>
            <a:srgbClr val="406071"/>
          </a:solidFill>
        </p:spPr>
      </p:sp>
      <p:sp>
        <p:nvSpPr>
          <p:cNvPr id="5" name="text-4">
            <a:extLst>
              <a:ext uri="{FF2B5EF4-FFF2-40B4-BE49-F238E27FC236}">
                <a16:creationId xmlns:a16="http://schemas.microsoft.com/office/drawing/2014/main" id="{409EBE6E-B3A0-4C55-8B37-B7A9920E238D}"/>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D7E6E4"/>
                </a:solidFill>
                <a:latin typeface="Arial"/>
                <a:ea typeface="Arial"/>
                <a:cs typeface="Arial"/>
              </a:defRPr>
            </a:pPr>
            <a:r>
              <a:t>Implemented repository and saved evaluation; proposed priorities, not completed production work</a:t>
            </a:r>
          </a:p>
        </p:txBody>
      </p:sp>
      <p:sp>
        <p:nvSpPr>
          <p:cNvPr id="6" name="text-5">
            <a:extLst>
              <a:ext uri="{FF2B5EF4-FFF2-40B4-BE49-F238E27FC236}">
                <a16:creationId xmlns:a16="http://schemas.microsoft.com/office/drawing/2014/main" id="{F46A6F18-DF6A-4AA4-A33B-6A013C14BAFD}"/>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FFFFFF"/>
                </a:solidFill>
                <a:latin typeface="Arial"/>
                <a:ea typeface="Arial"/>
                <a:cs typeface="Arial"/>
              </a:defRPr>
            </a:pPr>
            <a:r>
              <a:t>26</a:t>
            </a:r>
          </a:p>
        </p:txBody>
      </p:sp>
      <p:sp>
        <p:nvSpPr>
          <p:cNvPr id="7" name="text-6">
            <a:extLst>
              <a:ext uri="{FF2B5EF4-FFF2-40B4-BE49-F238E27FC236}">
                <a16:creationId xmlns:a16="http://schemas.microsoft.com/office/drawing/2014/main" id="{31A5BF83-8B32-4886-B5EE-52BF44428B20}"/>
              </a:ext>
            </a:extLst>
          </p:cNvPr>
          <p:cNvSpPr>
            <a:spLocks noGrp="1"/>
          </p:cNvSpPr>
          <p:nvPr/>
        </p:nvSpPr>
        <p:spPr>
          <a:xfrm>
            <a:off x="609600" y="2352675"/>
            <a:ext cx="2286000" cy="228600"/>
          </a:xfrm>
          <a:prstGeom prst="rect">
            <a:avLst/>
          </a:prstGeom>
        </p:spPr>
        <p:txBody>
          <a:bodyPr wrap="square" lIns="0" tIns="0" rIns="0" bIns="0" anchor="t"/>
          <a:lstStyle/>
          <a:p>
            <a:pPr>
              <a:defRPr sz="975" b="1">
                <a:solidFill>
                  <a:srgbClr val="D7E6E4"/>
                </a:solidFill>
                <a:latin typeface="Arial"/>
                <a:ea typeface="Arial"/>
                <a:cs typeface="Arial"/>
              </a:defRPr>
            </a:pPr>
            <a:r>
              <a:t>BUILT</a:t>
            </a:r>
          </a:p>
        </p:txBody>
      </p:sp>
      <p:sp>
        <p:nvSpPr>
          <p:cNvPr id="8" name="text-7">
            <a:extLst>
              <a:ext uri="{FF2B5EF4-FFF2-40B4-BE49-F238E27FC236}">
                <a16:creationId xmlns:a16="http://schemas.microsoft.com/office/drawing/2014/main" id="{2553DB5D-F648-4C36-95A7-06A799203ED6}"/>
              </a:ext>
            </a:extLst>
          </p:cNvPr>
          <p:cNvSpPr>
            <a:spLocks noGrp="1"/>
          </p:cNvSpPr>
          <p:nvPr/>
        </p:nvSpPr>
        <p:spPr>
          <a:xfrm>
            <a:off x="2933700" y="2305050"/>
            <a:ext cx="8505825" cy="942975"/>
          </a:xfrm>
          <a:prstGeom prst="rect">
            <a:avLst/>
          </a:prstGeom>
        </p:spPr>
        <p:txBody>
          <a:bodyPr wrap="square" lIns="0" tIns="0" rIns="0" bIns="0" anchor="t"/>
          <a:lstStyle/>
          <a:p>
            <a:pPr>
              <a:defRPr sz="2175" b="0">
                <a:solidFill>
                  <a:srgbClr val="FFFFFF"/>
                </a:solidFill>
                <a:latin typeface="Arial"/>
                <a:ea typeface="Arial"/>
                <a:cs typeface="Arial"/>
              </a:defRPr>
            </a:pPr>
            <a:r>
              <a:t>Shared pipeline, cited drafts, handovers, FastAPI, audit and batch evaluation.</a:t>
            </a:r>
          </a:p>
        </p:txBody>
      </p:sp>
      <p:sp>
        <p:nvSpPr>
          <p:cNvPr id="9" name="shape-8">
            <a:extLst>
              <a:ext uri="{FF2B5EF4-FFF2-40B4-BE49-F238E27FC236}">
                <a16:creationId xmlns:a16="http://schemas.microsoft.com/office/drawing/2014/main" id="{A2BF6CE9-3059-40DA-85F8-B688E18AEB39}"/>
              </a:ext>
            </a:extLst>
          </p:cNvPr>
          <p:cNvSpPr>
            <a:spLocks noGrp="1"/>
          </p:cNvSpPr>
          <p:nvPr/>
        </p:nvSpPr>
        <p:spPr>
          <a:xfrm>
            <a:off x="2933700" y="3324225"/>
            <a:ext cx="8505825" cy="9525"/>
          </a:xfrm>
          <a:prstGeom prst="rect">
            <a:avLst/>
          </a:prstGeom>
          <a:solidFill>
            <a:srgbClr val="406071"/>
          </a:solidFill>
        </p:spPr>
      </p:sp>
      <p:sp>
        <p:nvSpPr>
          <p:cNvPr id="10" name="text-9">
            <a:extLst>
              <a:ext uri="{FF2B5EF4-FFF2-40B4-BE49-F238E27FC236}">
                <a16:creationId xmlns:a16="http://schemas.microsoft.com/office/drawing/2014/main" id="{D4124D88-DDB4-469F-90F9-6BAD602425EE}"/>
              </a:ext>
            </a:extLst>
          </p:cNvPr>
          <p:cNvSpPr>
            <a:spLocks noGrp="1"/>
          </p:cNvSpPr>
          <p:nvPr/>
        </p:nvSpPr>
        <p:spPr>
          <a:xfrm>
            <a:off x="609600" y="3524250"/>
            <a:ext cx="2286000" cy="228600"/>
          </a:xfrm>
          <a:prstGeom prst="rect">
            <a:avLst/>
          </a:prstGeom>
        </p:spPr>
        <p:txBody>
          <a:bodyPr wrap="square" lIns="0" tIns="0" rIns="0" bIns="0" anchor="t"/>
          <a:lstStyle/>
          <a:p>
            <a:pPr>
              <a:defRPr sz="975" b="1">
                <a:solidFill>
                  <a:srgbClr val="D7E6E4"/>
                </a:solidFill>
                <a:latin typeface="Arial"/>
                <a:ea typeface="Arial"/>
                <a:cs typeface="Arial"/>
              </a:defRPr>
            </a:pPr>
            <a:r>
              <a:t>DEMONSTRATED</a:t>
            </a:r>
          </a:p>
        </p:txBody>
      </p:sp>
      <p:sp>
        <p:nvSpPr>
          <p:cNvPr id="11" name="text-10">
            <a:extLst>
              <a:ext uri="{FF2B5EF4-FFF2-40B4-BE49-F238E27FC236}">
                <a16:creationId xmlns:a16="http://schemas.microsoft.com/office/drawing/2014/main" id="{86B65FB5-5E41-4C6D-ACB6-15393FEFCBCD}"/>
              </a:ext>
            </a:extLst>
          </p:cNvPr>
          <p:cNvSpPr>
            <a:spLocks noGrp="1"/>
          </p:cNvSpPr>
          <p:nvPr/>
        </p:nvSpPr>
        <p:spPr>
          <a:xfrm>
            <a:off x="2933700" y="3476625"/>
            <a:ext cx="8505825" cy="942975"/>
          </a:xfrm>
          <a:prstGeom prst="rect">
            <a:avLst/>
          </a:prstGeom>
        </p:spPr>
        <p:txBody>
          <a:bodyPr wrap="square" lIns="0" tIns="0" rIns="0" bIns="0" anchor="t"/>
          <a:lstStyle/>
          <a:p>
            <a:pPr>
              <a:defRPr sz="2175" b="0">
                <a:solidFill>
                  <a:srgbClr val="FFFFFF"/>
                </a:solidFill>
                <a:latin typeface="Arial"/>
                <a:ea typeface="Arial"/>
                <a:cs typeface="Arial"/>
              </a:defRPr>
            </a:pPr>
            <a:r>
              <a:t>80 saved inputs; 56 automatic drafts; 24 escalations; exact audit reconciliation.</a:t>
            </a:r>
          </a:p>
        </p:txBody>
      </p:sp>
      <p:sp>
        <p:nvSpPr>
          <p:cNvPr id="12" name="shape-11">
            <a:extLst>
              <a:ext uri="{FF2B5EF4-FFF2-40B4-BE49-F238E27FC236}">
                <a16:creationId xmlns:a16="http://schemas.microsoft.com/office/drawing/2014/main" id="{A8D7650A-F2C0-49AB-854C-83C62DA765F0}"/>
              </a:ext>
            </a:extLst>
          </p:cNvPr>
          <p:cNvSpPr>
            <a:spLocks noGrp="1"/>
          </p:cNvSpPr>
          <p:nvPr/>
        </p:nvSpPr>
        <p:spPr>
          <a:xfrm>
            <a:off x="2933700" y="4495800"/>
            <a:ext cx="8505825" cy="9525"/>
          </a:xfrm>
          <a:prstGeom prst="rect">
            <a:avLst/>
          </a:prstGeom>
          <a:solidFill>
            <a:srgbClr val="406071"/>
          </a:solidFill>
        </p:spPr>
      </p:sp>
      <p:sp>
        <p:nvSpPr>
          <p:cNvPr id="13" name="text-12">
            <a:extLst>
              <a:ext uri="{FF2B5EF4-FFF2-40B4-BE49-F238E27FC236}">
                <a16:creationId xmlns:a16="http://schemas.microsoft.com/office/drawing/2014/main" id="{6A0A9E5A-2904-4AC5-83EC-E7F24D8832AD}"/>
              </a:ext>
            </a:extLst>
          </p:cNvPr>
          <p:cNvSpPr>
            <a:spLocks noGrp="1"/>
          </p:cNvSpPr>
          <p:nvPr/>
        </p:nvSpPr>
        <p:spPr>
          <a:xfrm>
            <a:off x="609600" y="4695825"/>
            <a:ext cx="2286000" cy="228600"/>
          </a:xfrm>
          <a:prstGeom prst="rect">
            <a:avLst/>
          </a:prstGeom>
        </p:spPr>
        <p:txBody>
          <a:bodyPr wrap="square" lIns="0" tIns="0" rIns="0" bIns="0" anchor="t"/>
          <a:lstStyle/>
          <a:p>
            <a:pPr>
              <a:defRPr sz="975" b="1">
                <a:solidFill>
                  <a:srgbClr val="E7BD80"/>
                </a:solidFill>
                <a:latin typeface="Arial"/>
                <a:ea typeface="Arial"/>
                <a:cs typeface="Arial"/>
              </a:defRPr>
            </a:pPr>
            <a:r>
              <a:t>NEXT</a:t>
            </a:r>
          </a:p>
        </p:txBody>
      </p:sp>
      <p:sp>
        <p:nvSpPr>
          <p:cNvPr id="14" name="text-13">
            <a:extLst>
              <a:ext uri="{FF2B5EF4-FFF2-40B4-BE49-F238E27FC236}">
                <a16:creationId xmlns:a16="http://schemas.microsoft.com/office/drawing/2014/main" id="{262A711F-0843-4234-9DF5-20669F012C1C}"/>
              </a:ext>
            </a:extLst>
          </p:cNvPr>
          <p:cNvSpPr>
            <a:spLocks noGrp="1"/>
          </p:cNvSpPr>
          <p:nvPr/>
        </p:nvSpPr>
        <p:spPr>
          <a:xfrm>
            <a:off x="2933700" y="4648200"/>
            <a:ext cx="8505825" cy="942975"/>
          </a:xfrm>
          <a:prstGeom prst="rect">
            <a:avLst/>
          </a:prstGeom>
        </p:spPr>
        <p:txBody>
          <a:bodyPr wrap="square" lIns="0" tIns="0" rIns="0" bIns="0" anchor="t"/>
          <a:lstStyle/>
          <a:p>
            <a:pPr>
              <a:defRPr sz="2175" b="0">
                <a:solidFill>
                  <a:srgbClr val="FFFFFF"/>
                </a:solidFill>
                <a:latin typeface="Arial"/>
                <a:ea typeface="Arial"/>
                <a:cs typeface="Arial"/>
              </a:defRPr>
            </a:pPr>
            <a:r>
              <a:t>Review routing and urgency → calibrate confidence → measure semantic quality and customer closure.</a:t>
            </a:r>
          </a:p>
        </p:txBody>
      </p:sp>
    </p:spTree>
    <p:extLst>
      <p:ext uri="{BB962C8B-B14F-4D97-AF65-F5344CB8AC3E}">
        <p14:creationId xmlns:p14="http://schemas.microsoft.com/office/powerpoint/2010/main" val="1828850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1" name="kicker-marker">
            <a:extLst>
              <a:ext uri="{FF2B5EF4-FFF2-40B4-BE49-F238E27FC236}">
                <a16:creationId xmlns:a16="http://schemas.microsoft.com/office/drawing/2014/main" id="{3C287D3C-F1C3-427F-ABEC-4380747AF20E}"/>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50144F00-3934-4C26-B906-D226FFB74B9C}"/>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APPENDIX · TRACEABILITY</a:t>
            </a:r>
          </a:p>
        </p:txBody>
      </p:sp>
      <p:sp>
        <p:nvSpPr>
          <p:cNvPr id="3" name="text-2">
            <a:extLst>
              <a:ext uri="{FF2B5EF4-FFF2-40B4-BE49-F238E27FC236}">
                <a16:creationId xmlns:a16="http://schemas.microsoft.com/office/drawing/2014/main" id="{808ADA5C-0BCA-40EC-A331-B82260A8835E}"/>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Each functional requirement</a:t>
            </a:r>
          </a:p>
          <a:p>
            <a:pPr>
              <a:defRPr sz="3150" b="0">
                <a:solidFill>
                  <a:srgbClr val="173047"/>
                </a:solidFill>
                <a:latin typeface="Georgia"/>
                <a:ea typeface="Georgia"/>
                <a:cs typeface="Georgia"/>
              </a:defRPr>
            </a:pPr>
            <a:r>
              <a:t>has an implementation surface</a:t>
            </a:r>
          </a:p>
        </p:txBody>
      </p:sp>
      <p:sp>
        <p:nvSpPr>
          <p:cNvPr id="4" name="shape-3">
            <a:extLst>
              <a:ext uri="{FF2B5EF4-FFF2-40B4-BE49-F238E27FC236}">
                <a16:creationId xmlns:a16="http://schemas.microsoft.com/office/drawing/2014/main" id="{1FB405A9-3C8F-4494-BD4D-25366C430C9F}"/>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63BB0953-F33B-43AF-9042-9B04C10655FE}"/>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Stage_2_PRD_Filled.docx; current repository; detailed limitations in main slides</a:t>
            </a:r>
          </a:p>
        </p:txBody>
      </p:sp>
      <p:sp>
        <p:nvSpPr>
          <p:cNvPr id="6" name="text-5">
            <a:extLst>
              <a:ext uri="{FF2B5EF4-FFF2-40B4-BE49-F238E27FC236}">
                <a16:creationId xmlns:a16="http://schemas.microsoft.com/office/drawing/2014/main" id="{AD21FF41-DE6D-425F-B43F-D25E83D62B63}"/>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27</a:t>
            </a:r>
          </a:p>
        </p:txBody>
      </p:sp>
      <p:sp>
        <p:nvSpPr>
          <p:cNvPr id="7" name="shape-6">
            <a:extLst>
              <a:ext uri="{FF2B5EF4-FFF2-40B4-BE49-F238E27FC236}">
                <a16:creationId xmlns:a16="http://schemas.microsoft.com/office/drawing/2014/main" id="{EDBFA525-A9F1-4E83-93EA-F45FD1EF0AC3}"/>
              </a:ext>
            </a:extLst>
          </p:cNvPr>
          <p:cNvSpPr>
            <a:spLocks noGrp="1"/>
          </p:cNvSpPr>
          <p:nvPr/>
        </p:nvSpPr>
        <p:spPr>
          <a:xfrm>
            <a:off x="609600" y="2066925"/>
            <a:ext cx="10972800" cy="381000"/>
          </a:xfrm>
          <a:prstGeom prst="rect">
            <a:avLst/>
          </a:prstGeom>
          <a:solidFill>
            <a:srgbClr val="E3ECE8"/>
          </a:solidFill>
        </p:spPr>
      </p:sp>
      <p:sp>
        <p:nvSpPr>
          <p:cNvPr id="8" name="text-7">
            <a:extLst>
              <a:ext uri="{FF2B5EF4-FFF2-40B4-BE49-F238E27FC236}">
                <a16:creationId xmlns:a16="http://schemas.microsoft.com/office/drawing/2014/main" id="{15B599C0-4838-4DD1-A2B9-FF4512DA2B46}"/>
              </a:ext>
            </a:extLst>
          </p:cNvPr>
          <p:cNvSpPr>
            <a:spLocks noGrp="1"/>
          </p:cNvSpPr>
          <p:nvPr/>
        </p:nvSpPr>
        <p:spPr>
          <a:xfrm>
            <a:off x="723900" y="2181225"/>
            <a:ext cx="1495425" cy="152400"/>
          </a:xfrm>
          <a:prstGeom prst="rect">
            <a:avLst/>
          </a:prstGeom>
        </p:spPr>
        <p:txBody>
          <a:bodyPr wrap="square" lIns="0" tIns="0" rIns="0" bIns="0" anchor="t"/>
          <a:lstStyle/>
          <a:p>
            <a:pPr>
              <a:defRPr sz="975" b="1">
                <a:solidFill>
                  <a:srgbClr val="00766B"/>
                </a:solidFill>
                <a:latin typeface="Arial"/>
                <a:ea typeface="Arial"/>
                <a:cs typeface="Arial"/>
              </a:defRPr>
            </a:pPr>
            <a:r>
              <a:t>REQUIREMENTS</a:t>
            </a:r>
          </a:p>
        </p:txBody>
      </p:sp>
      <p:sp>
        <p:nvSpPr>
          <p:cNvPr id="9" name="text-8">
            <a:extLst>
              <a:ext uri="{FF2B5EF4-FFF2-40B4-BE49-F238E27FC236}">
                <a16:creationId xmlns:a16="http://schemas.microsoft.com/office/drawing/2014/main" id="{3E4F84A8-8006-48EB-A864-AF2C3D6E35E8}"/>
              </a:ext>
            </a:extLst>
          </p:cNvPr>
          <p:cNvSpPr>
            <a:spLocks noGrp="1"/>
          </p:cNvSpPr>
          <p:nvPr/>
        </p:nvSpPr>
        <p:spPr>
          <a:xfrm>
            <a:off x="2447925" y="2181225"/>
            <a:ext cx="3895725" cy="152400"/>
          </a:xfrm>
          <a:prstGeom prst="rect">
            <a:avLst/>
          </a:prstGeom>
        </p:spPr>
        <p:txBody>
          <a:bodyPr wrap="square" lIns="0" tIns="0" rIns="0" bIns="0" anchor="t"/>
          <a:lstStyle/>
          <a:p>
            <a:pPr>
              <a:defRPr sz="975" b="1">
                <a:solidFill>
                  <a:srgbClr val="00766B"/>
                </a:solidFill>
                <a:latin typeface="Arial"/>
                <a:ea typeface="Arial"/>
                <a:cs typeface="Arial"/>
              </a:defRPr>
            </a:pPr>
            <a:r>
              <a:t>IMPLEMENTATION RESPONSIBILITY</a:t>
            </a:r>
          </a:p>
        </p:txBody>
      </p:sp>
      <p:sp>
        <p:nvSpPr>
          <p:cNvPr id="10" name="text-9">
            <a:extLst>
              <a:ext uri="{FF2B5EF4-FFF2-40B4-BE49-F238E27FC236}">
                <a16:creationId xmlns:a16="http://schemas.microsoft.com/office/drawing/2014/main" id="{B98685C7-17FA-45D1-98B9-D4EC9B98F0DB}"/>
              </a:ext>
            </a:extLst>
          </p:cNvPr>
          <p:cNvSpPr>
            <a:spLocks noGrp="1"/>
          </p:cNvSpPr>
          <p:nvPr/>
        </p:nvSpPr>
        <p:spPr>
          <a:xfrm>
            <a:off x="6572250" y="2181225"/>
            <a:ext cx="4895850" cy="152400"/>
          </a:xfrm>
          <a:prstGeom prst="rect">
            <a:avLst/>
          </a:prstGeom>
        </p:spPr>
        <p:txBody>
          <a:bodyPr wrap="square" lIns="0" tIns="0" rIns="0" bIns="0" anchor="t"/>
          <a:lstStyle/>
          <a:p>
            <a:pPr>
              <a:defRPr sz="975" b="1">
                <a:solidFill>
                  <a:srgbClr val="00766B"/>
                </a:solidFill>
                <a:latin typeface="Arial"/>
                <a:ea typeface="Arial"/>
                <a:cs typeface="Arial"/>
              </a:defRPr>
            </a:pPr>
            <a:r>
              <a:t>EVIDENCE / BOUNDARY</a:t>
            </a:r>
          </a:p>
        </p:txBody>
      </p:sp>
      <p:sp>
        <p:nvSpPr>
          <p:cNvPr id="11" name="text-10">
            <a:extLst>
              <a:ext uri="{FF2B5EF4-FFF2-40B4-BE49-F238E27FC236}">
                <a16:creationId xmlns:a16="http://schemas.microsoft.com/office/drawing/2014/main" id="{F16DB94A-4C91-46E3-B9A4-C90E4F6AC3BF}"/>
              </a:ext>
            </a:extLst>
          </p:cNvPr>
          <p:cNvSpPr>
            <a:spLocks noGrp="1"/>
          </p:cNvSpPr>
          <p:nvPr/>
        </p:nvSpPr>
        <p:spPr>
          <a:xfrm>
            <a:off x="723900" y="2562225"/>
            <a:ext cx="1495425" cy="552450"/>
          </a:xfrm>
          <a:prstGeom prst="rect">
            <a:avLst/>
          </a:prstGeom>
        </p:spPr>
        <p:txBody>
          <a:bodyPr wrap="square" lIns="0" tIns="0" rIns="0" bIns="0" anchor="t"/>
          <a:lstStyle/>
          <a:p>
            <a:pPr>
              <a:defRPr sz="1575" b="1">
                <a:solidFill>
                  <a:srgbClr val="173047"/>
                </a:solidFill>
                <a:latin typeface="Arial"/>
                <a:ea typeface="Arial"/>
                <a:cs typeface="Arial"/>
              </a:defRPr>
            </a:pPr>
            <a:r>
              <a:t>FR-01–03</a:t>
            </a:r>
          </a:p>
        </p:txBody>
      </p:sp>
      <p:sp>
        <p:nvSpPr>
          <p:cNvPr id="12" name="text-11">
            <a:extLst>
              <a:ext uri="{FF2B5EF4-FFF2-40B4-BE49-F238E27FC236}">
                <a16:creationId xmlns:a16="http://schemas.microsoft.com/office/drawing/2014/main" id="{F7BAA2E7-FBE1-4370-80A8-328767133F4D}"/>
              </a:ext>
            </a:extLst>
          </p:cNvPr>
          <p:cNvSpPr>
            <a:spLocks noGrp="1"/>
          </p:cNvSpPr>
          <p:nvPr/>
        </p:nvSpPr>
        <p:spPr>
          <a:xfrm>
            <a:off x="2447925" y="2562225"/>
            <a:ext cx="3895725" cy="552450"/>
          </a:xfrm>
          <a:prstGeom prst="rect">
            <a:avLst/>
          </a:prstGeom>
        </p:spPr>
        <p:txBody>
          <a:bodyPr wrap="square" lIns="0" tIns="0" rIns="0" bIns="0" anchor="t"/>
          <a:lstStyle/>
          <a:p>
            <a:pPr>
              <a:defRPr sz="1575" b="0">
                <a:solidFill>
                  <a:srgbClr val="546573"/>
                </a:solidFill>
                <a:latin typeface="Arial"/>
                <a:ea typeface="Arial"/>
                <a:cs typeface="Arial"/>
              </a:defRPr>
            </a:pPr>
            <a:r>
              <a:t>Normalisation, classification, retrieval</a:t>
            </a:r>
          </a:p>
        </p:txBody>
      </p:sp>
      <p:sp>
        <p:nvSpPr>
          <p:cNvPr id="13" name="text-12">
            <a:extLst>
              <a:ext uri="{FF2B5EF4-FFF2-40B4-BE49-F238E27FC236}">
                <a16:creationId xmlns:a16="http://schemas.microsoft.com/office/drawing/2014/main" id="{66FDC033-645B-40B5-95E4-8C699F43C382}"/>
              </a:ext>
            </a:extLst>
          </p:cNvPr>
          <p:cNvSpPr>
            <a:spLocks noGrp="1"/>
          </p:cNvSpPr>
          <p:nvPr/>
        </p:nvSpPr>
        <p:spPr>
          <a:xfrm>
            <a:off x="6572250" y="2562225"/>
            <a:ext cx="4895850" cy="552450"/>
          </a:xfrm>
          <a:prstGeom prst="rect">
            <a:avLst/>
          </a:prstGeom>
        </p:spPr>
        <p:txBody>
          <a:bodyPr wrap="square" lIns="0" tIns="0" rIns="0" bIns="0" anchor="t"/>
          <a:lstStyle/>
          <a:p>
            <a:pPr>
              <a:defRPr sz="1575" b="0">
                <a:solidFill>
                  <a:srgbClr val="546573"/>
                </a:solidFill>
                <a:latin typeface="Arial"/>
                <a:ea typeface="Arial"/>
                <a:cs typeface="Arial"/>
              </a:defRPr>
            </a:pPr>
            <a:r>
              <a:t>Consistent inputs; taxonomy; ranked approved KB evidence.</a:t>
            </a:r>
          </a:p>
        </p:txBody>
      </p:sp>
      <p:sp>
        <p:nvSpPr>
          <p:cNvPr id="14" name="shape-13">
            <a:extLst>
              <a:ext uri="{FF2B5EF4-FFF2-40B4-BE49-F238E27FC236}">
                <a16:creationId xmlns:a16="http://schemas.microsoft.com/office/drawing/2014/main" id="{F876EF1B-B3EB-4149-9580-006C6271EDA0}"/>
              </a:ext>
            </a:extLst>
          </p:cNvPr>
          <p:cNvSpPr>
            <a:spLocks noGrp="1"/>
          </p:cNvSpPr>
          <p:nvPr/>
        </p:nvSpPr>
        <p:spPr>
          <a:xfrm>
            <a:off x="609600" y="3152775"/>
            <a:ext cx="10972800" cy="9525"/>
          </a:xfrm>
          <a:prstGeom prst="rect">
            <a:avLst/>
          </a:prstGeom>
          <a:solidFill>
            <a:srgbClr val="CDD3D2"/>
          </a:solidFill>
        </p:spPr>
      </p:sp>
      <p:sp>
        <p:nvSpPr>
          <p:cNvPr id="15" name="text-14">
            <a:extLst>
              <a:ext uri="{FF2B5EF4-FFF2-40B4-BE49-F238E27FC236}">
                <a16:creationId xmlns:a16="http://schemas.microsoft.com/office/drawing/2014/main" id="{3CF9EA15-082F-4B58-AE70-E02DAB6E94C0}"/>
              </a:ext>
            </a:extLst>
          </p:cNvPr>
          <p:cNvSpPr>
            <a:spLocks noGrp="1"/>
          </p:cNvSpPr>
          <p:nvPr/>
        </p:nvSpPr>
        <p:spPr>
          <a:xfrm>
            <a:off x="723900" y="3267075"/>
            <a:ext cx="1495425" cy="552450"/>
          </a:xfrm>
          <a:prstGeom prst="rect">
            <a:avLst/>
          </a:prstGeom>
        </p:spPr>
        <p:txBody>
          <a:bodyPr wrap="square" lIns="0" tIns="0" rIns="0" bIns="0" anchor="t"/>
          <a:lstStyle/>
          <a:p>
            <a:pPr>
              <a:defRPr sz="1575" b="1">
                <a:solidFill>
                  <a:srgbClr val="173047"/>
                </a:solidFill>
                <a:latin typeface="Arial"/>
                <a:ea typeface="Arial"/>
                <a:cs typeface="Arial"/>
              </a:defRPr>
            </a:pPr>
            <a:r>
              <a:t>FR-04–06</a:t>
            </a:r>
          </a:p>
        </p:txBody>
      </p:sp>
      <p:sp>
        <p:nvSpPr>
          <p:cNvPr id="16" name="text-15">
            <a:extLst>
              <a:ext uri="{FF2B5EF4-FFF2-40B4-BE49-F238E27FC236}">
                <a16:creationId xmlns:a16="http://schemas.microsoft.com/office/drawing/2014/main" id="{73D476FB-64EF-4E9D-81ED-C98C8B37F1CE}"/>
              </a:ext>
            </a:extLst>
          </p:cNvPr>
          <p:cNvSpPr>
            <a:spLocks noGrp="1"/>
          </p:cNvSpPr>
          <p:nvPr/>
        </p:nvSpPr>
        <p:spPr>
          <a:xfrm>
            <a:off x="2447925" y="3267075"/>
            <a:ext cx="3895725" cy="552450"/>
          </a:xfrm>
          <a:prstGeom prst="rect">
            <a:avLst/>
          </a:prstGeom>
        </p:spPr>
        <p:txBody>
          <a:bodyPr wrap="square" lIns="0" tIns="0" rIns="0" bIns="0" anchor="t"/>
          <a:lstStyle/>
          <a:p>
            <a:pPr>
              <a:defRPr sz="1575" b="0">
                <a:solidFill>
                  <a:srgbClr val="546573"/>
                </a:solidFill>
                <a:latin typeface="Arial"/>
                <a:ea typeface="Arial"/>
                <a:cs typeface="Arial"/>
              </a:defRPr>
            </a:pPr>
            <a:r>
              <a:t>Policy and handover construction</a:t>
            </a:r>
          </a:p>
        </p:txBody>
      </p:sp>
      <p:sp>
        <p:nvSpPr>
          <p:cNvPr id="17" name="text-16">
            <a:extLst>
              <a:ext uri="{FF2B5EF4-FFF2-40B4-BE49-F238E27FC236}">
                <a16:creationId xmlns:a16="http://schemas.microsoft.com/office/drawing/2014/main" id="{B9936BD5-C2CB-4F10-8314-5278B77BECED}"/>
              </a:ext>
            </a:extLst>
          </p:cNvPr>
          <p:cNvSpPr>
            <a:spLocks noGrp="1"/>
          </p:cNvSpPr>
          <p:nvPr/>
        </p:nvSpPr>
        <p:spPr>
          <a:xfrm>
            <a:off x="6572250" y="3267075"/>
            <a:ext cx="4895850" cy="552450"/>
          </a:xfrm>
          <a:prstGeom prst="rect">
            <a:avLst/>
          </a:prstGeom>
        </p:spPr>
        <p:txBody>
          <a:bodyPr wrap="square" lIns="0" tIns="0" rIns="0" bIns="0" anchor="t"/>
          <a:lstStyle/>
          <a:p>
            <a:pPr>
              <a:defRPr sz="1575" b="0">
                <a:solidFill>
                  <a:srgbClr val="546573"/>
                </a:solidFill>
                <a:latin typeface="Arial"/>
                <a:ea typeface="Arial"/>
                <a:cs typeface="Arial"/>
              </a:defRPr>
            </a:pPr>
            <a:r>
              <a:t>Eligibility and risk rules; structured escalation context.</a:t>
            </a:r>
          </a:p>
        </p:txBody>
      </p:sp>
      <p:sp>
        <p:nvSpPr>
          <p:cNvPr id="18" name="shape-17">
            <a:extLst>
              <a:ext uri="{FF2B5EF4-FFF2-40B4-BE49-F238E27FC236}">
                <a16:creationId xmlns:a16="http://schemas.microsoft.com/office/drawing/2014/main" id="{BA8CDFBF-83F5-450B-804C-E69207B12008}"/>
              </a:ext>
            </a:extLst>
          </p:cNvPr>
          <p:cNvSpPr>
            <a:spLocks noGrp="1"/>
          </p:cNvSpPr>
          <p:nvPr/>
        </p:nvSpPr>
        <p:spPr>
          <a:xfrm>
            <a:off x="609600" y="3857625"/>
            <a:ext cx="10972800" cy="9525"/>
          </a:xfrm>
          <a:prstGeom prst="rect">
            <a:avLst/>
          </a:prstGeom>
          <a:solidFill>
            <a:srgbClr val="CDD3D2"/>
          </a:solidFill>
        </p:spPr>
      </p:sp>
      <p:sp>
        <p:nvSpPr>
          <p:cNvPr id="19" name="text-18">
            <a:extLst>
              <a:ext uri="{FF2B5EF4-FFF2-40B4-BE49-F238E27FC236}">
                <a16:creationId xmlns:a16="http://schemas.microsoft.com/office/drawing/2014/main" id="{2A10069E-11C7-4655-B341-574A86571E6B}"/>
              </a:ext>
            </a:extLst>
          </p:cNvPr>
          <p:cNvSpPr>
            <a:spLocks noGrp="1"/>
          </p:cNvSpPr>
          <p:nvPr/>
        </p:nvSpPr>
        <p:spPr>
          <a:xfrm>
            <a:off x="723900" y="3971925"/>
            <a:ext cx="1495425" cy="552450"/>
          </a:xfrm>
          <a:prstGeom prst="rect">
            <a:avLst/>
          </a:prstGeom>
        </p:spPr>
        <p:txBody>
          <a:bodyPr wrap="square" lIns="0" tIns="0" rIns="0" bIns="0" anchor="t"/>
          <a:lstStyle/>
          <a:p>
            <a:pPr>
              <a:defRPr sz="1575" b="1">
                <a:solidFill>
                  <a:srgbClr val="173047"/>
                </a:solidFill>
                <a:latin typeface="Arial"/>
                <a:ea typeface="Arial"/>
                <a:cs typeface="Arial"/>
              </a:defRPr>
            </a:pPr>
            <a:r>
              <a:t>FR-07–08</a:t>
            </a:r>
          </a:p>
        </p:txBody>
      </p:sp>
      <p:sp>
        <p:nvSpPr>
          <p:cNvPr id="20" name="text-19">
            <a:extLst>
              <a:ext uri="{FF2B5EF4-FFF2-40B4-BE49-F238E27FC236}">
                <a16:creationId xmlns:a16="http://schemas.microsoft.com/office/drawing/2014/main" id="{E8231582-9F13-4183-8DFF-BF70F5CD61A2}"/>
              </a:ext>
            </a:extLst>
          </p:cNvPr>
          <p:cNvSpPr>
            <a:spLocks noGrp="1"/>
          </p:cNvSpPr>
          <p:nvPr/>
        </p:nvSpPr>
        <p:spPr>
          <a:xfrm>
            <a:off x="2447925" y="3971925"/>
            <a:ext cx="3895725" cy="552450"/>
          </a:xfrm>
          <a:prstGeom prst="rect">
            <a:avLst/>
          </a:prstGeom>
        </p:spPr>
        <p:txBody>
          <a:bodyPr wrap="square" lIns="0" tIns="0" rIns="0" bIns="0" anchor="t"/>
          <a:lstStyle/>
          <a:p>
            <a:pPr>
              <a:defRPr sz="1575" b="0">
                <a:solidFill>
                  <a:srgbClr val="546573"/>
                </a:solidFill>
                <a:latin typeface="Arial"/>
                <a:ea typeface="Arial"/>
                <a:cs typeface="Arial"/>
              </a:defRPr>
            </a:pPr>
            <a:r>
              <a:t>Generation and Python guardrails</a:t>
            </a:r>
          </a:p>
        </p:txBody>
      </p:sp>
      <p:sp>
        <p:nvSpPr>
          <p:cNvPr id="21" name="text-20">
            <a:extLst>
              <a:ext uri="{FF2B5EF4-FFF2-40B4-BE49-F238E27FC236}">
                <a16:creationId xmlns:a16="http://schemas.microsoft.com/office/drawing/2014/main" id="{F982F98C-0F30-4D29-B6A9-35F9AB8E6565}"/>
              </a:ext>
            </a:extLst>
          </p:cNvPr>
          <p:cNvSpPr>
            <a:spLocks noGrp="1"/>
          </p:cNvSpPr>
          <p:nvPr/>
        </p:nvSpPr>
        <p:spPr>
          <a:xfrm>
            <a:off x="6572250" y="3971925"/>
            <a:ext cx="4895850" cy="552450"/>
          </a:xfrm>
          <a:prstGeom prst="rect">
            <a:avLst/>
          </a:prstGeom>
        </p:spPr>
        <p:txBody>
          <a:bodyPr wrap="square" lIns="0" tIns="0" rIns="0" bIns="0" anchor="t"/>
          <a:lstStyle/>
          <a:p>
            <a:pPr>
              <a:defRPr sz="1575" b="0">
                <a:solidFill>
                  <a:srgbClr val="546573"/>
                </a:solidFill>
                <a:latin typeface="Arial"/>
                <a:ea typeface="Arial"/>
                <a:cs typeface="Arial"/>
              </a:defRPr>
            </a:pPr>
            <a:r>
              <a:t>Cited draft; output checks; semantic review excluded from routing.</a:t>
            </a:r>
          </a:p>
        </p:txBody>
      </p:sp>
      <p:sp>
        <p:nvSpPr>
          <p:cNvPr id="22" name="shape-21">
            <a:extLst>
              <a:ext uri="{FF2B5EF4-FFF2-40B4-BE49-F238E27FC236}">
                <a16:creationId xmlns:a16="http://schemas.microsoft.com/office/drawing/2014/main" id="{40B4A360-424F-4B88-BFF3-32F4EA11604F}"/>
              </a:ext>
            </a:extLst>
          </p:cNvPr>
          <p:cNvSpPr>
            <a:spLocks noGrp="1"/>
          </p:cNvSpPr>
          <p:nvPr/>
        </p:nvSpPr>
        <p:spPr>
          <a:xfrm>
            <a:off x="609600" y="4562475"/>
            <a:ext cx="10972800" cy="9525"/>
          </a:xfrm>
          <a:prstGeom prst="rect">
            <a:avLst/>
          </a:prstGeom>
          <a:solidFill>
            <a:srgbClr val="CDD3D2"/>
          </a:solidFill>
        </p:spPr>
      </p:sp>
      <p:sp>
        <p:nvSpPr>
          <p:cNvPr id="23" name="text-22">
            <a:extLst>
              <a:ext uri="{FF2B5EF4-FFF2-40B4-BE49-F238E27FC236}">
                <a16:creationId xmlns:a16="http://schemas.microsoft.com/office/drawing/2014/main" id="{D08D5C1F-2248-4EA0-8FFE-161C11C5B6D4}"/>
              </a:ext>
            </a:extLst>
          </p:cNvPr>
          <p:cNvSpPr>
            <a:spLocks noGrp="1"/>
          </p:cNvSpPr>
          <p:nvPr/>
        </p:nvSpPr>
        <p:spPr>
          <a:xfrm>
            <a:off x="723900" y="4676775"/>
            <a:ext cx="1495425" cy="552450"/>
          </a:xfrm>
          <a:prstGeom prst="rect">
            <a:avLst/>
          </a:prstGeom>
        </p:spPr>
        <p:txBody>
          <a:bodyPr wrap="square" lIns="0" tIns="0" rIns="0" bIns="0" anchor="t"/>
          <a:lstStyle/>
          <a:p>
            <a:pPr>
              <a:defRPr sz="1575" b="1">
                <a:solidFill>
                  <a:srgbClr val="173047"/>
                </a:solidFill>
                <a:latin typeface="Arial"/>
                <a:ea typeface="Arial"/>
                <a:cs typeface="Arial"/>
              </a:defRPr>
            </a:pPr>
            <a:r>
              <a:t>FR-09–10</a:t>
            </a:r>
          </a:p>
        </p:txBody>
      </p:sp>
      <p:sp>
        <p:nvSpPr>
          <p:cNvPr id="24" name="text-23">
            <a:extLst>
              <a:ext uri="{FF2B5EF4-FFF2-40B4-BE49-F238E27FC236}">
                <a16:creationId xmlns:a16="http://schemas.microsoft.com/office/drawing/2014/main" id="{E864CE0A-BE88-4D09-9666-D2AF99A99FEA}"/>
              </a:ext>
            </a:extLst>
          </p:cNvPr>
          <p:cNvSpPr>
            <a:spLocks noGrp="1"/>
          </p:cNvSpPr>
          <p:nvPr/>
        </p:nvSpPr>
        <p:spPr>
          <a:xfrm>
            <a:off x="2447925" y="4676775"/>
            <a:ext cx="3895725" cy="552450"/>
          </a:xfrm>
          <a:prstGeom prst="rect">
            <a:avLst/>
          </a:prstGeom>
        </p:spPr>
        <p:txBody>
          <a:bodyPr wrap="square" lIns="0" tIns="0" rIns="0" bIns="0" anchor="t"/>
          <a:lstStyle/>
          <a:p>
            <a:pPr>
              <a:defRPr sz="1575" b="0">
                <a:solidFill>
                  <a:srgbClr val="546573"/>
                </a:solidFill>
                <a:latin typeface="Arial"/>
                <a:ea typeface="Arial"/>
                <a:cs typeface="Arial"/>
              </a:defRPr>
            </a:pPr>
            <a:r>
              <a:t>SQLite audit and evaluation harness</a:t>
            </a:r>
          </a:p>
        </p:txBody>
      </p:sp>
      <p:sp>
        <p:nvSpPr>
          <p:cNvPr id="25" name="text-24">
            <a:extLst>
              <a:ext uri="{FF2B5EF4-FFF2-40B4-BE49-F238E27FC236}">
                <a16:creationId xmlns:a16="http://schemas.microsoft.com/office/drawing/2014/main" id="{4FE37857-6124-4DBE-A0B0-F940BD9EABF2}"/>
              </a:ext>
            </a:extLst>
          </p:cNvPr>
          <p:cNvSpPr>
            <a:spLocks noGrp="1"/>
          </p:cNvSpPr>
          <p:nvPr/>
        </p:nvSpPr>
        <p:spPr>
          <a:xfrm>
            <a:off x="6572250" y="4676775"/>
            <a:ext cx="4895850" cy="552450"/>
          </a:xfrm>
          <a:prstGeom prst="rect">
            <a:avLst/>
          </a:prstGeom>
        </p:spPr>
        <p:txBody>
          <a:bodyPr wrap="square" lIns="0" tIns="0" rIns="0" bIns="0" anchor="t"/>
          <a:lstStyle/>
          <a:p>
            <a:pPr>
              <a:defRPr sz="1575" b="0">
                <a:solidFill>
                  <a:srgbClr val="546573"/>
                </a:solidFill>
                <a:latin typeface="Arial"/>
                <a:ea typeface="Arial"/>
                <a:cs typeface="Arial"/>
              </a:defRPr>
            </a:pPr>
            <a:r>
              <a:t>Decision events; paired report and per-ticket results.</a:t>
            </a:r>
          </a:p>
        </p:txBody>
      </p:sp>
      <p:sp>
        <p:nvSpPr>
          <p:cNvPr id="26" name="shape-25">
            <a:extLst>
              <a:ext uri="{FF2B5EF4-FFF2-40B4-BE49-F238E27FC236}">
                <a16:creationId xmlns:a16="http://schemas.microsoft.com/office/drawing/2014/main" id="{9DB072B8-A6D9-496F-BECC-B2A1FAC2098D}"/>
              </a:ext>
            </a:extLst>
          </p:cNvPr>
          <p:cNvSpPr>
            <a:spLocks noGrp="1"/>
          </p:cNvSpPr>
          <p:nvPr/>
        </p:nvSpPr>
        <p:spPr>
          <a:xfrm>
            <a:off x="609600" y="5267325"/>
            <a:ext cx="10972800" cy="9525"/>
          </a:xfrm>
          <a:prstGeom prst="rect">
            <a:avLst/>
          </a:prstGeom>
          <a:solidFill>
            <a:srgbClr val="CDD3D2"/>
          </a:solidFill>
        </p:spPr>
      </p:sp>
      <p:sp>
        <p:nvSpPr>
          <p:cNvPr id="27" name="text-26">
            <a:extLst>
              <a:ext uri="{FF2B5EF4-FFF2-40B4-BE49-F238E27FC236}">
                <a16:creationId xmlns:a16="http://schemas.microsoft.com/office/drawing/2014/main" id="{CFBB6912-5AF8-4EF1-8EEB-27421C3E4A82}"/>
              </a:ext>
            </a:extLst>
          </p:cNvPr>
          <p:cNvSpPr>
            <a:spLocks noGrp="1"/>
          </p:cNvSpPr>
          <p:nvPr/>
        </p:nvSpPr>
        <p:spPr>
          <a:xfrm>
            <a:off x="723900" y="5381625"/>
            <a:ext cx="1495425" cy="552450"/>
          </a:xfrm>
          <a:prstGeom prst="rect">
            <a:avLst/>
          </a:prstGeom>
        </p:spPr>
        <p:txBody>
          <a:bodyPr wrap="square" lIns="0" tIns="0" rIns="0" bIns="0" anchor="t"/>
          <a:lstStyle/>
          <a:p>
            <a:pPr>
              <a:defRPr sz="1575" b="1">
                <a:solidFill>
                  <a:srgbClr val="173047"/>
                </a:solidFill>
                <a:latin typeface="Arial"/>
                <a:ea typeface="Arial"/>
                <a:cs typeface="Arial"/>
              </a:defRPr>
            </a:pPr>
            <a:r>
              <a:t>FR-11–12</a:t>
            </a:r>
          </a:p>
        </p:txBody>
      </p:sp>
      <p:sp>
        <p:nvSpPr>
          <p:cNvPr id="28" name="text-27">
            <a:extLst>
              <a:ext uri="{FF2B5EF4-FFF2-40B4-BE49-F238E27FC236}">
                <a16:creationId xmlns:a16="http://schemas.microsoft.com/office/drawing/2014/main" id="{ED92B745-7B71-48AF-BCC7-2F766A7F5243}"/>
              </a:ext>
            </a:extLst>
          </p:cNvPr>
          <p:cNvSpPr>
            <a:spLocks noGrp="1"/>
          </p:cNvSpPr>
          <p:nvPr/>
        </p:nvSpPr>
        <p:spPr>
          <a:xfrm>
            <a:off x="2447925" y="5381625"/>
            <a:ext cx="3895725" cy="552450"/>
          </a:xfrm>
          <a:prstGeom prst="rect">
            <a:avLst/>
          </a:prstGeom>
        </p:spPr>
        <p:txBody>
          <a:bodyPr wrap="square" lIns="0" tIns="0" rIns="0" bIns="0" anchor="t"/>
          <a:lstStyle/>
          <a:p>
            <a:pPr>
              <a:defRPr sz="1575" b="0">
                <a:solidFill>
                  <a:srgbClr val="546573"/>
                </a:solidFill>
                <a:latin typeface="Arial"/>
                <a:ea typeface="Arial"/>
                <a:cs typeface="Arial"/>
              </a:defRPr>
            </a:pPr>
            <a:r>
              <a:t>Fallbacks and kill-switch interface</a:t>
            </a:r>
          </a:p>
        </p:txBody>
      </p:sp>
      <p:sp>
        <p:nvSpPr>
          <p:cNvPr id="29" name="text-28">
            <a:extLst>
              <a:ext uri="{FF2B5EF4-FFF2-40B4-BE49-F238E27FC236}">
                <a16:creationId xmlns:a16="http://schemas.microsoft.com/office/drawing/2014/main" id="{61E1D9C0-3DD4-4F47-9321-9E404D4825C7}"/>
              </a:ext>
            </a:extLst>
          </p:cNvPr>
          <p:cNvSpPr>
            <a:spLocks noGrp="1"/>
          </p:cNvSpPr>
          <p:nvPr/>
        </p:nvSpPr>
        <p:spPr>
          <a:xfrm>
            <a:off x="6572250" y="5381625"/>
            <a:ext cx="4895850" cy="552450"/>
          </a:xfrm>
          <a:prstGeom prst="rect">
            <a:avLst/>
          </a:prstGeom>
        </p:spPr>
        <p:txBody>
          <a:bodyPr wrap="square" lIns="0" tIns="0" rIns="0" bIns="0" anchor="t"/>
          <a:lstStyle/>
          <a:p>
            <a:pPr>
              <a:defRPr sz="1575" b="0">
                <a:solidFill>
                  <a:srgbClr val="546573"/>
                </a:solidFill>
                <a:latin typeface="Arial"/>
                <a:ea typeface="Arial"/>
                <a:cs typeface="Arial"/>
              </a:defRPr>
            </a:pPr>
            <a:r>
              <a:t>Offline/error handling; local process control with stated limits.</a:t>
            </a:r>
          </a:p>
        </p:txBody>
      </p:sp>
      <p:sp>
        <p:nvSpPr>
          <p:cNvPr id="30" name="shape-29">
            <a:extLst>
              <a:ext uri="{FF2B5EF4-FFF2-40B4-BE49-F238E27FC236}">
                <a16:creationId xmlns:a16="http://schemas.microsoft.com/office/drawing/2014/main" id="{438D4E37-BE66-4E66-ADD3-A46DB33A70DF}"/>
              </a:ext>
            </a:extLst>
          </p:cNvPr>
          <p:cNvSpPr>
            <a:spLocks noGrp="1"/>
          </p:cNvSpPr>
          <p:nvPr/>
        </p:nvSpPr>
        <p:spPr>
          <a:xfrm>
            <a:off x="609600" y="5972175"/>
            <a:ext cx="10972800" cy="9525"/>
          </a:xfrm>
          <a:prstGeom prst="rect">
            <a:avLst/>
          </a:prstGeom>
          <a:solidFill>
            <a:srgbClr val="CDD3D2"/>
          </a:solidFill>
        </p:spPr>
      </p:sp>
    </p:spTree>
    <p:extLst>
      <p:ext uri="{BB962C8B-B14F-4D97-AF65-F5344CB8AC3E}">
        <p14:creationId xmlns:p14="http://schemas.microsoft.com/office/powerpoint/2010/main" val="1135597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39" name="kicker-marker">
            <a:extLst>
              <a:ext uri="{FF2B5EF4-FFF2-40B4-BE49-F238E27FC236}">
                <a16:creationId xmlns:a16="http://schemas.microsoft.com/office/drawing/2014/main" id="{F2B03436-0734-49A6-BE7A-FCAC65DD24B4}"/>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F004173B-B4B9-43DB-AE7D-4970A3711052}"/>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APPENDIX · DEFINITIONS</a:t>
            </a:r>
          </a:p>
        </p:txBody>
      </p:sp>
      <p:sp>
        <p:nvSpPr>
          <p:cNvPr id="3" name="text-2">
            <a:extLst>
              <a:ext uri="{FF2B5EF4-FFF2-40B4-BE49-F238E27FC236}">
                <a16:creationId xmlns:a16="http://schemas.microsoft.com/office/drawing/2014/main" id="{A6DE16FB-307E-47D1-95A9-70306A00044F}"/>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Denominators determine</a:t>
            </a:r>
          </a:p>
          <a:p>
            <a:pPr>
              <a:defRPr sz="3150" b="0">
                <a:solidFill>
                  <a:srgbClr val="173047"/>
                </a:solidFill>
                <a:latin typeface="Georgia"/>
                <a:ea typeface="Georgia"/>
                <a:cs typeface="Georgia"/>
              </a:defRPr>
            </a:pPr>
            <a:r>
              <a:t>what each result actually means</a:t>
            </a:r>
          </a:p>
        </p:txBody>
      </p:sp>
      <p:sp>
        <p:nvSpPr>
          <p:cNvPr id="4" name="shape-3">
            <a:extLst>
              <a:ext uri="{FF2B5EF4-FFF2-40B4-BE49-F238E27FC236}">
                <a16:creationId xmlns:a16="http://schemas.microsoft.com/office/drawing/2014/main" id="{D7453DC3-7EB0-4FDD-9BEC-4EA3878D0C9E}"/>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40D162AF-A4EC-48DA-9A17-0B014761884D}"/>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Current harness calculation and saved 80-ticket report</a:t>
            </a:r>
          </a:p>
        </p:txBody>
      </p:sp>
      <p:sp>
        <p:nvSpPr>
          <p:cNvPr id="6" name="text-5">
            <a:extLst>
              <a:ext uri="{FF2B5EF4-FFF2-40B4-BE49-F238E27FC236}">
                <a16:creationId xmlns:a16="http://schemas.microsoft.com/office/drawing/2014/main" id="{CBCAFA25-10F3-4611-9CC1-4C4953860CE1}"/>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28</a:t>
            </a:r>
          </a:p>
        </p:txBody>
      </p:sp>
      <p:sp>
        <p:nvSpPr>
          <p:cNvPr id="7" name="shape-6">
            <a:extLst>
              <a:ext uri="{FF2B5EF4-FFF2-40B4-BE49-F238E27FC236}">
                <a16:creationId xmlns:a16="http://schemas.microsoft.com/office/drawing/2014/main" id="{898938B1-EAB8-4D31-AB8A-2644199BB9F4}"/>
              </a:ext>
            </a:extLst>
          </p:cNvPr>
          <p:cNvSpPr>
            <a:spLocks noGrp="1"/>
          </p:cNvSpPr>
          <p:nvPr/>
        </p:nvSpPr>
        <p:spPr>
          <a:xfrm>
            <a:off x="609600" y="2057400"/>
            <a:ext cx="10972800" cy="381000"/>
          </a:xfrm>
          <a:prstGeom prst="rect">
            <a:avLst/>
          </a:prstGeom>
          <a:solidFill>
            <a:srgbClr val="E3ECE8"/>
          </a:solidFill>
        </p:spPr>
      </p:sp>
      <p:sp>
        <p:nvSpPr>
          <p:cNvPr id="8" name="text-7">
            <a:extLst>
              <a:ext uri="{FF2B5EF4-FFF2-40B4-BE49-F238E27FC236}">
                <a16:creationId xmlns:a16="http://schemas.microsoft.com/office/drawing/2014/main" id="{6DB24D52-BCC0-474E-AD20-B700A506BA62}"/>
              </a:ext>
            </a:extLst>
          </p:cNvPr>
          <p:cNvSpPr>
            <a:spLocks noGrp="1"/>
          </p:cNvSpPr>
          <p:nvPr/>
        </p:nvSpPr>
        <p:spPr>
          <a:xfrm>
            <a:off x="723900" y="2171700"/>
            <a:ext cx="2390775" cy="152400"/>
          </a:xfrm>
          <a:prstGeom prst="rect">
            <a:avLst/>
          </a:prstGeom>
        </p:spPr>
        <p:txBody>
          <a:bodyPr wrap="square" lIns="0" tIns="0" rIns="0" bIns="0" anchor="t"/>
          <a:lstStyle/>
          <a:p>
            <a:pPr>
              <a:defRPr sz="975" b="1">
                <a:solidFill>
                  <a:srgbClr val="00766B"/>
                </a:solidFill>
                <a:latin typeface="Arial"/>
                <a:ea typeface="Arial"/>
                <a:cs typeface="Arial"/>
              </a:defRPr>
            </a:pPr>
            <a:r>
              <a:t>MEASURE</a:t>
            </a:r>
          </a:p>
        </p:txBody>
      </p:sp>
      <p:sp>
        <p:nvSpPr>
          <p:cNvPr id="9" name="text-8">
            <a:extLst>
              <a:ext uri="{FF2B5EF4-FFF2-40B4-BE49-F238E27FC236}">
                <a16:creationId xmlns:a16="http://schemas.microsoft.com/office/drawing/2014/main" id="{445B3432-7B47-4553-BCCE-29B01B872B36}"/>
              </a:ext>
            </a:extLst>
          </p:cNvPr>
          <p:cNvSpPr>
            <a:spLocks noGrp="1"/>
          </p:cNvSpPr>
          <p:nvPr/>
        </p:nvSpPr>
        <p:spPr>
          <a:xfrm>
            <a:off x="3343275" y="2171700"/>
            <a:ext cx="2619375" cy="152400"/>
          </a:xfrm>
          <a:prstGeom prst="rect">
            <a:avLst/>
          </a:prstGeom>
        </p:spPr>
        <p:txBody>
          <a:bodyPr wrap="square" lIns="0" tIns="0" rIns="0" bIns="0" anchor="t"/>
          <a:lstStyle/>
          <a:p>
            <a:pPr>
              <a:defRPr sz="975" b="1">
                <a:solidFill>
                  <a:srgbClr val="00766B"/>
                </a:solidFill>
                <a:latin typeface="Arial"/>
                <a:ea typeface="Arial"/>
                <a:cs typeface="Arial"/>
              </a:defRPr>
            </a:pPr>
            <a:r>
              <a:t>DENOMINATOR / VALUE</a:t>
            </a:r>
          </a:p>
        </p:txBody>
      </p:sp>
      <p:sp>
        <p:nvSpPr>
          <p:cNvPr id="10" name="text-9">
            <a:extLst>
              <a:ext uri="{FF2B5EF4-FFF2-40B4-BE49-F238E27FC236}">
                <a16:creationId xmlns:a16="http://schemas.microsoft.com/office/drawing/2014/main" id="{A0B873AA-67F7-4FE0-86FA-1901CFB8AF5F}"/>
              </a:ext>
            </a:extLst>
          </p:cNvPr>
          <p:cNvSpPr>
            <a:spLocks noGrp="1"/>
          </p:cNvSpPr>
          <p:nvPr/>
        </p:nvSpPr>
        <p:spPr>
          <a:xfrm>
            <a:off x="6191250" y="2171700"/>
            <a:ext cx="5276850" cy="152400"/>
          </a:xfrm>
          <a:prstGeom prst="rect">
            <a:avLst/>
          </a:prstGeom>
        </p:spPr>
        <p:txBody>
          <a:bodyPr wrap="square" lIns="0" tIns="0" rIns="0" bIns="0" anchor="t"/>
          <a:lstStyle/>
          <a:p>
            <a:pPr>
              <a:defRPr sz="975" b="1">
                <a:solidFill>
                  <a:srgbClr val="00766B"/>
                </a:solidFill>
                <a:latin typeface="Arial"/>
                <a:ea typeface="Arial"/>
                <a:cs typeface="Arial"/>
              </a:defRPr>
            </a:pPr>
            <a:r>
              <a:t>INTERPRETATION</a:t>
            </a:r>
          </a:p>
        </p:txBody>
      </p:sp>
      <p:sp>
        <p:nvSpPr>
          <p:cNvPr id="11" name="text-10">
            <a:extLst>
              <a:ext uri="{FF2B5EF4-FFF2-40B4-BE49-F238E27FC236}">
                <a16:creationId xmlns:a16="http://schemas.microsoft.com/office/drawing/2014/main" id="{53F0A12F-4F97-435D-A78E-346C64932914}"/>
              </a:ext>
            </a:extLst>
          </p:cNvPr>
          <p:cNvSpPr>
            <a:spLocks noGrp="1"/>
          </p:cNvSpPr>
          <p:nvPr/>
        </p:nvSpPr>
        <p:spPr>
          <a:xfrm>
            <a:off x="723900" y="255270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Automation</a:t>
            </a:r>
          </a:p>
        </p:txBody>
      </p:sp>
      <p:sp>
        <p:nvSpPr>
          <p:cNvPr id="12" name="text-11">
            <a:extLst>
              <a:ext uri="{FF2B5EF4-FFF2-40B4-BE49-F238E27FC236}">
                <a16:creationId xmlns:a16="http://schemas.microsoft.com/office/drawing/2014/main" id="{856B489F-4111-4DD2-AB18-7C32EEBB5BAB}"/>
              </a:ext>
            </a:extLst>
          </p:cNvPr>
          <p:cNvSpPr>
            <a:spLocks noGrp="1"/>
          </p:cNvSpPr>
          <p:nvPr/>
        </p:nvSpPr>
        <p:spPr>
          <a:xfrm>
            <a:off x="3343275" y="255270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56 / 80</a:t>
            </a:r>
          </a:p>
        </p:txBody>
      </p:sp>
      <p:sp>
        <p:nvSpPr>
          <p:cNvPr id="13" name="text-12">
            <a:extLst>
              <a:ext uri="{FF2B5EF4-FFF2-40B4-BE49-F238E27FC236}">
                <a16:creationId xmlns:a16="http://schemas.microsoft.com/office/drawing/2014/main" id="{97980610-B2E7-4BFF-ACA0-2C7D3F803D5F}"/>
              </a:ext>
            </a:extLst>
          </p:cNvPr>
          <p:cNvSpPr>
            <a:spLocks noGrp="1"/>
          </p:cNvSpPr>
          <p:nvPr/>
        </p:nvSpPr>
        <p:spPr>
          <a:xfrm>
            <a:off x="6191250" y="255270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Automatic route fraction; resolution proxy only.</a:t>
            </a:r>
          </a:p>
        </p:txBody>
      </p:sp>
      <p:sp>
        <p:nvSpPr>
          <p:cNvPr id="14" name="shape-13">
            <a:extLst>
              <a:ext uri="{FF2B5EF4-FFF2-40B4-BE49-F238E27FC236}">
                <a16:creationId xmlns:a16="http://schemas.microsoft.com/office/drawing/2014/main" id="{C35B652C-7244-4F8B-89D7-75E628453843}"/>
              </a:ext>
            </a:extLst>
          </p:cNvPr>
          <p:cNvSpPr>
            <a:spLocks noGrp="1"/>
          </p:cNvSpPr>
          <p:nvPr/>
        </p:nvSpPr>
        <p:spPr>
          <a:xfrm>
            <a:off x="609600" y="2952750"/>
            <a:ext cx="10972800" cy="9525"/>
          </a:xfrm>
          <a:prstGeom prst="rect">
            <a:avLst/>
          </a:prstGeom>
          <a:solidFill>
            <a:srgbClr val="CDD3D2"/>
          </a:solidFill>
        </p:spPr>
      </p:sp>
      <p:sp>
        <p:nvSpPr>
          <p:cNvPr id="15" name="text-14">
            <a:extLst>
              <a:ext uri="{FF2B5EF4-FFF2-40B4-BE49-F238E27FC236}">
                <a16:creationId xmlns:a16="http://schemas.microsoft.com/office/drawing/2014/main" id="{3EA5C3C3-4B90-42B9-9763-049E2BC95228}"/>
              </a:ext>
            </a:extLst>
          </p:cNvPr>
          <p:cNvSpPr>
            <a:spLocks noGrp="1"/>
          </p:cNvSpPr>
          <p:nvPr/>
        </p:nvSpPr>
        <p:spPr>
          <a:xfrm>
            <a:off x="723900" y="306705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Escalation</a:t>
            </a:r>
          </a:p>
        </p:txBody>
      </p:sp>
      <p:sp>
        <p:nvSpPr>
          <p:cNvPr id="16" name="text-15">
            <a:extLst>
              <a:ext uri="{FF2B5EF4-FFF2-40B4-BE49-F238E27FC236}">
                <a16:creationId xmlns:a16="http://schemas.microsoft.com/office/drawing/2014/main" id="{97802E63-62D7-4E84-97E0-C35C681671EC}"/>
              </a:ext>
            </a:extLst>
          </p:cNvPr>
          <p:cNvSpPr>
            <a:spLocks noGrp="1"/>
          </p:cNvSpPr>
          <p:nvPr/>
        </p:nvSpPr>
        <p:spPr>
          <a:xfrm>
            <a:off x="3343275" y="306705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24 / 80</a:t>
            </a:r>
          </a:p>
        </p:txBody>
      </p:sp>
      <p:sp>
        <p:nvSpPr>
          <p:cNvPr id="17" name="text-16">
            <a:extLst>
              <a:ext uri="{FF2B5EF4-FFF2-40B4-BE49-F238E27FC236}">
                <a16:creationId xmlns:a16="http://schemas.microsoft.com/office/drawing/2014/main" id="{2188EEA1-5F34-46BF-B032-8E9DCB8D1403}"/>
              </a:ext>
            </a:extLst>
          </p:cNvPr>
          <p:cNvSpPr>
            <a:spLocks noGrp="1"/>
          </p:cNvSpPr>
          <p:nvPr/>
        </p:nvSpPr>
        <p:spPr>
          <a:xfrm>
            <a:off x="6191250" y="306705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Final escalation route fraction.</a:t>
            </a:r>
          </a:p>
        </p:txBody>
      </p:sp>
      <p:sp>
        <p:nvSpPr>
          <p:cNvPr id="18" name="shape-17">
            <a:extLst>
              <a:ext uri="{FF2B5EF4-FFF2-40B4-BE49-F238E27FC236}">
                <a16:creationId xmlns:a16="http://schemas.microsoft.com/office/drawing/2014/main" id="{1A90D1C8-2420-4EA8-89DB-1361170B95C1}"/>
              </a:ext>
            </a:extLst>
          </p:cNvPr>
          <p:cNvSpPr>
            <a:spLocks noGrp="1"/>
          </p:cNvSpPr>
          <p:nvPr/>
        </p:nvSpPr>
        <p:spPr>
          <a:xfrm>
            <a:off x="609600" y="3467100"/>
            <a:ext cx="10972800" cy="9525"/>
          </a:xfrm>
          <a:prstGeom prst="rect">
            <a:avLst/>
          </a:prstGeom>
          <a:solidFill>
            <a:srgbClr val="CDD3D2"/>
          </a:solidFill>
        </p:spPr>
      </p:sp>
      <p:sp>
        <p:nvSpPr>
          <p:cNvPr id="19" name="text-18">
            <a:extLst>
              <a:ext uri="{FF2B5EF4-FFF2-40B4-BE49-F238E27FC236}">
                <a16:creationId xmlns:a16="http://schemas.microsoft.com/office/drawing/2014/main" id="{EB29B404-A61E-4E30-AF38-3791D7B4C191}"/>
              </a:ext>
            </a:extLst>
          </p:cNvPr>
          <p:cNvSpPr>
            <a:spLocks noGrp="1"/>
          </p:cNvSpPr>
          <p:nvPr/>
        </p:nvSpPr>
        <p:spPr>
          <a:xfrm>
            <a:off x="723900" y="358140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Intent accuracy</a:t>
            </a:r>
          </a:p>
        </p:txBody>
      </p:sp>
      <p:sp>
        <p:nvSpPr>
          <p:cNvPr id="20" name="text-19">
            <a:extLst>
              <a:ext uri="{FF2B5EF4-FFF2-40B4-BE49-F238E27FC236}">
                <a16:creationId xmlns:a16="http://schemas.microsoft.com/office/drawing/2014/main" id="{10F4FC2D-F2E5-4384-A008-04ED121CC9E1}"/>
              </a:ext>
            </a:extLst>
          </p:cNvPr>
          <p:cNvSpPr>
            <a:spLocks noGrp="1"/>
          </p:cNvSpPr>
          <p:nvPr/>
        </p:nvSpPr>
        <p:spPr>
          <a:xfrm>
            <a:off x="3343275" y="358140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68 / 80</a:t>
            </a:r>
          </a:p>
        </p:txBody>
      </p:sp>
      <p:sp>
        <p:nvSpPr>
          <p:cNvPr id="21" name="text-20">
            <a:extLst>
              <a:ext uri="{FF2B5EF4-FFF2-40B4-BE49-F238E27FC236}">
                <a16:creationId xmlns:a16="http://schemas.microsoft.com/office/drawing/2014/main" id="{C151EE76-0E85-42ED-AC3B-9AC0FEF7C46B}"/>
              </a:ext>
            </a:extLst>
          </p:cNvPr>
          <p:cNvSpPr>
            <a:spLocks noGrp="1"/>
          </p:cNvSpPr>
          <p:nvPr/>
        </p:nvSpPr>
        <p:spPr>
          <a:xfrm>
            <a:off x="6191250" y="358140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85%; distinct from weighted precision of 88.51%.</a:t>
            </a:r>
          </a:p>
        </p:txBody>
      </p:sp>
      <p:sp>
        <p:nvSpPr>
          <p:cNvPr id="22" name="shape-21">
            <a:extLst>
              <a:ext uri="{FF2B5EF4-FFF2-40B4-BE49-F238E27FC236}">
                <a16:creationId xmlns:a16="http://schemas.microsoft.com/office/drawing/2014/main" id="{49900B0A-CAB1-4C50-A625-A07C3355A430}"/>
              </a:ext>
            </a:extLst>
          </p:cNvPr>
          <p:cNvSpPr>
            <a:spLocks noGrp="1"/>
          </p:cNvSpPr>
          <p:nvPr/>
        </p:nvSpPr>
        <p:spPr>
          <a:xfrm>
            <a:off x="609600" y="3981450"/>
            <a:ext cx="10972800" cy="9525"/>
          </a:xfrm>
          <a:prstGeom prst="rect">
            <a:avLst/>
          </a:prstGeom>
          <a:solidFill>
            <a:srgbClr val="CDD3D2"/>
          </a:solidFill>
        </p:spPr>
      </p:sp>
      <p:sp>
        <p:nvSpPr>
          <p:cNvPr id="23" name="text-22">
            <a:extLst>
              <a:ext uri="{FF2B5EF4-FFF2-40B4-BE49-F238E27FC236}">
                <a16:creationId xmlns:a16="http://schemas.microsoft.com/office/drawing/2014/main" id="{7D16028D-8DA7-4FE1-B3D6-EF45D7A64F8D}"/>
              </a:ext>
            </a:extLst>
          </p:cNvPr>
          <p:cNvSpPr>
            <a:spLocks noGrp="1"/>
          </p:cNvSpPr>
          <p:nvPr/>
        </p:nvSpPr>
        <p:spPr>
          <a:xfrm>
            <a:off x="723900" y="409575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Retrieval hit rate</a:t>
            </a:r>
          </a:p>
        </p:txBody>
      </p:sp>
      <p:sp>
        <p:nvSpPr>
          <p:cNvPr id="24" name="text-23">
            <a:extLst>
              <a:ext uri="{FF2B5EF4-FFF2-40B4-BE49-F238E27FC236}">
                <a16:creationId xmlns:a16="http://schemas.microsoft.com/office/drawing/2014/main" id="{9FF4AEE8-23BA-4060-B544-DA6139323B48}"/>
              </a:ext>
            </a:extLst>
          </p:cNvPr>
          <p:cNvSpPr>
            <a:spLocks noGrp="1"/>
          </p:cNvSpPr>
          <p:nvPr/>
        </p:nvSpPr>
        <p:spPr>
          <a:xfrm>
            <a:off x="3343275" y="409575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51 / 53</a:t>
            </a:r>
          </a:p>
        </p:txBody>
      </p:sp>
      <p:sp>
        <p:nvSpPr>
          <p:cNvPr id="25" name="text-24">
            <a:extLst>
              <a:ext uri="{FF2B5EF4-FFF2-40B4-BE49-F238E27FC236}">
                <a16:creationId xmlns:a16="http://schemas.microsoft.com/office/drawing/2014/main" id="{231D0B1F-117E-469C-B180-79435FFD0EBE}"/>
              </a:ext>
            </a:extLst>
          </p:cNvPr>
          <p:cNvSpPr>
            <a:spLocks noGrp="1"/>
          </p:cNvSpPr>
          <p:nvPr/>
        </p:nvSpPr>
        <p:spPr>
          <a:xfrm>
            <a:off x="6191250" y="409575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96.23%; denominator is KB-answerable validation tickets.</a:t>
            </a:r>
          </a:p>
        </p:txBody>
      </p:sp>
      <p:sp>
        <p:nvSpPr>
          <p:cNvPr id="26" name="shape-25">
            <a:extLst>
              <a:ext uri="{FF2B5EF4-FFF2-40B4-BE49-F238E27FC236}">
                <a16:creationId xmlns:a16="http://schemas.microsoft.com/office/drawing/2014/main" id="{DCC93FD3-2640-461E-BA69-9CAEC20B8AD2}"/>
              </a:ext>
            </a:extLst>
          </p:cNvPr>
          <p:cNvSpPr>
            <a:spLocks noGrp="1"/>
          </p:cNvSpPr>
          <p:nvPr/>
        </p:nvSpPr>
        <p:spPr>
          <a:xfrm>
            <a:off x="609600" y="4495800"/>
            <a:ext cx="10972800" cy="9525"/>
          </a:xfrm>
          <a:prstGeom prst="rect">
            <a:avLst/>
          </a:prstGeom>
          <a:solidFill>
            <a:srgbClr val="CDD3D2"/>
          </a:solidFill>
        </p:spPr>
      </p:sp>
      <p:sp>
        <p:nvSpPr>
          <p:cNvPr id="27" name="text-26">
            <a:extLst>
              <a:ext uri="{FF2B5EF4-FFF2-40B4-BE49-F238E27FC236}">
                <a16:creationId xmlns:a16="http://schemas.microsoft.com/office/drawing/2014/main" id="{04303C33-0A7A-4F99-ABC2-9E8A297CA4F0}"/>
              </a:ext>
            </a:extLst>
          </p:cNvPr>
          <p:cNvSpPr>
            <a:spLocks noGrp="1"/>
          </p:cNvSpPr>
          <p:nvPr/>
        </p:nvSpPr>
        <p:spPr>
          <a:xfrm>
            <a:off x="723900" y="461010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Citation ID validity</a:t>
            </a:r>
          </a:p>
        </p:txBody>
      </p:sp>
      <p:sp>
        <p:nvSpPr>
          <p:cNvPr id="28" name="text-27">
            <a:extLst>
              <a:ext uri="{FF2B5EF4-FFF2-40B4-BE49-F238E27FC236}">
                <a16:creationId xmlns:a16="http://schemas.microsoft.com/office/drawing/2014/main" id="{47724FAF-37EB-4D73-9870-FC5327ED583A}"/>
              </a:ext>
            </a:extLst>
          </p:cNvPr>
          <p:cNvSpPr>
            <a:spLocks noGrp="1"/>
          </p:cNvSpPr>
          <p:nvPr/>
        </p:nvSpPr>
        <p:spPr>
          <a:xfrm>
            <a:off x="3343275" y="461010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130 / 130</a:t>
            </a:r>
          </a:p>
        </p:txBody>
      </p:sp>
      <p:sp>
        <p:nvSpPr>
          <p:cNvPr id="29" name="text-28">
            <a:extLst>
              <a:ext uri="{FF2B5EF4-FFF2-40B4-BE49-F238E27FC236}">
                <a16:creationId xmlns:a16="http://schemas.microsoft.com/office/drawing/2014/main" id="{EB6259C4-403A-4917-84E3-F1CD66BDEDAA}"/>
              </a:ext>
            </a:extLst>
          </p:cNvPr>
          <p:cNvSpPr>
            <a:spLocks noGrp="1"/>
          </p:cNvSpPr>
          <p:nvPr/>
        </p:nvSpPr>
        <p:spPr>
          <a:xfrm>
            <a:off x="6191250" y="461010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Citation occurrences with recognised IDs, not unique documents.</a:t>
            </a:r>
          </a:p>
        </p:txBody>
      </p:sp>
      <p:sp>
        <p:nvSpPr>
          <p:cNvPr id="30" name="shape-29">
            <a:extLst>
              <a:ext uri="{FF2B5EF4-FFF2-40B4-BE49-F238E27FC236}">
                <a16:creationId xmlns:a16="http://schemas.microsoft.com/office/drawing/2014/main" id="{A78D5D55-6D1C-48A2-9189-F6A8172B19EB}"/>
              </a:ext>
            </a:extLst>
          </p:cNvPr>
          <p:cNvSpPr>
            <a:spLocks noGrp="1"/>
          </p:cNvSpPr>
          <p:nvPr/>
        </p:nvSpPr>
        <p:spPr>
          <a:xfrm>
            <a:off x="609600" y="5010150"/>
            <a:ext cx="10972800" cy="9525"/>
          </a:xfrm>
          <a:prstGeom prst="rect">
            <a:avLst/>
          </a:prstGeom>
          <a:solidFill>
            <a:srgbClr val="CDD3D2"/>
          </a:solidFill>
        </p:spPr>
      </p:sp>
      <p:sp>
        <p:nvSpPr>
          <p:cNvPr id="31" name="text-30">
            <a:extLst>
              <a:ext uri="{FF2B5EF4-FFF2-40B4-BE49-F238E27FC236}">
                <a16:creationId xmlns:a16="http://schemas.microsoft.com/office/drawing/2014/main" id="{C3BB07C4-9914-4310-8340-24BCCA4D6289}"/>
              </a:ext>
            </a:extLst>
          </p:cNvPr>
          <p:cNvSpPr>
            <a:spLocks noGrp="1"/>
          </p:cNvSpPr>
          <p:nvPr/>
        </p:nvSpPr>
        <p:spPr>
          <a:xfrm>
            <a:off x="723900" y="512445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Must-not-auto violations</a:t>
            </a:r>
          </a:p>
        </p:txBody>
      </p:sp>
      <p:sp>
        <p:nvSpPr>
          <p:cNvPr id="32" name="text-31">
            <a:extLst>
              <a:ext uri="{FF2B5EF4-FFF2-40B4-BE49-F238E27FC236}">
                <a16:creationId xmlns:a16="http://schemas.microsoft.com/office/drawing/2014/main" id="{3E5D06D9-B9A3-4DF3-8692-6D9E11A8C93C}"/>
              </a:ext>
            </a:extLst>
          </p:cNvPr>
          <p:cNvSpPr>
            <a:spLocks noGrp="1"/>
          </p:cNvSpPr>
          <p:nvPr/>
        </p:nvSpPr>
        <p:spPr>
          <a:xfrm>
            <a:off x="3343275" y="512445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0 / 14</a:t>
            </a:r>
          </a:p>
        </p:txBody>
      </p:sp>
      <p:sp>
        <p:nvSpPr>
          <p:cNvPr id="33" name="text-32">
            <a:extLst>
              <a:ext uri="{FF2B5EF4-FFF2-40B4-BE49-F238E27FC236}">
                <a16:creationId xmlns:a16="http://schemas.microsoft.com/office/drawing/2014/main" id="{C70C8107-786A-4B62-A738-E1C1FD56A144}"/>
              </a:ext>
            </a:extLst>
          </p:cNvPr>
          <p:cNvSpPr>
            <a:spLocks noGrp="1"/>
          </p:cNvSpPr>
          <p:nvPr/>
        </p:nvSpPr>
        <p:spPr>
          <a:xfrm>
            <a:off x="6191250" y="512445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Labelled prohibition cases; not proof for all future tickets.</a:t>
            </a:r>
          </a:p>
        </p:txBody>
      </p:sp>
      <p:sp>
        <p:nvSpPr>
          <p:cNvPr id="34" name="shape-33">
            <a:extLst>
              <a:ext uri="{FF2B5EF4-FFF2-40B4-BE49-F238E27FC236}">
                <a16:creationId xmlns:a16="http://schemas.microsoft.com/office/drawing/2014/main" id="{B98791BC-5280-4E38-9E34-D97ECEAC45DD}"/>
              </a:ext>
            </a:extLst>
          </p:cNvPr>
          <p:cNvSpPr>
            <a:spLocks noGrp="1"/>
          </p:cNvSpPr>
          <p:nvPr/>
        </p:nvSpPr>
        <p:spPr>
          <a:xfrm>
            <a:off x="609600" y="5524500"/>
            <a:ext cx="10972800" cy="9525"/>
          </a:xfrm>
          <a:prstGeom prst="rect">
            <a:avLst/>
          </a:prstGeom>
          <a:solidFill>
            <a:srgbClr val="CDD3D2"/>
          </a:solidFill>
        </p:spPr>
      </p:sp>
      <p:sp>
        <p:nvSpPr>
          <p:cNvPr id="35" name="text-34">
            <a:extLst>
              <a:ext uri="{FF2B5EF4-FFF2-40B4-BE49-F238E27FC236}">
                <a16:creationId xmlns:a16="http://schemas.microsoft.com/office/drawing/2014/main" id="{58A7F8AA-5A93-4028-B430-59CA7E9A530A}"/>
              </a:ext>
            </a:extLst>
          </p:cNvPr>
          <p:cNvSpPr>
            <a:spLocks noGrp="1"/>
          </p:cNvSpPr>
          <p:nvPr/>
        </p:nvSpPr>
        <p:spPr>
          <a:xfrm>
            <a:off x="723900" y="5638800"/>
            <a:ext cx="2390775" cy="361950"/>
          </a:xfrm>
          <a:prstGeom prst="rect">
            <a:avLst/>
          </a:prstGeom>
        </p:spPr>
        <p:txBody>
          <a:bodyPr wrap="square" lIns="0" tIns="0" rIns="0" bIns="0" anchor="t"/>
          <a:lstStyle/>
          <a:p>
            <a:pPr>
              <a:defRPr sz="1425" b="1">
                <a:solidFill>
                  <a:srgbClr val="173047"/>
                </a:solidFill>
                <a:latin typeface="Arial"/>
                <a:ea typeface="Arial"/>
                <a:cs typeface="Arial"/>
              </a:defRPr>
            </a:pPr>
            <a:r>
              <a:t>P95 processing</a:t>
            </a:r>
          </a:p>
        </p:txBody>
      </p:sp>
      <p:sp>
        <p:nvSpPr>
          <p:cNvPr id="36" name="text-35">
            <a:extLst>
              <a:ext uri="{FF2B5EF4-FFF2-40B4-BE49-F238E27FC236}">
                <a16:creationId xmlns:a16="http://schemas.microsoft.com/office/drawing/2014/main" id="{8F8CBE77-BAD6-4FD5-A073-91B2F59EF559}"/>
              </a:ext>
            </a:extLst>
          </p:cNvPr>
          <p:cNvSpPr>
            <a:spLocks noGrp="1"/>
          </p:cNvSpPr>
          <p:nvPr/>
        </p:nvSpPr>
        <p:spPr>
          <a:xfrm>
            <a:off x="3343275" y="5638800"/>
            <a:ext cx="2619375" cy="361950"/>
          </a:xfrm>
          <a:prstGeom prst="rect">
            <a:avLst/>
          </a:prstGeom>
        </p:spPr>
        <p:txBody>
          <a:bodyPr wrap="square" lIns="0" tIns="0" rIns="0" bIns="0" anchor="t"/>
          <a:lstStyle/>
          <a:p>
            <a:pPr>
              <a:defRPr sz="1425" b="0">
                <a:solidFill>
                  <a:srgbClr val="546573"/>
                </a:solidFill>
                <a:latin typeface="Arial"/>
                <a:ea typeface="Arial"/>
                <a:cs typeface="Arial"/>
              </a:defRPr>
            </a:pPr>
            <a:r>
              <a:t>76th of 80 sorted durations</a:t>
            </a:r>
          </a:p>
        </p:txBody>
      </p:sp>
      <p:sp>
        <p:nvSpPr>
          <p:cNvPr id="37" name="text-36">
            <a:extLst>
              <a:ext uri="{FF2B5EF4-FFF2-40B4-BE49-F238E27FC236}">
                <a16:creationId xmlns:a16="http://schemas.microsoft.com/office/drawing/2014/main" id="{5BA39230-26E0-4113-A0E2-6BAC84801B79}"/>
              </a:ext>
            </a:extLst>
          </p:cNvPr>
          <p:cNvSpPr>
            <a:spLocks noGrp="1"/>
          </p:cNvSpPr>
          <p:nvPr/>
        </p:nvSpPr>
        <p:spPr>
          <a:xfrm>
            <a:off x="6191250" y="5638800"/>
            <a:ext cx="5276850" cy="361950"/>
          </a:xfrm>
          <a:prstGeom prst="rect">
            <a:avLst/>
          </a:prstGeom>
        </p:spPr>
        <p:txBody>
          <a:bodyPr wrap="square" lIns="0" tIns="0" rIns="0" bIns="0" anchor="t"/>
          <a:lstStyle/>
          <a:p>
            <a:pPr>
              <a:defRPr sz="1425" b="0">
                <a:solidFill>
                  <a:srgbClr val="546573"/>
                </a:solidFill>
                <a:latin typeface="Arial"/>
                <a:ea typeface="Arial"/>
                <a:cs typeface="Arial"/>
              </a:defRPr>
            </a:pPr>
            <a:r>
              <a:t>Nearest-rank; saved all-ticket value is 12.287 seconds.</a:t>
            </a:r>
          </a:p>
        </p:txBody>
      </p:sp>
      <p:sp>
        <p:nvSpPr>
          <p:cNvPr id="38" name="shape-37">
            <a:extLst>
              <a:ext uri="{FF2B5EF4-FFF2-40B4-BE49-F238E27FC236}">
                <a16:creationId xmlns:a16="http://schemas.microsoft.com/office/drawing/2014/main" id="{92B8DC23-199E-4CE1-869C-0B59926203DC}"/>
              </a:ext>
            </a:extLst>
          </p:cNvPr>
          <p:cNvSpPr>
            <a:spLocks noGrp="1"/>
          </p:cNvSpPr>
          <p:nvPr/>
        </p:nvSpPr>
        <p:spPr>
          <a:xfrm>
            <a:off x="609600" y="6038850"/>
            <a:ext cx="10972800" cy="9525"/>
          </a:xfrm>
          <a:prstGeom prst="rect">
            <a:avLst/>
          </a:prstGeom>
          <a:solidFill>
            <a:srgbClr val="CDD3D2"/>
          </a:solidFill>
        </p:spPr>
      </p:sp>
    </p:spTree>
    <p:extLst>
      <p:ext uri="{BB962C8B-B14F-4D97-AF65-F5344CB8AC3E}">
        <p14:creationId xmlns:p14="http://schemas.microsoft.com/office/powerpoint/2010/main" val="990677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16" name="kicker-marker">
            <a:extLst>
              <a:ext uri="{FF2B5EF4-FFF2-40B4-BE49-F238E27FC236}">
                <a16:creationId xmlns:a16="http://schemas.microsoft.com/office/drawing/2014/main" id="{29CA8ACA-F154-49CC-97ED-164674BB3A04}"/>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16B94049-20AA-41FD-990B-C9A42E1879DB}"/>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APPENDIX · DEMO CHEAT SHEET</a:t>
            </a:r>
          </a:p>
        </p:txBody>
      </p:sp>
      <p:sp>
        <p:nvSpPr>
          <p:cNvPr id="3" name="text-2">
            <a:extLst>
              <a:ext uri="{FF2B5EF4-FFF2-40B4-BE49-F238E27FC236}">
                <a16:creationId xmlns:a16="http://schemas.microsoft.com/office/drawing/2014/main" id="{09455BB9-32C6-486A-B21A-8E6A3A1D21DF}"/>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Keep the demo repeatable</a:t>
            </a:r>
          </a:p>
          <a:p>
            <a:pPr>
              <a:defRPr sz="3150" b="0">
                <a:solidFill>
                  <a:srgbClr val="173047"/>
                </a:solidFill>
                <a:latin typeface="Georgia"/>
                <a:ea typeface="Georgia"/>
                <a:cs typeface="Georgia"/>
              </a:defRPr>
            </a:pPr>
            <a:r>
              <a:t>and preserve the saved evidence</a:t>
            </a:r>
          </a:p>
        </p:txBody>
      </p:sp>
      <p:sp>
        <p:nvSpPr>
          <p:cNvPr id="4" name="shape-3">
            <a:extLst>
              <a:ext uri="{FF2B5EF4-FFF2-40B4-BE49-F238E27FC236}">
                <a16:creationId xmlns:a16="http://schemas.microsoft.com/office/drawing/2014/main" id="{3CE4875F-D906-4744-B269-4AF1AE3B7E4F}"/>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0AB18105-21C7-485F-B604-589F99844EAC}"/>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README.md · run from repository root; use an existing configured environment</a:t>
            </a:r>
          </a:p>
        </p:txBody>
      </p:sp>
      <p:sp>
        <p:nvSpPr>
          <p:cNvPr id="6" name="text-5">
            <a:extLst>
              <a:ext uri="{FF2B5EF4-FFF2-40B4-BE49-F238E27FC236}">
                <a16:creationId xmlns:a16="http://schemas.microsoft.com/office/drawing/2014/main" id="{FADB5E1F-0FEA-43B5-B8BE-3EE849EF7D0F}"/>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29</a:t>
            </a:r>
          </a:p>
        </p:txBody>
      </p:sp>
      <p:sp>
        <p:nvSpPr>
          <p:cNvPr id="7" name="text-6">
            <a:extLst>
              <a:ext uri="{FF2B5EF4-FFF2-40B4-BE49-F238E27FC236}">
                <a16:creationId xmlns:a16="http://schemas.microsoft.com/office/drawing/2014/main" id="{5E775D1D-DEBD-455E-BF68-5A77210116EF}"/>
              </a:ext>
            </a:extLst>
          </p:cNvPr>
          <p:cNvSpPr>
            <a:spLocks noGrp="1"/>
          </p:cNvSpPr>
          <p:nvPr/>
        </p:nvSpPr>
        <p:spPr>
          <a:xfrm>
            <a:off x="609600" y="2076450"/>
            <a:ext cx="10953750" cy="228600"/>
          </a:xfrm>
          <a:prstGeom prst="rect">
            <a:avLst/>
          </a:prstGeom>
        </p:spPr>
        <p:txBody>
          <a:bodyPr wrap="square" lIns="0" tIns="0" rIns="0" bIns="0" anchor="t"/>
          <a:lstStyle/>
          <a:p>
            <a:pPr>
              <a:defRPr sz="975" b="1">
                <a:solidFill>
                  <a:srgbClr val="00766B"/>
                </a:solidFill>
                <a:latin typeface="Arial"/>
                <a:ea typeface="Arial"/>
                <a:cs typeface="Arial"/>
              </a:defRPr>
            </a:pPr>
            <a:r>
              <a:t>1 · INDEX THE KB</a:t>
            </a:r>
          </a:p>
        </p:txBody>
      </p:sp>
      <p:sp>
        <p:nvSpPr>
          <p:cNvPr id="8" name="shape-7">
            <a:extLst>
              <a:ext uri="{FF2B5EF4-FFF2-40B4-BE49-F238E27FC236}">
                <a16:creationId xmlns:a16="http://schemas.microsoft.com/office/drawing/2014/main" id="{B4C65136-6404-4CAF-A7F5-76ECC4DE8C8F}"/>
              </a:ext>
            </a:extLst>
          </p:cNvPr>
          <p:cNvSpPr>
            <a:spLocks noGrp="1"/>
          </p:cNvSpPr>
          <p:nvPr/>
        </p:nvSpPr>
        <p:spPr>
          <a:xfrm>
            <a:off x="609600" y="2428875"/>
            <a:ext cx="10972800" cy="619125"/>
          </a:xfrm>
          <a:prstGeom prst="rect">
            <a:avLst/>
          </a:prstGeom>
          <a:solidFill>
            <a:srgbClr val="173047"/>
          </a:solidFill>
        </p:spPr>
      </p:sp>
      <p:sp>
        <p:nvSpPr>
          <p:cNvPr id="9" name="text-8">
            <a:extLst>
              <a:ext uri="{FF2B5EF4-FFF2-40B4-BE49-F238E27FC236}">
                <a16:creationId xmlns:a16="http://schemas.microsoft.com/office/drawing/2014/main" id="{D63E4FC9-33FD-4E44-A6DE-1112ED2342DE}"/>
              </a:ext>
            </a:extLst>
          </p:cNvPr>
          <p:cNvSpPr>
            <a:spLocks noGrp="1"/>
          </p:cNvSpPr>
          <p:nvPr/>
        </p:nvSpPr>
        <p:spPr>
          <a:xfrm>
            <a:off x="800100" y="2590800"/>
            <a:ext cx="10591800" cy="361950"/>
          </a:xfrm>
          <a:prstGeom prst="rect">
            <a:avLst/>
          </a:prstGeom>
        </p:spPr>
        <p:txBody>
          <a:bodyPr wrap="square" lIns="0" tIns="0" rIns="0" bIns="0" anchor="t"/>
          <a:lstStyle/>
          <a:p>
            <a:pPr>
              <a:defRPr sz="1575" b="0">
                <a:solidFill>
                  <a:srgbClr val="FFFFFF"/>
                </a:solidFill>
                <a:latin typeface="Consolas"/>
                <a:ea typeface="Consolas"/>
                <a:cs typeface="Consolas"/>
              </a:defRPr>
            </a:pPr>
            <a:r>
              <a:t>uv run python -m src.retrieve --index</a:t>
            </a:r>
          </a:p>
        </p:txBody>
      </p:sp>
      <p:sp>
        <p:nvSpPr>
          <p:cNvPr id="10" name="text-9">
            <a:extLst>
              <a:ext uri="{FF2B5EF4-FFF2-40B4-BE49-F238E27FC236}">
                <a16:creationId xmlns:a16="http://schemas.microsoft.com/office/drawing/2014/main" id="{5E6BF478-E3D0-4E95-AE42-067DF38D228A}"/>
              </a:ext>
            </a:extLst>
          </p:cNvPr>
          <p:cNvSpPr>
            <a:spLocks noGrp="1"/>
          </p:cNvSpPr>
          <p:nvPr/>
        </p:nvSpPr>
        <p:spPr>
          <a:xfrm>
            <a:off x="609600" y="3248025"/>
            <a:ext cx="10953750" cy="228600"/>
          </a:xfrm>
          <a:prstGeom prst="rect">
            <a:avLst/>
          </a:prstGeom>
        </p:spPr>
        <p:txBody>
          <a:bodyPr wrap="square" lIns="0" tIns="0" rIns="0" bIns="0" anchor="t"/>
          <a:lstStyle/>
          <a:p>
            <a:pPr>
              <a:defRPr sz="975" b="1">
                <a:solidFill>
                  <a:srgbClr val="00766B"/>
                </a:solidFill>
                <a:latin typeface="Arial"/>
                <a:ea typeface="Arial"/>
                <a:cs typeface="Arial"/>
              </a:defRPr>
            </a:pPr>
            <a:r>
              <a:t>2 · START THE SERVICE</a:t>
            </a:r>
          </a:p>
        </p:txBody>
      </p:sp>
      <p:sp>
        <p:nvSpPr>
          <p:cNvPr id="11" name="shape-10">
            <a:extLst>
              <a:ext uri="{FF2B5EF4-FFF2-40B4-BE49-F238E27FC236}">
                <a16:creationId xmlns:a16="http://schemas.microsoft.com/office/drawing/2014/main" id="{66462C92-F0D0-430F-857D-08006D187E88}"/>
              </a:ext>
            </a:extLst>
          </p:cNvPr>
          <p:cNvSpPr>
            <a:spLocks noGrp="1"/>
          </p:cNvSpPr>
          <p:nvPr/>
        </p:nvSpPr>
        <p:spPr>
          <a:xfrm>
            <a:off x="609600" y="3600450"/>
            <a:ext cx="10972800" cy="619125"/>
          </a:xfrm>
          <a:prstGeom prst="rect">
            <a:avLst/>
          </a:prstGeom>
          <a:solidFill>
            <a:srgbClr val="173047"/>
          </a:solidFill>
        </p:spPr>
      </p:sp>
      <p:sp>
        <p:nvSpPr>
          <p:cNvPr id="12" name="text-11">
            <a:extLst>
              <a:ext uri="{FF2B5EF4-FFF2-40B4-BE49-F238E27FC236}">
                <a16:creationId xmlns:a16="http://schemas.microsoft.com/office/drawing/2014/main" id="{225FEADC-5D3F-4A52-967F-4F5AA71E0128}"/>
              </a:ext>
            </a:extLst>
          </p:cNvPr>
          <p:cNvSpPr>
            <a:spLocks noGrp="1"/>
          </p:cNvSpPr>
          <p:nvPr/>
        </p:nvSpPr>
        <p:spPr>
          <a:xfrm>
            <a:off x="800100" y="3762375"/>
            <a:ext cx="10591800" cy="361950"/>
          </a:xfrm>
          <a:prstGeom prst="rect">
            <a:avLst/>
          </a:prstGeom>
        </p:spPr>
        <p:txBody>
          <a:bodyPr wrap="square" lIns="0" tIns="0" rIns="0" bIns="0" anchor="t"/>
          <a:lstStyle/>
          <a:p>
            <a:pPr>
              <a:defRPr sz="1575" b="0">
                <a:solidFill>
                  <a:srgbClr val="FFFFFF"/>
                </a:solidFill>
                <a:latin typeface="Consolas"/>
                <a:ea typeface="Consolas"/>
                <a:cs typeface="Consolas"/>
              </a:defRPr>
            </a:pPr>
            <a:r>
              <a:t>uv run uvicorn src.api:app --host 127.0.0.1 --port 8000</a:t>
            </a:r>
          </a:p>
        </p:txBody>
      </p:sp>
      <p:sp>
        <p:nvSpPr>
          <p:cNvPr id="13" name="text-12">
            <a:extLst>
              <a:ext uri="{FF2B5EF4-FFF2-40B4-BE49-F238E27FC236}">
                <a16:creationId xmlns:a16="http://schemas.microsoft.com/office/drawing/2014/main" id="{EA1DF698-CFA9-4509-B88F-B3A5B71DB7B7}"/>
              </a:ext>
            </a:extLst>
          </p:cNvPr>
          <p:cNvSpPr>
            <a:spLocks noGrp="1"/>
          </p:cNvSpPr>
          <p:nvPr/>
        </p:nvSpPr>
        <p:spPr>
          <a:xfrm>
            <a:off x="609600" y="4419600"/>
            <a:ext cx="10953750" cy="228600"/>
          </a:xfrm>
          <a:prstGeom prst="rect">
            <a:avLst/>
          </a:prstGeom>
        </p:spPr>
        <p:txBody>
          <a:bodyPr wrap="square" lIns="0" tIns="0" rIns="0" bIns="0" anchor="t"/>
          <a:lstStyle/>
          <a:p>
            <a:pPr>
              <a:defRPr sz="975" b="1">
                <a:solidFill>
                  <a:srgbClr val="00766B"/>
                </a:solidFill>
                <a:latin typeface="Arial"/>
                <a:ea typeface="Arial"/>
                <a:cs typeface="Arial"/>
              </a:defRPr>
            </a:pPr>
            <a:r>
              <a:t>3 · EVALUATE WITHOUT OVERWRITING VALIDATION</a:t>
            </a:r>
          </a:p>
        </p:txBody>
      </p:sp>
      <p:sp>
        <p:nvSpPr>
          <p:cNvPr id="14" name="shape-13">
            <a:extLst>
              <a:ext uri="{FF2B5EF4-FFF2-40B4-BE49-F238E27FC236}">
                <a16:creationId xmlns:a16="http://schemas.microsoft.com/office/drawing/2014/main" id="{2FFDB6DA-C8D5-4A6B-9DEE-67A478323309}"/>
              </a:ext>
            </a:extLst>
          </p:cNvPr>
          <p:cNvSpPr>
            <a:spLocks noGrp="1"/>
          </p:cNvSpPr>
          <p:nvPr/>
        </p:nvSpPr>
        <p:spPr>
          <a:xfrm>
            <a:off x="609600" y="4772025"/>
            <a:ext cx="10972800" cy="876300"/>
          </a:xfrm>
          <a:prstGeom prst="rect">
            <a:avLst/>
          </a:prstGeom>
          <a:solidFill>
            <a:srgbClr val="173047"/>
          </a:solidFill>
        </p:spPr>
      </p:sp>
      <p:sp>
        <p:nvSpPr>
          <p:cNvPr id="15" name="text-14">
            <a:extLst>
              <a:ext uri="{FF2B5EF4-FFF2-40B4-BE49-F238E27FC236}">
                <a16:creationId xmlns:a16="http://schemas.microsoft.com/office/drawing/2014/main" id="{ADFF5B98-FE17-4655-9ABC-19088A702EBD}"/>
              </a:ext>
            </a:extLst>
          </p:cNvPr>
          <p:cNvSpPr>
            <a:spLocks noGrp="1"/>
          </p:cNvSpPr>
          <p:nvPr/>
        </p:nvSpPr>
        <p:spPr>
          <a:xfrm>
            <a:off x="800100" y="4933950"/>
            <a:ext cx="10591800" cy="666750"/>
          </a:xfrm>
          <a:prstGeom prst="rect">
            <a:avLst/>
          </a:prstGeom>
        </p:spPr>
        <p:txBody>
          <a:bodyPr wrap="square" lIns="0" tIns="0" rIns="0" bIns="0" anchor="t"/>
          <a:lstStyle/>
          <a:p>
            <a:pPr>
              <a:defRPr sz="1575" b="0">
                <a:solidFill>
                  <a:srgbClr val="FFFFFF"/>
                </a:solidFill>
                <a:latin typeface="Consolas"/>
                <a:ea typeface="Consolas"/>
                <a:cs typeface="Consolas"/>
              </a:defRPr>
            </a:pPr>
            <a:r>
              <a:t>uv run python -m evaluation.harness --input data/development_tickets.json `</a:t>
            </a:r>
          </a:p>
          <a:p>
            <a:pPr>
              <a:defRPr sz="1575" b="0">
                <a:solidFill>
                  <a:srgbClr val="FFFFFF"/>
                </a:solidFill>
                <a:latin typeface="Consolas"/>
                <a:ea typeface="Consolas"/>
                <a:cs typeface="Consolas"/>
              </a:defRPr>
            </a:pPr>
            <a:r>
              <a:t>  --offline --output evaluation/results/demo</a:t>
            </a:r>
          </a:p>
        </p:txBody>
      </p:sp>
    </p:spTree>
    <p:extLst>
      <p:ext uri="{BB962C8B-B14F-4D97-AF65-F5344CB8AC3E}">
        <p14:creationId xmlns:p14="http://schemas.microsoft.com/office/powerpoint/2010/main" val="1415455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18" name="kicker-marker">
            <a:extLst>
              <a:ext uri="{FF2B5EF4-FFF2-40B4-BE49-F238E27FC236}">
                <a16:creationId xmlns:a16="http://schemas.microsoft.com/office/drawing/2014/main" id="{188DFB0D-E4C7-44A3-B6D2-F1F254402BEF}"/>
              </a:ext>
            </a:extLst>
          </p:cNvPr>
          <p:cNvSpPr>
            <a:spLocks noGrp="1"/>
          </p:cNvSpPr>
          <p:nvPr/>
        </p:nvSpPr>
        <p:spPr>
          <a:xfrm>
            <a:off x="609600" y="419100"/>
            <a:ext cx="76200" cy="76200"/>
          </a:xfrm>
          <a:prstGeom prst="rect">
            <a:avLst/>
          </a:prstGeom>
          <a:solidFill>
            <a:srgbClr val="00766B"/>
          </a:solidFill>
        </p:spPr>
      </p:sp>
      <p:sp>
        <p:nvSpPr>
          <p:cNvPr id="2" name="kicker-label">
            <a:extLst>
              <a:ext uri="{FF2B5EF4-FFF2-40B4-BE49-F238E27FC236}">
                <a16:creationId xmlns:a16="http://schemas.microsoft.com/office/drawing/2014/main" id="{2A610AB8-8D95-4AA5-9281-4DE9592D1406}"/>
              </a:ext>
            </a:extLst>
          </p:cNvPr>
          <p:cNvSpPr>
            <a:spLocks noGrp="1"/>
          </p:cNvSpPr>
          <p:nvPr/>
        </p:nvSpPr>
        <p:spPr>
          <a:xfrm>
            <a:off x="819150" y="333375"/>
            <a:ext cx="10477500" cy="247650"/>
          </a:xfrm>
          <a:prstGeom prst="rect">
            <a:avLst/>
          </a:prstGeom>
        </p:spPr>
        <p:txBody>
          <a:bodyPr wrap="square" lIns="0" tIns="0" rIns="0" bIns="0" anchor="ctr"/>
          <a:lstStyle/>
          <a:p>
            <a:pPr>
              <a:defRPr sz="975" b="1">
                <a:solidFill>
                  <a:srgbClr val="00766B"/>
                </a:solidFill>
                <a:latin typeface="Arial"/>
                <a:ea typeface="Arial"/>
                <a:cs typeface="Arial"/>
              </a:defRPr>
            </a:pPr>
            <a:r>
              <a:t>APPENDIX · SOURCE MAP</a:t>
            </a:r>
          </a:p>
        </p:txBody>
      </p:sp>
      <p:sp>
        <p:nvSpPr>
          <p:cNvPr id="3" name="text-2">
            <a:extLst>
              <a:ext uri="{FF2B5EF4-FFF2-40B4-BE49-F238E27FC236}">
                <a16:creationId xmlns:a16="http://schemas.microsoft.com/office/drawing/2014/main" id="{FF83E9AF-D6FC-4F88-BC39-1693D89FEE24}"/>
              </a:ext>
            </a:extLst>
          </p:cNvPr>
          <p:cNvSpPr>
            <a:spLocks noGrp="1"/>
          </p:cNvSpPr>
          <p:nvPr/>
        </p:nvSpPr>
        <p:spPr>
          <a:xfrm>
            <a:off x="609600" y="762000"/>
            <a:ext cx="10953750" cy="1123950"/>
          </a:xfrm>
          <a:prstGeom prst="rect">
            <a:avLst/>
          </a:prstGeom>
        </p:spPr>
        <p:txBody>
          <a:bodyPr wrap="square" lIns="0" tIns="0" rIns="0" bIns="0" anchor="t"/>
          <a:lstStyle/>
          <a:p>
            <a:pPr>
              <a:defRPr sz="3150" b="0">
                <a:solidFill>
                  <a:srgbClr val="173047"/>
                </a:solidFill>
                <a:latin typeface="Georgia"/>
                <a:ea typeface="Georgia"/>
                <a:cs typeface="Georgia"/>
              </a:defRPr>
            </a:pPr>
            <a:r>
              <a:t>The narrative separates case evidence,</a:t>
            </a:r>
          </a:p>
          <a:p>
            <a:pPr>
              <a:defRPr sz="3150" b="0">
                <a:solidFill>
                  <a:srgbClr val="173047"/>
                </a:solidFill>
                <a:latin typeface="Georgia"/>
                <a:ea typeface="Georgia"/>
                <a:cs typeface="Georgia"/>
              </a:defRPr>
            </a:pPr>
            <a:r>
              <a:t>implementation and measured results</a:t>
            </a:r>
          </a:p>
        </p:txBody>
      </p:sp>
      <p:sp>
        <p:nvSpPr>
          <p:cNvPr id="4" name="shape-3">
            <a:extLst>
              <a:ext uri="{FF2B5EF4-FFF2-40B4-BE49-F238E27FC236}">
                <a16:creationId xmlns:a16="http://schemas.microsoft.com/office/drawing/2014/main" id="{A1391397-B81E-4D0A-B5FB-72DD65CCF551}"/>
              </a:ext>
            </a:extLst>
          </p:cNvPr>
          <p:cNvSpPr>
            <a:spLocks noGrp="1"/>
          </p:cNvSpPr>
          <p:nvPr/>
        </p:nvSpPr>
        <p:spPr>
          <a:xfrm>
            <a:off x="609600" y="6305550"/>
            <a:ext cx="10972800" cy="9525"/>
          </a:xfrm>
          <a:prstGeom prst="rect">
            <a:avLst/>
          </a:prstGeom>
          <a:solidFill>
            <a:srgbClr val="CDD3D2"/>
          </a:solidFill>
        </p:spPr>
      </p:sp>
      <p:sp>
        <p:nvSpPr>
          <p:cNvPr id="5" name="text-4">
            <a:extLst>
              <a:ext uri="{FF2B5EF4-FFF2-40B4-BE49-F238E27FC236}">
                <a16:creationId xmlns:a16="http://schemas.microsoft.com/office/drawing/2014/main" id="{8FAAA2AF-23F6-4F1D-B55A-BEC8B059316E}"/>
              </a:ext>
            </a:extLst>
          </p:cNvPr>
          <p:cNvSpPr>
            <a:spLocks noGrp="1"/>
          </p:cNvSpPr>
          <p:nvPr/>
        </p:nvSpPr>
        <p:spPr>
          <a:xfrm>
            <a:off x="609600" y="6448425"/>
            <a:ext cx="10429875" cy="266700"/>
          </a:xfrm>
          <a:prstGeom prst="rect">
            <a:avLst/>
          </a:prstGeom>
        </p:spPr>
        <p:txBody>
          <a:bodyPr wrap="square" lIns="0" tIns="0" rIns="0" bIns="0" anchor="t"/>
          <a:lstStyle/>
          <a:p>
            <a:pPr>
              <a:defRPr sz="750" b="0">
                <a:solidFill>
                  <a:srgbClr val="546573"/>
                </a:solidFill>
                <a:latin typeface="Arial"/>
                <a:ea typeface="Arial"/>
                <a:cs typeface="Arial"/>
              </a:defRPr>
            </a:pPr>
            <a:r>
              <a:t>All sources are local to this repository; no external assets or invented stakeholder approvals</a:t>
            </a:r>
          </a:p>
        </p:txBody>
      </p:sp>
      <p:sp>
        <p:nvSpPr>
          <p:cNvPr id="6" name="text-5">
            <a:extLst>
              <a:ext uri="{FF2B5EF4-FFF2-40B4-BE49-F238E27FC236}">
                <a16:creationId xmlns:a16="http://schemas.microsoft.com/office/drawing/2014/main" id="{BB804697-D4CF-4DA0-B283-40C9F2E6A946}"/>
              </a:ext>
            </a:extLst>
          </p:cNvPr>
          <p:cNvSpPr>
            <a:spLocks noGrp="1"/>
          </p:cNvSpPr>
          <p:nvPr/>
        </p:nvSpPr>
        <p:spPr>
          <a:xfrm>
            <a:off x="11191875" y="6419850"/>
            <a:ext cx="400050" cy="285750"/>
          </a:xfrm>
          <a:prstGeom prst="rect">
            <a:avLst/>
          </a:prstGeom>
        </p:spPr>
        <p:txBody>
          <a:bodyPr wrap="square" lIns="0" tIns="0" rIns="0" bIns="0" anchor="t"/>
          <a:lstStyle/>
          <a:p>
            <a:pPr>
              <a:defRPr sz="1275" b="1">
                <a:solidFill>
                  <a:srgbClr val="173047"/>
                </a:solidFill>
                <a:latin typeface="Arial"/>
                <a:ea typeface="Arial"/>
                <a:cs typeface="Arial"/>
              </a:defRPr>
            </a:pPr>
            <a:r>
              <a:t>30</a:t>
            </a:r>
          </a:p>
        </p:txBody>
      </p:sp>
      <p:sp>
        <p:nvSpPr>
          <p:cNvPr id="7" name="text-6">
            <a:extLst>
              <a:ext uri="{FF2B5EF4-FFF2-40B4-BE49-F238E27FC236}">
                <a16:creationId xmlns:a16="http://schemas.microsoft.com/office/drawing/2014/main" id="{32234660-1B9B-4664-B738-830C7A75C561}"/>
              </a:ext>
            </a:extLst>
          </p:cNvPr>
          <p:cNvSpPr>
            <a:spLocks noGrp="1"/>
          </p:cNvSpPr>
          <p:nvPr/>
        </p:nvSpPr>
        <p:spPr>
          <a:xfrm>
            <a:off x="609600" y="2143125"/>
            <a:ext cx="2647950" cy="228600"/>
          </a:xfrm>
          <a:prstGeom prst="rect">
            <a:avLst/>
          </a:prstGeom>
        </p:spPr>
        <p:txBody>
          <a:bodyPr wrap="square" lIns="0" tIns="0" rIns="0" bIns="0" anchor="t"/>
          <a:lstStyle/>
          <a:p>
            <a:pPr>
              <a:defRPr sz="975" b="1">
                <a:solidFill>
                  <a:srgbClr val="00766B"/>
                </a:solidFill>
                <a:latin typeface="Arial"/>
                <a:ea typeface="Arial"/>
                <a:cs typeface="Arial"/>
              </a:defRPr>
            </a:pPr>
            <a:r>
              <a:t>CASE &amp; DISCOVERY</a:t>
            </a:r>
          </a:p>
        </p:txBody>
      </p:sp>
      <p:sp>
        <p:nvSpPr>
          <p:cNvPr id="8" name="text-7">
            <a:extLst>
              <a:ext uri="{FF2B5EF4-FFF2-40B4-BE49-F238E27FC236}">
                <a16:creationId xmlns:a16="http://schemas.microsoft.com/office/drawing/2014/main" id="{82800D3F-F772-4DD2-8328-0D0F72EE9F0B}"/>
              </a:ext>
            </a:extLst>
          </p:cNvPr>
          <p:cNvSpPr>
            <a:spLocks noGrp="1"/>
          </p:cNvSpPr>
          <p:nvPr/>
        </p:nvSpPr>
        <p:spPr>
          <a:xfrm>
            <a:off x="3371850" y="2028825"/>
            <a:ext cx="8153400" cy="857250"/>
          </a:xfrm>
          <a:prstGeom prst="rect">
            <a:avLst/>
          </a:prstGeom>
        </p:spPr>
        <p:txBody>
          <a:bodyPr wrap="square" lIns="0" tIns="0" rIns="0" bIns="0" anchor="t"/>
          <a:lstStyle/>
          <a:p>
            <a:pPr>
              <a:defRPr sz="1425" b="0">
                <a:solidFill>
                  <a:srgbClr val="173047"/>
                </a:solidFill>
                <a:latin typeface="Consolas"/>
                <a:ea typeface="Consolas"/>
                <a:cs typeface="Consolas"/>
              </a:defRPr>
            </a:pPr>
            <a:r>
              <a:t>docs1/01_Read_First/01_Project_Brief.docx</a:t>
            </a:r>
          </a:p>
          <a:p>
            <a:pPr>
              <a:defRPr sz="1425" b="0">
                <a:solidFill>
                  <a:srgbClr val="173047"/>
                </a:solidFill>
                <a:latin typeface="Consolas"/>
                <a:ea typeface="Consolas"/>
                <a:cs typeface="Consolas"/>
              </a:defRPr>
            </a:pPr>
            <a:r>
              <a:t>docs1/05_Datasets/Stakeholder_Interviews.docx</a:t>
            </a:r>
          </a:p>
          <a:p>
            <a:pPr>
              <a:defRPr sz="1425" b="0">
                <a:solidFill>
                  <a:srgbClr val="173047"/>
                </a:solidFill>
                <a:latin typeface="Consolas"/>
                <a:ea typeface="Consolas"/>
                <a:cs typeface="Consolas"/>
              </a:defRPr>
            </a:pPr>
            <a:r>
              <a:t>data/development_tickets.json</a:t>
            </a:r>
          </a:p>
        </p:txBody>
      </p:sp>
      <p:sp>
        <p:nvSpPr>
          <p:cNvPr id="9" name="shape-8">
            <a:extLst>
              <a:ext uri="{FF2B5EF4-FFF2-40B4-BE49-F238E27FC236}">
                <a16:creationId xmlns:a16="http://schemas.microsoft.com/office/drawing/2014/main" id="{97E2F126-8235-466B-B2E5-BD8938CBE457}"/>
              </a:ext>
            </a:extLst>
          </p:cNvPr>
          <p:cNvSpPr>
            <a:spLocks noGrp="1"/>
          </p:cNvSpPr>
          <p:nvPr/>
        </p:nvSpPr>
        <p:spPr>
          <a:xfrm>
            <a:off x="3371850" y="2952750"/>
            <a:ext cx="8153400" cy="9525"/>
          </a:xfrm>
          <a:prstGeom prst="rect">
            <a:avLst/>
          </a:prstGeom>
          <a:solidFill>
            <a:srgbClr val="CDD3D2"/>
          </a:solidFill>
        </p:spPr>
      </p:sp>
      <p:sp>
        <p:nvSpPr>
          <p:cNvPr id="10" name="text-9">
            <a:extLst>
              <a:ext uri="{FF2B5EF4-FFF2-40B4-BE49-F238E27FC236}">
                <a16:creationId xmlns:a16="http://schemas.microsoft.com/office/drawing/2014/main" id="{A8C7A9F4-A545-43D5-A870-FBC35F8C2298}"/>
              </a:ext>
            </a:extLst>
          </p:cNvPr>
          <p:cNvSpPr>
            <a:spLocks noGrp="1"/>
          </p:cNvSpPr>
          <p:nvPr/>
        </p:nvSpPr>
        <p:spPr>
          <a:xfrm>
            <a:off x="609600" y="3152775"/>
            <a:ext cx="2647950" cy="228600"/>
          </a:xfrm>
          <a:prstGeom prst="rect">
            <a:avLst/>
          </a:prstGeom>
        </p:spPr>
        <p:txBody>
          <a:bodyPr wrap="square" lIns="0" tIns="0" rIns="0" bIns="0" anchor="t"/>
          <a:lstStyle/>
          <a:p>
            <a:pPr>
              <a:defRPr sz="975" b="1">
                <a:solidFill>
                  <a:srgbClr val="00766B"/>
                </a:solidFill>
                <a:latin typeface="Arial"/>
                <a:ea typeface="Arial"/>
                <a:cs typeface="Arial"/>
              </a:defRPr>
            </a:pPr>
            <a:r>
              <a:t>REQUIREMENTS &amp; PLAN</a:t>
            </a:r>
          </a:p>
        </p:txBody>
      </p:sp>
      <p:sp>
        <p:nvSpPr>
          <p:cNvPr id="11" name="text-10">
            <a:extLst>
              <a:ext uri="{FF2B5EF4-FFF2-40B4-BE49-F238E27FC236}">
                <a16:creationId xmlns:a16="http://schemas.microsoft.com/office/drawing/2014/main" id="{B9004DCB-804D-45DD-B457-3D06E8BE4F2D}"/>
              </a:ext>
            </a:extLst>
          </p:cNvPr>
          <p:cNvSpPr>
            <a:spLocks noGrp="1"/>
          </p:cNvSpPr>
          <p:nvPr/>
        </p:nvSpPr>
        <p:spPr>
          <a:xfrm>
            <a:off x="3371850" y="3038475"/>
            <a:ext cx="8153400" cy="857250"/>
          </a:xfrm>
          <a:prstGeom prst="rect">
            <a:avLst/>
          </a:prstGeom>
        </p:spPr>
        <p:txBody>
          <a:bodyPr wrap="square" lIns="0" tIns="0" rIns="0" bIns="0" anchor="t"/>
          <a:lstStyle/>
          <a:p>
            <a:pPr>
              <a:defRPr sz="1425" b="0">
                <a:solidFill>
                  <a:srgbClr val="173047"/>
                </a:solidFill>
                <a:latin typeface="Consolas"/>
                <a:ea typeface="Consolas"/>
                <a:cs typeface="Consolas"/>
              </a:defRPr>
            </a:pPr>
            <a:r>
              <a:t>docs/Stage_2_PRD_Filled.docx</a:t>
            </a:r>
          </a:p>
          <a:p>
            <a:pPr>
              <a:defRPr sz="1425" b="0">
                <a:solidFill>
                  <a:srgbClr val="173047"/>
                </a:solidFill>
                <a:latin typeface="Consolas"/>
                <a:ea typeface="Consolas"/>
                <a:cs typeface="Consolas"/>
              </a:defRPr>
            </a:pPr>
            <a:r>
              <a:t>docs/Stage_3_Prompt_Library_Filled.docx</a:t>
            </a:r>
          </a:p>
          <a:p>
            <a:pPr>
              <a:defRPr sz="1425" b="0">
                <a:solidFill>
                  <a:srgbClr val="173047"/>
                </a:solidFill>
                <a:latin typeface="Consolas"/>
                <a:ea typeface="Consolas"/>
                <a:cs typeface="Consolas"/>
              </a:defRPr>
            </a:pPr>
            <a:r>
              <a:t>docs/Stage_4_Sprint_Plan_Filled.docx</a:t>
            </a:r>
          </a:p>
        </p:txBody>
      </p:sp>
      <p:sp>
        <p:nvSpPr>
          <p:cNvPr id="12" name="shape-11">
            <a:extLst>
              <a:ext uri="{FF2B5EF4-FFF2-40B4-BE49-F238E27FC236}">
                <a16:creationId xmlns:a16="http://schemas.microsoft.com/office/drawing/2014/main" id="{5DE959B9-B5CF-45B1-BCD4-04CE2139371A}"/>
              </a:ext>
            </a:extLst>
          </p:cNvPr>
          <p:cNvSpPr>
            <a:spLocks noGrp="1"/>
          </p:cNvSpPr>
          <p:nvPr/>
        </p:nvSpPr>
        <p:spPr>
          <a:xfrm>
            <a:off x="3371850" y="3962400"/>
            <a:ext cx="8153400" cy="9525"/>
          </a:xfrm>
          <a:prstGeom prst="rect">
            <a:avLst/>
          </a:prstGeom>
          <a:solidFill>
            <a:srgbClr val="CDD3D2"/>
          </a:solidFill>
        </p:spPr>
      </p:sp>
      <p:sp>
        <p:nvSpPr>
          <p:cNvPr id="13" name="text-12">
            <a:extLst>
              <a:ext uri="{FF2B5EF4-FFF2-40B4-BE49-F238E27FC236}">
                <a16:creationId xmlns:a16="http://schemas.microsoft.com/office/drawing/2014/main" id="{145460E9-898A-4E63-93F0-EF8CC7E9393C}"/>
              </a:ext>
            </a:extLst>
          </p:cNvPr>
          <p:cNvSpPr>
            <a:spLocks noGrp="1"/>
          </p:cNvSpPr>
          <p:nvPr/>
        </p:nvSpPr>
        <p:spPr>
          <a:xfrm>
            <a:off x="609600" y="4162425"/>
            <a:ext cx="2647950" cy="228600"/>
          </a:xfrm>
          <a:prstGeom prst="rect">
            <a:avLst/>
          </a:prstGeom>
        </p:spPr>
        <p:txBody>
          <a:bodyPr wrap="square" lIns="0" tIns="0" rIns="0" bIns="0" anchor="t"/>
          <a:lstStyle/>
          <a:p>
            <a:pPr>
              <a:defRPr sz="975" b="1">
                <a:solidFill>
                  <a:srgbClr val="00766B"/>
                </a:solidFill>
                <a:latin typeface="Arial"/>
                <a:ea typeface="Arial"/>
                <a:cs typeface="Arial"/>
              </a:defRPr>
            </a:pPr>
            <a:r>
              <a:t>IMPLEMENTATION &amp; RUN</a:t>
            </a:r>
          </a:p>
        </p:txBody>
      </p:sp>
      <p:sp>
        <p:nvSpPr>
          <p:cNvPr id="14" name="text-13">
            <a:extLst>
              <a:ext uri="{FF2B5EF4-FFF2-40B4-BE49-F238E27FC236}">
                <a16:creationId xmlns:a16="http://schemas.microsoft.com/office/drawing/2014/main" id="{2A28839F-1937-4A81-AB5A-425092EB94DD}"/>
              </a:ext>
            </a:extLst>
          </p:cNvPr>
          <p:cNvSpPr>
            <a:spLocks noGrp="1"/>
          </p:cNvSpPr>
          <p:nvPr/>
        </p:nvSpPr>
        <p:spPr>
          <a:xfrm>
            <a:off x="3371850" y="4048125"/>
            <a:ext cx="8153400" cy="857250"/>
          </a:xfrm>
          <a:prstGeom prst="rect">
            <a:avLst/>
          </a:prstGeom>
        </p:spPr>
        <p:txBody>
          <a:bodyPr wrap="square" lIns="0" tIns="0" rIns="0" bIns="0" anchor="t"/>
          <a:lstStyle/>
          <a:p>
            <a:pPr>
              <a:defRPr sz="1425" b="0">
                <a:solidFill>
                  <a:srgbClr val="173047"/>
                </a:solidFill>
                <a:latin typeface="Consolas"/>
                <a:ea typeface="Consolas"/>
                <a:cs typeface="Consolas"/>
              </a:defRPr>
            </a:pPr>
            <a:r>
              <a:t>src/ · evaluation/harness.py · README.md</a:t>
            </a:r>
          </a:p>
          <a:p>
            <a:pPr>
              <a:defRPr sz="1425" b="0">
                <a:solidFill>
                  <a:srgbClr val="173047"/>
                </a:solidFill>
                <a:latin typeface="Consolas"/>
                <a:ea typeface="Consolas"/>
                <a:cs typeface="Consolas"/>
              </a:defRPr>
            </a:pPr>
            <a:r>
              <a:t>evaluation/results/latest_report.json</a:t>
            </a:r>
          </a:p>
          <a:p>
            <a:pPr>
              <a:defRPr sz="1425" b="0">
                <a:solidFill>
                  <a:srgbClr val="173047"/>
                </a:solidFill>
                <a:latin typeface="Consolas"/>
                <a:ea typeface="Consolas"/>
                <a:cs typeface="Consolas"/>
              </a:defRPr>
            </a:pPr>
            <a:r>
              <a:t>evaluation/results/latest_ticket_results.json</a:t>
            </a:r>
          </a:p>
        </p:txBody>
      </p:sp>
      <p:sp>
        <p:nvSpPr>
          <p:cNvPr id="15" name="shape-14">
            <a:extLst>
              <a:ext uri="{FF2B5EF4-FFF2-40B4-BE49-F238E27FC236}">
                <a16:creationId xmlns:a16="http://schemas.microsoft.com/office/drawing/2014/main" id="{77C9B9A3-DEC2-4508-B42E-8B2D35FED3A3}"/>
              </a:ext>
            </a:extLst>
          </p:cNvPr>
          <p:cNvSpPr>
            <a:spLocks noGrp="1"/>
          </p:cNvSpPr>
          <p:nvPr/>
        </p:nvSpPr>
        <p:spPr>
          <a:xfrm>
            <a:off x="3371850" y="4972050"/>
            <a:ext cx="8153400" cy="9525"/>
          </a:xfrm>
          <a:prstGeom prst="rect">
            <a:avLst/>
          </a:prstGeom>
          <a:solidFill>
            <a:srgbClr val="CDD3D2"/>
          </a:solidFill>
        </p:spPr>
      </p:sp>
      <p:sp>
        <p:nvSpPr>
          <p:cNvPr id="16" name="text-15">
            <a:extLst>
              <a:ext uri="{FF2B5EF4-FFF2-40B4-BE49-F238E27FC236}">
                <a16:creationId xmlns:a16="http://schemas.microsoft.com/office/drawing/2014/main" id="{B7EB5F5A-7F5F-4C2A-8410-486F4F7A9717}"/>
              </a:ext>
            </a:extLst>
          </p:cNvPr>
          <p:cNvSpPr>
            <a:spLocks noGrp="1"/>
          </p:cNvSpPr>
          <p:nvPr/>
        </p:nvSpPr>
        <p:spPr>
          <a:xfrm>
            <a:off x="609600" y="5172075"/>
            <a:ext cx="2647950" cy="228600"/>
          </a:xfrm>
          <a:prstGeom prst="rect">
            <a:avLst/>
          </a:prstGeom>
        </p:spPr>
        <p:txBody>
          <a:bodyPr wrap="square" lIns="0" tIns="0" rIns="0" bIns="0" anchor="t"/>
          <a:lstStyle/>
          <a:p>
            <a:pPr>
              <a:defRPr sz="975" b="1">
                <a:solidFill>
                  <a:srgbClr val="00766B"/>
                </a:solidFill>
                <a:latin typeface="Arial"/>
                <a:ea typeface="Arial"/>
                <a:cs typeface="Arial"/>
              </a:defRPr>
            </a:pPr>
            <a:r>
              <a:t>REVISION &amp; DELIVERY</a:t>
            </a:r>
          </a:p>
        </p:txBody>
      </p:sp>
      <p:sp>
        <p:nvSpPr>
          <p:cNvPr id="17" name="text-16">
            <a:extLst>
              <a:ext uri="{FF2B5EF4-FFF2-40B4-BE49-F238E27FC236}">
                <a16:creationId xmlns:a16="http://schemas.microsoft.com/office/drawing/2014/main" id="{042E69B0-2080-4F87-A489-03814ED9B2A6}"/>
              </a:ext>
            </a:extLst>
          </p:cNvPr>
          <p:cNvSpPr>
            <a:spLocks noGrp="1"/>
          </p:cNvSpPr>
          <p:nvPr/>
        </p:nvSpPr>
        <p:spPr>
          <a:xfrm>
            <a:off x="3371850" y="5057775"/>
            <a:ext cx="8153400" cy="857250"/>
          </a:xfrm>
          <a:prstGeom prst="rect">
            <a:avLst/>
          </a:prstGeom>
        </p:spPr>
        <p:txBody>
          <a:bodyPr wrap="square" lIns="0" tIns="0" rIns="0" bIns="0" anchor="t"/>
          <a:lstStyle/>
          <a:p>
            <a:pPr>
              <a:defRPr sz="1425" b="0">
                <a:solidFill>
                  <a:srgbClr val="173047"/>
                </a:solidFill>
                <a:latin typeface="Consolas"/>
                <a:ea typeface="Consolas"/>
                <a:cs typeface="Consolas"/>
              </a:defRPr>
            </a:pPr>
            <a:r>
              <a:t>docs/Stage_5_PRD_Revision_Log.docx · docs/Effort_Log.docx</a:t>
            </a:r>
          </a:p>
          <a:p>
            <a:pPr>
              <a:defRPr sz="1425" b="0">
                <a:solidFill>
                  <a:srgbClr val="173047"/>
                </a:solidFill>
                <a:latin typeface="Consolas"/>
                <a:ea typeface="Consolas"/>
                <a:cs typeface="Consolas"/>
              </a:defRPr>
            </a:pPr>
            <a:r>
              <a:t>docs/report.pdf · docs/architecture_diagram.html</a:t>
            </a:r>
          </a:p>
        </p:txBody>
      </p:sp>
    </p:spTree>
    <p:extLst>
      <p:ext uri="{BB962C8B-B14F-4D97-AF65-F5344CB8AC3E}">
        <p14:creationId xmlns:p14="http://schemas.microsoft.com/office/powerpoint/2010/main" val="11840412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7306</Words>
  <Application>Microsoft Office PowerPoint</Application>
  <DocSecurity>0</DocSecurity>
  <PresentationFormat>Widescreen</PresentationFormat>
  <Paragraphs>854</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moulisai.2296@outlook.com</cp:lastModifiedBy>
  <cp:revision>1</cp:revision>
  <dcterms:created xsi:type="dcterms:W3CDTF">2026-09-20T16:36:52Z</dcterms:created>
  <dcterms:modified xsi:type="dcterms:W3CDTF">2026-09-20T16:40:37Z</dcterms:modified>
</cp:coreProperties>
</file>